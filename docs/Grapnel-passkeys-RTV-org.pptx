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30"/>
    <p:sldId id="281" r:id="rId31"/>
    <p:sldId id="264" r:id="rId10"/>
    <p:sldId id="27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45"/>
    <p:restoredTop sz="94652"/>
  </p:normalViewPr>
  <p:slideViewPr>
    <p:cSldViewPr snapToGrid="0" snapToObjects="1">
      <p:cViewPr varScale="1">
        <p:scale>
          <a:sx n="89" d="100"/>
          <a:sy n="89" d="100"/>
        </p:scale>
        <p:origin x="192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10972800" cy="2743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6EDF3"/>
                </a:solidFill>
                <a:latin typeface="Arial"/>
              </a:rPr>
              <a:t>YOUR PASSKEYS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A45"/>
                </a:solidFill>
                <a:latin typeface="Arial"/>
              </a:rPr>
              <a:t>WON'T SAVE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977639"/>
            <a:ext cx="969264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4B4"/>
                </a:solidFill>
                <a:latin typeface="Arial"/>
              </a:rPr>
              <a:t>Making landfall — bypassing Entra Conditional Access to establish the beachhead, straight through a browser you don't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892040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6C2FF"/>
                </a:solidFill>
                <a:latin typeface="Courier New"/>
              </a:rPr>
              <a:t>DEF CON · Red Team Village ·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44068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0C1912"/>
          </a:solidFill>
          <a:ln w="9525">
            <a:solidFill>
              <a:srgbClr val="1F3A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77256"/>
            <a:ext cx="56692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ED16B"/>
                </a:solidFill>
                <a:latin typeface="Courier New"/>
              </a:rPr>
              <a:t>⚓ Grapnel — the browser-in-the-middle boarding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01 · whoami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whoami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0B1017"/>
          </a:solidFill>
          <a:ln w="11430">
            <a:solidFill>
              <a:srgbClr val="1C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3584448" cy="365760"/>
          </a:xfrm>
          <a:prstGeom prst="rect">
            <a:avLst/>
          </a:prstGeom>
          <a:solidFill>
            <a:srgbClr val="14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630936" y="19110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13816" y="1911095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6696" y="19110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1783080"/>
            <a:ext cx="280720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7A8899"/>
                </a:solidFill>
                <a:latin typeface="Courier New"/>
              </a:rPr>
              <a:t>bash — fr13ndz@defcon34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86000"/>
            <a:ext cx="3273552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4ED16B"/>
                </a:solidFill>
                <a:latin typeface="Courier New"/>
              </a:rPr>
              <a:t>$ </a:t>
            </a:r>
            <a:r>
              <a:rPr sz="1250" b="0">
                <a:solidFill>
                  <a:srgbClr val="7A8899"/>
                </a:solidFill>
                <a:latin typeface="Courier New"/>
              </a:rPr>
              <a:t>whoami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7A8899"/>
                </a:solidFill>
                <a:latin typeface="Courier New"/>
              </a:rPr>
              <a:t>handle</a:t>
            </a:r>
            <a:r>
              <a:rPr sz="1250" b="0">
                <a:solidFill>
                  <a:srgbClr val="E6EDF3"/>
                </a:solidFill>
                <a:latin typeface="Courier New"/>
              </a:rPr>
              <a:t>: Jared@Fr13ndz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A8899"/>
                </a:solidFill>
                <a:latin typeface="Courier New"/>
              </a:rPr>
              <a:t>role</a:t>
            </a:r>
            <a:r>
              <a:rPr sz="1250" b="0">
                <a:solidFill>
                  <a:srgbClr val="E6EDF3"/>
                </a:solidFill>
                <a:latin typeface="Courier New"/>
              </a:rPr>
              <a:t>:   Adversarial Engineer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7830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0B1017"/>
          </a:solidFill>
          <a:ln w="11430">
            <a:solidFill>
              <a:srgbClr val="1C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88536" y="1783080"/>
            <a:ext cx="3584448" cy="365760"/>
          </a:xfrm>
          <a:prstGeom prst="rect">
            <a:avLst/>
          </a:prstGeom>
          <a:solidFill>
            <a:srgbClr val="14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16551" y="19110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99431" y="1911095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82312" y="19110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1768" y="1783080"/>
            <a:ext cx="280720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7A8899"/>
                </a:solidFill>
                <a:latin typeface="Courier New"/>
              </a:rPr>
              <a:t>bash — CommanderChaos@defcon34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2286000"/>
            <a:ext cx="3273552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4ED16B"/>
                </a:solidFill>
                <a:latin typeface="Courier New"/>
              </a:rPr>
              <a:t>$ </a:t>
            </a:r>
            <a:r>
              <a:rPr sz="1250" b="0">
                <a:solidFill>
                  <a:srgbClr val="7A8899"/>
                </a:solidFill>
                <a:latin typeface="Courier New"/>
              </a:rPr>
              <a:t>whoami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7A8899"/>
                </a:solidFill>
                <a:latin typeface="Courier New"/>
              </a:rPr>
              <a:t>handle</a:t>
            </a:r>
            <a:r>
              <a:rPr sz="1250" b="0">
                <a:solidFill>
                  <a:srgbClr val="E6EDF3"/>
                </a:solidFill>
                <a:latin typeface="Courier New"/>
              </a:rPr>
              <a:t>: Jon@CommanderChaos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A8899"/>
                </a:solidFill>
                <a:latin typeface="Courier New"/>
              </a:rPr>
              <a:t>role</a:t>
            </a:r>
            <a:r>
              <a:rPr sz="1250" b="0">
                <a:solidFill>
                  <a:srgbClr val="E6EDF3"/>
                </a:solidFill>
                <a:latin typeface="Courier New"/>
              </a:rPr>
              <a:t>:   Adversarial Engineer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7830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0B1017"/>
          </a:solidFill>
          <a:ln w="11430">
            <a:solidFill>
              <a:srgbClr val="4ED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4152" y="1783080"/>
            <a:ext cx="3584448" cy="365760"/>
          </a:xfrm>
          <a:prstGeom prst="rect">
            <a:avLst/>
          </a:prstGeom>
          <a:solidFill>
            <a:srgbClr val="14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02168" y="1911095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85048" y="1911095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67928" y="1911095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87384" y="1783080"/>
            <a:ext cx="280720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ED16B"/>
                </a:solidFill>
                <a:latin typeface="Courier New"/>
              </a:rPr>
              <a:t>bash — maddog@rtv2025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286000"/>
            <a:ext cx="3273552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4ED16B"/>
                </a:solidFill>
                <a:latin typeface="Courier New"/>
              </a:rPr>
              <a:t>$ </a:t>
            </a:r>
            <a:r>
              <a:rPr sz="1250" b="0">
                <a:solidFill>
                  <a:srgbClr val="7A8899"/>
                </a:solidFill>
                <a:latin typeface="Courier New"/>
              </a:rPr>
              <a:t>whoami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7A8899"/>
                </a:solidFill>
                <a:latin typeface="Courier New"/>
              </a:rPr>
              <a:t>handle</a:t>
            </a:r>
            <a:r>
              <a:rPr sz="1250" b="0">
                <a:solidFill>
                  <a:srgbClr val="E6EDF3"/>
                </a:solidFill>
                <a:latin typeface="Courier New"/>
              </a:rPr>
              <a:t>: maddog#x00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A8899"/>
                </a:solidFill>
                <a:latin typeface="Courier New"/>
              </a:rPr>
              <a:t>role</a:t>
            </a:r>
            <a:r>
              <a:rPr sz="1250" b="0">
                <a:solidFill>
                  <a:srgbClr val="E6EDF3"/>
                </a:solidFill>
                <a:latin typeface="Courier New"/>
              </a:rPr>
              <a:t>:   Offensive Security Leader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3212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558698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note  </a:t>
            </a:r>
            <a:r>
              <a:rPr sz="1250" b="0">
                <a:solidFill>
                  <a:srgbClr val="97A4B4"/>
                </a:solidFill>
                <a:latin typeface="Arial"/>
              </a:rPr>
              <a:t>— this is the "how you got in" talk. Its sequel, </a:t>
            </a:r>
            <a:r>
              <a:rPr sz="1250" b="0">
                <a:solidFill>
                  <a:srgbClr val="E7B84B"/>
                </a:solidFill>
                <a:latin typeface="Arial"/>
              </a:rPr>
              <a:t>"I Got In, Now What?"</a:t>
            </a:r>
            <a:r>
              <a:rPr sz="1250" b="0">
                <a:solidFill>
                  <a:srgbClr val="97A4B4"/>
                </a:solidFill>
                <a:latin typeface="Arial"/>
              </a:rPr>
              <a:t> (Adversary Village), starts the moment </a:t>
            </a:r>
            <a:r>
              <a:rPr sz="1250" b="0">
                <a:solidFill>
                  <a:srgbClr val="4ED16B"/>
                </a:solidFill>
                <a:latin typeface="Arial"/>
              </a:rPr>
              <a:t>after</a:t>
            </a:r>
            <a:r>
              <a:rPr sz="1250" b="0">
                <a:solidFill>
                  <a:srgbClr val="97A4B4"/>
                </a:solidFill>
                <a:latin typeface="Arial"/>
              </a:rPr>
              <a:t> — with the </a:t>
            </a:r>
            <a:r>
              <a:rPr sz="1250" b="0">
                <a:solidFill>
                  <a:srgbClr val="4ED16B"/>
                </a:solidFill>
                <a:latin typeface="Arial"/>
              </a:rPr>
              <a:t>Beachhead</a:t>
            </a:r>
            <a:r>
              <a:rPr sz="1250" b="0">
                <a:solidFill>
                  <a:srgbClr val="97A4B4"/>
                </a:solidFill>
                <a:latin typeface="Arial"/>
              </a:rPr>
              <a:t> already yours.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whoami · 02/26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02 · the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They sold you passkeys as </a:t>
            </a:r>
            <a:r>
              <a:rPr sz="3000" b="1">
                <a:solidFill>
                  <a:srgbClr val="FF5A45"/>
                </a:solidFill>
                <a:latin typeface="Arial"/>
              </a:rPr>
              <a:t>phishing-proof.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And for the interactive login leg, they mostly are. But the user still authenticates through a browser — and at the moment of auth, the adversary is </a:t>
            </a:r>
            <a:r>
              <a:rPr sz="1400" b="0">
                <a:solidFill>
                  <a:srgbClr val="E7B84B"/>
                </a:solidFill>
                <a:latin typeface="Arial"/>
              </a:rPr>
              <a:t>in the middle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54864" cy="1737360"/>
          </a:xfrm>
          <a:prstGeom prst="rect">
            <a:avLst/>
          </a:prstGeom>
          <a:solidFill>
            <a:srgbClr val="56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715768"/>
            <a:ext cx="3328415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the browser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Victim drives a session through a forged-CA proxy. Every request, header, token, and cookie is ours in-flight.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60604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8536" y="2606040"/>
            <a:ext cx="54864" cy="173736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715768"/>
            <a:ext cx="3328415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the policy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Org enforces MFA / passkey via Conditional Access. Feels airtight — on the leg it actually covers.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260604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4152" y="2606040"/>
            <a:ext cx="54864" cy="1737360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2715768"/>
            <a:ext cx="3328415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the seam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CA is evaluated per grant. Pick a grant it doesn't cover and the passkey never enters the picture.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494690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starting state  </a:t>
            </a:r>
            <a:r>
              <a:rPr sz="1250" b="0">
                <a:solidFill>
                  <a:srgbClr val="97A4B4"/>
                </a:solidFill>
                <a:latin typeface="Arial"/>
              </a:rPr>
              <a:t>— one victim, one click, one browser we sit inside. No admin. No malware on the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premise · 03/26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03 · the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Why the browser auth 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The sign-in method picker and the CA policy engine disagree about what "strong" means — and the gap is a doorway.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54864" cy="173736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715768"/>
            <a:ext cx="3328415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the method picker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Push · passkey · SMS · device-code. The account is only as strong as its weakest completable method.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60604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8536" y="2606040"/>
            <a:ext cx="54864" cy="173736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715768"/>
            <a:ext cx="3328415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device-code → DRS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The device-registration grant is often governed by a different CA policy than interactive — or none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260604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4152" y="2606040"/>
            <a:ext cx="54864" cy="173736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2715768"/>
            <a:ext cx="3328415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ROPC (legacy)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grant_type=password straight to /token, skipping the authorization endpoint (and whatever runs there).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494690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the gap  </a:t>
            </a:r>
            <a:r>
              <a:rPr sz="1250" b="0">
                <a:solidFill>
                  <a:srgbClr val="97A4B4"/>
                </a:solidFill>
                <a:latin typeface="Arial"/>
              </a:rPr>
              <a:t>— everyone tests the interactive leg. Almost nobody tests whether the </a:t>
            </a:r>
            <a:r>
              <a:rPr sz="1250" b="0">
                <a:solidFill>
                  <a:srgbClr val="E7B84B"/>
                </a:solidFill>
                <a:latin typeface="Arial"/>
              </a:rPr>
              <a:t>device-code + DRS</a:t>
            </a:r>
            <a:r>
              <a:rPr sz="1250" b="0">
                <a:solidFill>
                  <a:srgbClr val="97A4B4"/>
                </a:solidFill>
                <a:latin typeface="Arial"/>
              </a:rPr>
              <a:t> path is covered. It usually isn't.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surface · 04/26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04 · the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The path we walk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2114092" cy="22860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11430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340864"/>
            <a:ext cx="185806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7B84B"/>
                </a:solidFill>
                <a:latin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Arial"/>
              </a:rPr>
              <a:t>Capture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7A4B4"/>
                </a:solidFill>
                <a:latin typeface="Arial"/>
              </a:rPr>
              <a:t>Fingerprint + session through the BITM 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8724" y="3108960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A6472"/>
                </a:solidFill>
                <a:latin typeface="Courier New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3316" y="2194560"/>
            <a:ext cx="2114092" cy="22860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11430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91332" y="2340864"/>
            <a:ext cx="185806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7B84B"/>
                </a:solidFill>
                <a:latin typeface="Courier New"/>
              </a:rPr>
              <a:t>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Arial"/>
              </a:rPr>
              <a:t>Downgrade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7A4B4"/>
                </a:solidFill>
                <a:latin typeface="Arial"/>
              </a:rPr>
              <a:t>Auto-click push · detect passkey dead-end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121" y="3108960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A6472"/>
                </a:solidFill>
                <a:latin typeface="Courier New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3713" y="2194560"/>
            <a:ext cx="2114092" cy="22860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11430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51729" y="2340864"/>
            <a:ext cx="185806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7B84B"/>
                </a:solidFill>
                <a:latin typeface="Courier New"/>
              </a:rPr>
              <a:t>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Arial"/>
              </a:rPr>
              <a:t>Device-code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7A4B4"/>
                </a:solidFill>
                <a:latin typeface="Arial"/>
              </a:rPr>
              <a:t>Grant a DRS token — no interactive 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9518" y="3108960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A6472"/>
                </a:solidFill>
                <a:latin typeface="Courier New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4110" y="2194560"/>
            <a:ext cx="2114092" cy="22860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11430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12126" y="2340864"/>
            <a:ext cx="185806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7B84B"/>
                </a:solidFill>
                <a:latin typeface="Courier New"/>
              </a:rPr>
              <a:t>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Arial"/>
              </a:rPr>
              <a:t>Phantom join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7A4B4"/>
                </a:solidFill>
                <a:latin typeface="Arial"/>
              </a:rPr>
              <a:t>Register a device — no TPM, no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9915" y="3108960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A6472"/>
                </a:solidFill>
                <a:latin typeface="Courier New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4507" y="2194560"/>
            <a:ext cx="2114092" cy="2286000"/>
          </a:xfrm>
          <a:prstGeom prst="roundRect">
            <a:avLst>
              <a:gd name="adj" fmla="val 5000"/>
            </a:avLst>
          </a:prstGeom>
          <a:solidFill>
            <a:srgbClr val="1A1113"/>
          </a:solidFill>
          <a:ln w="11430">
            <a:solidFill>
              <a:srgbClr val="5A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72523" y="2340864"/>
            <a:ext cx="185806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5A45"/>
                </a:solidFill>
                <a:latin typeface="Courier New"/>
              </a:rPr>
              <a:t>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6EDF3"/>
                </a:solidFill>
                <a:latin typeface="Arial"/>
              </a:rPr>
              <a:t>Mint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7A4B4"/>
                </a:solidFill>
                <a:latin typeface="Arial"/>
              </a:rPr>
              <a:t>PRT → Graph token → ADO PAT 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494690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here be dragons  </a:t>
            </a:r>
            <a:r>
              <a:rPr sz="1250" b="0">
                <a:solidFill>
                  <a:srgbClr val="97A4B4"/>
                </a:solidFill>
                <a:latin typeface="Arial"/>
              </a:rPr>
              <a:t>— every step uses only what a single phished session already holds.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path · 05/26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05 ·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One tool: </a:t>
            </a:r>
            <a:r>
              <a:rPr sz="3000" b="1">
                <a:solidFill>
                  <a:srgbClr val="4ED16B"/>
                </a:solidFill>
                <a:latin typeface="Arial"/>
              </a:rPr>
              <a:t>Grapnel</a:t>
            </a:r>
            <a:r>
              <a:rPr sz="3000" b="1">
                <a:solidFill>
                  <a:srgbClr val="E6EDF3"/>
                </a:solidFill>
                <a:latin typeface="Arial"/>
              </a:rPr>
              <a:t>  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36192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7A4B4"/>
                </a:solidFill>
                <a:latin typeface="Arial"/>
              </a:rPr>
              <a:t>A browser-in-the-middle rig driven entirely from a web dashboard — nothing to install on the victim, no CLI to memorize. The operator watches the real login happen and clicks; interception, capture, and the phantom-join chain all run server-side.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42032"/>
            <a:ext cx="11155680" cy="1719580"/>
          </a:xfrm>
          <a:prstGeom prst="roundRect">
            <a:avLst>
              <a:gd name="adj" fmla="val 4000"/>
            </a:avLst>
          </a:prstGeom>
          <a:solidFill>
            <a:srgbClr val="0B1017"/>
          </a:solidFill>
          <a:ln w="9525">
            <a:solidFill>
              <a:srgbClr val="1C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542032"/>
            <a:ext cx="11155680" cy="384048"/>
          </a:xfrm>
          <a:prstGeom prst="rect">
            <a:avLst/>
          </a:prstGeom>
          <a:solidFill>
            <a:srgbClr val="14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649224" y="2679191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2679191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2679191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542032"/>
            <a:ext cx="102412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7A8899"/>
                </a:solidFill>
                <a:latin typeface="Courier New"/>
              </a:rPr>
              <a:t>docker compose up — one rig, three surfaces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99232"/>
            <a:ext cx="10753344" cy="11892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ED16B"/>
                </a:solidFill>
                <a:latin typeface="Courier New"/>
              </a:rPr>
              <a:t>$ </a:t>
            </a:r>
            <a:r>
              <a:rPr sz="1250" b="0">
                <a:solidFill>
                  <a:srgbClr val="E6EDF3"/>
                </a:solidFill>
                <a:latin typeface="Courier New"/>
              </a:rPr>
              <a:t>docker compose up -d        </a:t>
            </a:r>
            <a:r>
              <a:rPr sz="1250" b="0">
                <a:solidFill>
                  <a:srgbClr val="5A6472"/>
                </a:solidFill>
                <a:latin typeface="Courier New"/>
              </a:rPr>
              <a:t># forged-CA proxy · hosted session · dashboard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6C2FF"/>
                </a:solidFill>
                <a:latin typeface="Courier New"/>
              </a:rPr>
              <a:t>:3128</a:t>
            </a:r>
            <a:r>
              <a:rPr sz="1250" b="0">
                <a:solidFill>
                  <a:srgbClr val="E6EDF3"/>
                </a:solidFill>
                <a:latin typeface="Courier New"/>
              </a:rPr>
              <a:t>  BITM proxy      </a:t>
            </a:r>
            <a:r>
              <a:rPr sz="1250" b="0">
                <a:solidFill>
                  <a:srgbClr val="5A6472"/>
                </a:solidFill>
                <a:latin typeface="Courier New"/>
              </a:rPr>
              <a:t>→ </a:t>
            </a:r>
            <a:r>
              <a:rPr sz="1250" b="0">
                <a:solidFill>
                  <a:srgbClr val="97A4B4"/>
                </a:solidFill>
                <a:latin typeface="Courier New"/>
              </a:rPr>
              <a:t>intercept · capture · inject tokens/cookies in-flight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6C2FF"/>
                </a:solidFill>
                <a:latin typeface="Courier New"/>
              </a:rPr>
              <a:t>:8091</a:t>
            </a:r>
            <a:r>
              <a:rPr sz="1250" b="0">
                <a:solidFill>
                  <a:srgbClr val="E6EDF3"/>
                </a:solidFill>
                <a:latin typeface="Courier New"/>
              </a:rPr>
              <a:t>  hosted session  </a:t>
            </a:r>
            <a:r>
              <a:rPr sz="1250" b="0">
                <a:solidFill>
                  <a:srgbClr val="5A6472"/>
                </a:solidFill>
                <a:latin typeface="Courier New"/>
              </a:rPr>
              <a:t>→ </a:t>
            </a:r>
            <a:r>
              <a:rPr sz="1250" b="0">
                <a:solidFill>
                  <a:srgbClr val="97A4B4"/>
                </a:solidFill>
                <a:latin typeface="Courier New"/>
              </a:rPr>
              <a:t>the victim drives their real login in this canvas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6C2FF"/>
                </a:solidFill>
                <a:latin typeface="Courier New"/>
              </a:rPr>
              <a:t>:8092</a:t>
            </a:r>
            <a:r>
              <a:rPr sz="1250" b="0">
                <a:solidFill>
                  <a:srgbClr val="E6EDF3"/>
                </a:solidFill>
                <a:latin typeface="Courier New"/>
              </a:rPr>
              <a:t>  operator dash   </a:t>
            </a:r>
            <a:r>
              <a:rPr sz="1250" b="0">
                <a:solidFill>
                  <a:srgbClr val="5A6472"/>
                </a:solidFill>
                <a:latin typeface="Courier New"/>
              </a:rPr>
              <a:t>→ </a:t>
            </a:r>
            <a:r>
              <a:rPr sz="1250" b="0">
                <a:solidFill>
                  <a:srgbClr val="97A4B4"/>
                </a:solidFill>
                <a:latin typeface="Courier New"/>
              </a:rPr>
              <a:t>Captured Data · Phantom Join · Flow Trace · ROPC/PAT/AAA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09160"/>
            <a:ext cx="3584448" cy="132588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4709160"/>
            <a:ext cx="54864" cy="1325880"/>
          </a:xfrm>
          <a:prstGeom prst="rect">
            <a:avLst/>
          </a:prstGeom>
          <a:solidFill>
            <a:srgbClr val="56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4818888"/>
            <a:ext cx="3328415" cy="11064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watch &amp; click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No victim-side agent, no proxy config. The login runs in a hosted browser; the operator just drives the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4709160"/>
            <a:ext cx="3584448" cy="132588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8536" y="4709160"/>
            <a:ext cx="54864" cy="1325880"/>
          </a:xfrm>
          <a:prstGeom prst="rect">
            <a:avLst/>
          </a:prstGeom>
          <a:solidFill>
            <a:srgbClr val="4E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4818888"/>
            <a:ext cx="3328415" cy="11064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scope-enforced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Code-level allowlists — refuses any host / tenant not on the 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4709160"/>
            <a:ext cx="3584448" cy="132588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4152" y="4709160"/>
            <a:ext cx="54864" cy="132588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0456" y="4818888"/>
            <a:ext cx="3328415" cy="11064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hands the baton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The Graph token + ADO PAT it captures are exactly what Beachhead picks 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tool · 06/26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06 ·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Where the “middle” actually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36192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7A4B4"/>
                </a:solidFill>
                <a:latin typeface="Arial"/>
              </a:rPr>
              <a:t>The “middle” is a real browser Grapnel drives </a:t>
            </a:r>
            <a:r>
              <a:rPr sz="1350" b="0">
                <a:solidFill>
                  <a:srgbClr val="56C2FF"/>
                </a:solidFill>
                <a:latin typeface="Arial"/>
              </a:rPr>
              <a:t>server-side</a:t>
            </a:r>
            <a:r>
              <a:rPr sz="1350" b="0">
                <a:solidFill>
                  <a:srgbClr val="97A4B4"/>
                </a:solidFill>
                <a:latin typeface="Arial"/>
              </a:rPr>
              <a:t>. You interact with a picture of it; the real auth traffic to the IdP runs behind that picture — and is captured on the way through.</a:t>
            </a:r>
          </a:p>
        </p:txBody>
      </p:sp>
      <p:pic>
        <p:nvPicPr>
          <p:cNvPr id="5" name="Picture 4" descr="what_you_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2194560"/>
            <a:ext cx="10424160" cy="4138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bitm · 07/26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07 · the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The range: one tenant, one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A throwaway Entra tenant + a container you drive from the booth. Nothing here can be pointed at a real org — that's enforced in code, not on a card.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5477255" cy="16002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54864" cy="1600200"/>
          </a:xfrm>
          <a:prstGeom prst="rect">
            <a:avLst/>
          </a:prstGeom>
          <a:solidFill>
            <a:srgbClr val="56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715768"/>
            <a:ext cx="5221223" cy="1380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the stack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docker-compose: the app (hosted session :8091 · dashboard :8092 · BITM :3128) behind nginx. docker compose up and 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3" y="2606040"/>
            <a:ext cx="5477255" cy="16002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81343" y="2606040"/>
            <a:ext cx="54864" cy="160020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7" y="2715768"/>
            <a:ext cx="5221223" cy="1380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the tenant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Dedicated M365 dev tenant: phishing-resistant MFA on the interactive leg, the device-code / DRS grant left relaxed — the seam. Wiped after the show.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70832"/>
            <a:ext cx="5477255" cy="16002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4370832"/>
            <a:ext cx="54864" cy="1600200"/>
          </a:xfrm>
          <a:prstGeom prst="rect">
            <a:avLst/>
          </a:prstGeom>
          <a:solidFill>
            <a:srgbClr val="4E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4480560"/>
            <a:ext cx="5221223" cy="1380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guardrails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proxy_allowed_hosts + phantom_join_allowed_domains — the shared instance can only ever hit the lab tenant.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3" y="4370832"/>
            <a:ext cx="5477255" cy="16002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3" y="4370832"/>
            <a:ext cx="54864" cy="160020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7" y="4480560"/>
            <a:ext cx="5221223" cy="1380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try it yourself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Same image runs against your tenant, under your authorization — not the shared booth box.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range · 08/26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What the lab assumes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This isn't a zero-config break. The chain completes because the demo tenant's Conditional Access has an </a:t>
            </a:r>
            <a:r>
              <a:rPr sz="1400" b="0">
                <a:solidFill>
                  <a:srgbClr val="E7B84B"/>
                </a:solidFill>
                <a:latin typeface="Arial"/>
              </a:rPr>
              <a:t>MFA relaxation</a:t>
            </a:r>
            <a:r>
              <a:rPr sz="1400" b="0">
                <a:solidFill>
                  <a:srgbClr val="97A4B4"/>
                </a:solidFill>
                <a:latin typeface="Arial"/>
              </a:rPr>
              <a:t> on the grant it rides — a gap that shows up in real tenants for mundane, well-meaning reasons.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3584448" cy="178308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54864" cy="178308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715768"/>
            <a:ext cx="3328415" cy="1563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backwards compatibility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Legacy apps / protocols that can't do modern MFA get a CA exclusion — and that carve-out leaks onto grants it was never meant to cover.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606040"/>
            <a:ext cx="3584448" cy="178308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8536" y="2606040"/>
            <a:ext cx="54864" cy="178308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715768"/>
            <a:ext cx="3328415" cy="1563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MFA device migration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Temporary bypass windows (TAP, exclusion groups) while users re-enroll authenticators. That window is exactly the seam.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2606040"/>
            <a:ext cx="3584448" cy="178308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4152" y="2606040"/>
            <a:ext cx="54864" cy="178308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2715768"/>
            <a:ext cx="3328415" cy="1563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per-app / per-site rules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Different CA policies for different cloud apps. Pick the resource governed by the weakest one — or by none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494690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honest  </a:t>
            </a:r>
            <a:r>
              <a:rPr sz="1250" b="0">
                <a:solidFill>
                  <a:srgbClr val="97A4B4"/>
                </a:solidFill>
                <a:latin typeface="Arial"/>
              </a:rPr>
              <a:t>— where CA truly covers </a:t>
            </a:r>
            <a:r>
              <a:rPr sz="1250" b="0">
                <a:solidFill>
                  <a:srgbClr val="4ED16B"/>
                </a:solidFill>
                <a:latin typeface="Arial"/>
              </a:rPr>
              <a:t>every</a:t>
            </a:r>
            <a:r>
              <a:rPr sz="1250" b="0">
                <a:solidFill>
                  <a:srgbClr val="97A4B4"/>
                </a:solidFill>
                <a:latin typeface="Arial"/>
              </a:rPr>
              <a:t> grant with authentication strength, the chain dead-ends: the PRT→Graph exchange gets an </a:t>
            </a:r>
            <a:r>
              <a:rPr sz="1250" b="0">
                <a:solidFill>
                  <a:srgbClr val="FF5A45"/>
                </a:solidFill>
                <a:latin typeface="Arial"/>
              </a:rPr>
              <a:t>AADSTS50076</a:t>
            </a:r>
            <a:r>
              <a:rPr sz="1250" b="0">
                <a:solidFill>
                  <a:srgbClr val="97A4B4"/>
                </a:solidFill>
                <a:latin typeface="Arial"/>
              </a:rPr>
              <a:t> MFA block. This is a </a:t>
            </a:r>
            <a:r>
              <a:rPr sz="1250" b="0">
                <a:solidFill>
                  <a:srgbClr val="E7B84B"/>
                </a:solidFill>
                <a:latin typeface="Arial"/>
              </a:rPr>
              <a:t>coverage-gap</a:t>
            </a:r>
            <a:r>
              <a:rPr sz="1250" b="0">
                <a:solidFill>
                  <a:srgbClr val="97A4B4"/>
                </a:solidFill>
                <a:latin typeface="Arial"/>
              </a:rPr>
              <a:t> attack, not an MFA break.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assumptions · 11/26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7B84B"/>
                </a:solidFill>
                <a:latin typeface="Courier New"/>
              </a:rPr>
              <a:t>// the gap · conditional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iOS / Android skip MFA on My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7B84B"/>
                </a:solidFill>
                <a:latin typeface="Arial"/>
              </a:rPr>
              <a:t>myaccount.microsoft.com</a:t>
            </a:r>
            <a:r>
              <a:rPr sz="1400" b="0">
                <a:solidFill>
                  <a:srgbClr val="97A4B4"/>
                </a:solidFill>
                <a:latin typeface="Arial"/>
              </a:rPr>
              <a:t> — where a user manages passkeys, authenticators, and their own MFA methods — requires MFA on Windows / macOS / web, but a device-platform condition leaves </a:t>
            </a:r>
            <a:r>
              <a:rPr sz="1400" b="0">
                <a:solidFill>
                  <a:srgbClr val="E7B84B"/>
                </a:solidFill>
                <a:latin typeface="Arial"/>
              </a:rPr>
              <a:t>iOS and Android out of scope</a:t>
            </a:r>
            <a:r>
              <a:rPr sz="1400" b="0">
                <a:solidFill>
                  <a:srgbClr val="97A4B4"/>
                </a:solidFill>
                <a:latin typeface="Arial"/>
              </a:rPr>
              <a:t>. A BYOD carve-out that quietly exposes the MFA-management surface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2099462" cy="141732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54864" cy="1417320"/>
          </a:xfrm>
          <a:prstGeom prst="roundRect">
            <a:avLst>
              <a:gd name="adj" fmla="val 5000"/>
            </a:avLst>
          </a:prstGeom>
          <a:solidFill>
            <a:srgbClr val="4E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2880360"/>
            <a:ext cx="1880006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ourier New"/>
              </a:rPr>
              <a:t>Windows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ED16B"/>
                </a:solidFill>
                <a:latin typeface="Courier New"/>
              </a:rPr>
              <a:t>✓ MFA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6974" y="2743200"/>
            <a:ext cx="2099462" cy="141732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66974" y="2743200"/>
            <a:ext cx="54864" cy="1417320"/>
          </a:xfrm>
          <a:prstGeom prst="roundRect">
            <a:avLst>
              <a:gd name="adj" fmla="val 5000"/>
            </a:avLst>
          </a:prstGeom>
          <a:solidFill>
            <a:srgbClr val="4E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4990" y="2880360"/>
            <a:ext cx="1880006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ourier New"/>
              </a:rPr>
              <a:t>macOS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ED16B"/>
                </a:solidFill>
                <a:latin typeface="Courier New"/>
              </a:rPr>
              <a:t>✓ MFA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1028" y="2743200"/>
            <a:ext cx="2099462" cy="141732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31028" y="2743200"/>
            <a:ext cx="54864" cy="1417320"/>
          </a:xfrm>
          <a:prstGeom prst="roundRect">
            <a:avLst>
              <a:gd name="adj" fmla="val 5000"/>
            </a:avLst>
          </a:prstGeom>
          <a:solidFill>
            <a:srgbClr val="4E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9044" y="2880360"/>
            <a:ext cx="1880006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ourier New"/>
              </a:rPr>
              <a:t>Web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ED16B"/>
                </a:solidFill>
                <a:latin typeface="Courier New"/>
              </a:rPr>
              <a:t>✓ MFA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5083" y="2743200"/>
            <a:ext cx="2099462" cy="141732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95083" y="2743200"/>
            <a:ext cx="54864" cy="1417320"/>
          </a:xfrm>
          <a:prstGeom prst="roundRect">
            <a:avLst>
              <a:gd name="adj" fmla="val 5000"/>
            </a:avLst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23099" y="2880360"/>
            <a:ext cx="1880006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ourier New"/>
              </a:rPr>
              <a:t>iOS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5A45"/>
                </a:solidFill>
                <a:latin typeface="Courier New"/>
              </a:rPr>
              <a:t>✗ MFA skipped</a:t>
            </a:r>
          </a:p>
          <a:p>
            <a:pPr algn="ctr"/>
            <a:r>
              <a:rPr sz="1000" b="1">
                <a:solidFill>
                  <a:srgbClr val="FF5A45"/>
                </a:solidFill>
                <a:latin typeface="Courier New"/>
              </a:rPr>
              <a:t>← the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9137" y="2743200"/>
            <a:ext cx="2099462" cy="141732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59137" y="2743200"/>
            <a:ext cx="54864" cy="1417320"/>
          </a:xfrm>
          <a:prstGeom prst="roundRect">
            <a:avLst>
              <a:gd name="adj" fmla="val 5000"/>
            </a:avLst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87153" y="2880360"/>
            <a:ext cx="1880006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Courier New"/>
              </a:rPr>
              <a:t>Android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5A45"/>
                </a:solidFill>
                <a:latin typeface="Courier New"/>
              </a:rPr>
              <a:t>✗ MFA skipped</a:t>
            </a:r>
          </a:p>
          <a:p>
            <a:pPr algn="ctr"/>
            <a:r>
              <a:rPr sz="1000" b="1">
                <a:solidFill>
                  <a:srgbClr val="FF5A45"/>
                </a:solidFill>
                <a:latin typeface="Courier New"/>
              </a:rPr>
              <a:t>← the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97A4B4"/>
                </a:solidFill>
                <a:latin typeface="Arial"/>
              </a:rPr>
              <a:t>One Conditional Access condition — </a:t>
            </a:r>
            <a:r>
              <a:rPr sz="1250" b="0">
                <a:solidFill>
                  <a:srgbClr val="E6EDF3"/>
                </a:solidFill>
                <a:latin typeface="Arial"/>
              </a:rPr>
              <a:t>device platform</a:t>
            </a:r>
            <a:r>
              <a:rPr sz="1250" b="0">
                <a:solidFill>
                  <a:srgbClr val="97A4B4"/>
                </a:solidFill>
                <a:latin typeface="Arial"/>
              </a:rPr>
              <a:t> — and two platforms fall out of MFA 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155680" cy="822960"/>
          </a:xfrm>
          <a:prstGeom prst="roundRect">
            <a:avLst>
              <a:gd name="adj" fmla="val 3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4965192"/>
            <a:ext cx="108264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E7B84B"/>
                </a:solidFill>
                <a:latin typeface="Arial"/>
              </a:rPr>
              <a:t>// exploit  </a:t>
            </a:r>
            <a:r>
              <a:rPr sz="1200" b="0">
                <a:solidFill>
                  <a:srgbClr val="97A4B4"/>
                </a:solidFill>
                <a:latin typeface="Arial"/>
              </a:rPr>
              <a:t>— present as an iOS / Android device (the tool's iPhone / Pixel device profiles, or a phantom device registered </a:t>
            </a:r>
            <a:r>
              <a:rPr sz="1200" b="0">
                <a:solidFill>
                  <a:srgbClr val="E6EDF3"/>
                </a:solidFill>
                <a:latin typeface="Arial"/>
              </a:rPr>
              <a:t>--device-type iOS</a:t>
            </a:r>
            <a:r>
              <a:rPr sz="1200" b="0">
                <a:solidFill>
                  <a:srgbClr val="97A4B4"/>
                </a:solidFill>
                <a:latin typeface="Arial"/>
              </a:rPr>
              <a:t>) and reach My Account MFA-free: read or rewrite the victim's </a:t>
            </a:r>
            <a:r>
              <a:rPr sz="1200" b="0">
                <a:solidFill>
                  <a:srgbClr val="FF5A45"/>
                </a:solidFill>
                <a:latin typeface="Arial"/>
              </a:rPr>
              <a:t>security info</a:t>
            </a:r>
            <a:r>
              <a:rPr sz="1200" b="0">
                <a:solidFill>
                  <a:srgbClr val="97A4B4"/>
                </a:solidFill>
                <a:latin typeface="Arial"/>
              </a:rPr>
              <a:t>, enrol your own authenticator, or register your own </a:t>
            </a:r>
            <a:r>
              <a:rPr sz="1200" b="0">
                <a:solidFill>
                  <a:srgbClr val="FF5A45"/>
                </a:solidFill>
                <a:latin typeface="Arial"/>
              </a:rPr>
              <a:t>passkey</a:t>
            </a:r>
            <a:r>
              <a:rPr sz="1200" b="0">
                <a:solidFill>
                  <a:srgbClr val="97A4B4"/>
                </a:solidFill>
                <a:latin typeface="Arial"/>
              </a:rPr>
              <a:t>. The gap sits on the portal that governs MFA itself.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  <a:latin typeface="Courier New"/>
              </a:rPr>
              <a:t>the gap · 12/26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6000" b="1">
                <a:solidFill>
                  <a:srgbClr val="FF5A45"/>
                </a:solidFill>
                <a:latin typeface="Arial"/>
              </a:rPr>
              <a:t>LIVE DEMO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7B84B"/>
                </a:solidFill>
                <a:latin typeface="Courier New"/>
              </a:rPr>
              <a:t>⚓ making landfall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stage 1 ·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The session is already 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The victim logs in normally. Grapnel's dashboard shows the captured tokens, headers, and the one-click tools built on top of them.</a:t>
            </a:r>
          </a:p>
        </p:txBody>
      </p:sp>
      <p:pic>
        <p:nvPicPr>
          <p:cNvPr id="5" name="Picture 4" descr="captured-data-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64" y="2331720"/>
            <a:ext cx="4704967" cy="3383280"/>
          </a:xfrm>
          <a:prstGeom prst="rect">
            <a:avLst/>
          </a:prstGeom>
          <a:ln w="9525">
            <a:solidFill>
              <a:srgbClr val="222C3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8899"/>
                </a:solidFill>
                <a:latin typeface="Courier New"/>
              </a:rPr>
              <a:t>Captured Data — access/refresh tokens captured in-flight, with ROPC / ADO-PAT / AAA tooling ready (lab tenant, identifiers redacted)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capture · 14/26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stage 2 · the picker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Weakest method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When the method picker appears, Grapnel makes the call the policy hoped a human wouldn't.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5477255" cy="192024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54864" cy="1920240"/>
          </a:xfrm>
          <a:prstGeom prst="rect">
            <a:avLst/>
          </a:prstGeom>
          <a:solidFill>
            <a:srgbClr val="4E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624328"/>
            <a:ext cx="5221223" cy="1700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push offered → auto-approve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Clicks the Microsoft Authenticator push tile before the user reaches for anything stronger. Number-match shows on the phone; one tap and we're 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3" y="2514600"/>
            <a:ext cx="5477255" cy="192024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81343" y="2514600"/>
            <a:ext cx="54864" cy="1920240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7" y="2624328"/>
            <a:ext cx="5221223" cy="1700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passkey-only → dead-end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If FIDO2 is the only completable method, Grapnel stops rather than guessing — then takes the other road: device-code.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494690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the point  </a:t>
            </a:r>
            <a:r>
              <a:rPr sz="1250" b="0">
                <a:solidFill>
                  <a:srgbClr val="97A4B4"/>
                </a:solidFill>
                <a:latin typeface="Arial"/>
              </a:rPr>
              <a:t>— a passkey alongside push is only as strong as the push.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picker · 15/26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stage 3 · device-code → DRS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6EDF3"/>
                </a:solidFill>
                <a:latin typeface="Arial"/>
              </a:rPr>
              <a:t>Blocked at the front door, in through the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Interactive auth is gated. The device-code grant to the Device Registration Service is not — so we take a DRS token instead.</a:t>
            </a:r>
          </a:p>
        </p:txBody>
      </p:sp>
      <p:pic>
        <p:nvPicPr>
          <p:cNvPr id="5" name="Picture 4" descr="phantom-phase2-drs-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407" y="2286000"/>
            <a:ext cx="5262880" cy="3383280"/>
          </a:xfrm>
          <a:prstGeom prst="rect">
            <a:avLst/>
          </a:prstGeom>
          <a:ln w="9525">
            <a:solidFill>
              <a:srgbClr val="222C3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8899"/>
                </a:solidFill>
                <a:latin typeface="Courier New"/>
              </a:rPr>
              <a:t>Phantom Join phase 2 — a DRS-scoped token obtained via device code, bypassing the CA policy that blocked interactive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devicecode · 16/26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stage 4 · phantom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A device that never existed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The DRS token registers a phantom device — no TPM, no hardware attestation, no admin approval — then mints a Primary Refresh Token from it.</a:t>
            </a:r>
          </a:p>
        </p:txBody>
      </p:sp>
      <p:pic>
        <p:nvPicPr>
          <p:cNvPr id="5" name="Picture 4" descr="phantom-phase3-device-reg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07" y="2514600"/>
            <a:ext cx="4551680" cy="2926080"/>
          </a:xfrm>
          <a:prstGeom prst="rect">
            <a:avLst/>
          </a:prstGeom>
          <a:ln w="9525">
            <a:solidFill>
              <a:srgbClr val="222C3A"/>
            </a:solidFill>
          </a:ln>
        </p:spPr>
      </p:pic>
      <p:pic>
        <p:nvPicPr>
          <p:cNvPr id="6" name="Picture 5" descr="phantom-phase4-prt-min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514600"/>
            <a:ext cx="4551680" cy="2926080"/>
          </a:xfrm>
          <a:prstGeom prst="rect">
            <a:avLst/>
          </a:prstGeom>
          <a:ln w="9525">
            <a:solidFill>
              <a:srgbClr val="222C3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8899"/>
                </a:solidFill>
                <a:latin typeface="Courier New"/>
              </a:rPr>
              <a:t>Phases 3–4 — Entra issues a real Device ID for a device that doesn't exist, then a PRT carrying device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phantom · 17/26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stage 5 · 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The beachhead 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The PRT exchanges for a Graph token with device claims — and ROPC hands us a durable ADO PAT. CA policy intent: defeated.</a:t>
            </a:r>
          </a:p>
        </p:txBody>
      </p:sp>
      <p:pic>
        <p:nvPicPr>
          <p:cNvPr id="5" name="Picture 4" descr="phantom-bypass-complete-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118" y="2331720"/>
            <a:ext cx="4955458" cy="3291840"/>
          </a:xfrm>
          <a:prstGeom prst="rect">
            <a:avLst/>
          </a:prstGeom>
          <a:ln w="9525">
            <a:solidFill>
              <a:srgbClr val="222C3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A8899"/>
                </a:solidFill>
                <a:latin typeface="Courier New"/>
              </a:rPr>
              <a:t>Chain complete — Graph token with amr=rsa + a listable Azure DevOps PAT. This is the foothold Beachhead starts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payoff · 18/26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recap · the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None of it needed a </a:t>
            </a:r>
            <a:r>
              <a:rPr sz="3000" b="1">
                <a:solidFill>
                  <a:srgbClr val="FF5A45"/>
                </a:solidFill>
                <a:latin typeface="Arial"/>
              </a:rPr>
              <a:t>passkey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1155680" cy="1287780"/>
          </a:xfrm>
          <a:prstGeom prst="roundRect">
            <a:avLst>
              <a:gd name="adj" fmla="val 4000"/>
            </a:avLst>
          </a:prstGeom>
          <a:solidFill>
            <a:srgbClr val="0B1017"/>
          </a:solidFill>
          <a:ln w="9525">
            <a:solidFill>
              <a:srgbClr val="1C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1155680" cy="384048"/>
          </a:xfrm>
          <a:prstGeom prst="rect">
            <a:avLst/>
          </a:prstGeom>
          <a:solidFill>
            <a:srgbClr val="14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965960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828800"/>
            <a:ext cx="102412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7A8899"/>
                </a:solidFill>
                <a:latin typeface="Courier New"/>
              </a:rPr>
              <a:t>the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86000"/>
            <a:ext cx="10753344" cy="7574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Courier New"/>
              </a:rPr>
              <a:t>browser control</a:t>
            </a:r>
            <a:r>
              <a:rPr sz="1500" b="0">
                <a:solidFill>
                  <a:srgbClr val="5A6472"/>
                </a:solidFill>
                <a:latin typeface="Courier New"/>
              </a:rPr>
              <a:t>  →  </a:t>
            </a:r>
            <a:r>
              <a:rPr sz="1500" b="0">
                <a:solidFill>
                  <a:srgbClr val="E6EDF3"/>
                </a:solidFill>
                <a:latin typeface="Courier New"/>
              </a:rPr>
              <a:t>downgrade / device-code</a:t>
            </a:r>
            <a:r>
              <a:rPr sz="1500" b="0">
                <a:solidFill>
                  <a:srgbClr val="5A6472"/>
                </a:solidFill>
                <a:latin typeface="Courier New"/>
              </a:rPr>
              <a:t>  →  </a:t>
            </a:r>
            <a:r>
              <a:rPr sz="1500" b="0">
                <a:solidFill>
                  <a:srgbClr val="E6EDF3"/>
                </a:solidFill>
                <a:latin typeface="Courier New"/>
              </a:rPr>
              <a:t>phantom device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A6472"/>
                </a:solidFill>
                <a:latin typeface="Courier New"/>
              </a:rPr>
              <a:t>      →  </a:t>
            </a:r>
            <a:r>
              <a:rPr sz="1500" b="0">
                <a:solidFill>
                  <a:srgbClr val="E6EDF3"/>
                </a:solidFill>
                <a:latin typeface="Courier New"/>
              </a:rPr>
              <a:t>PRT</a:t>
            </a:r>
            <a:r>
              <a:rPr sz="1500" b="0">
                <a:solidFill>
                  <a:srgbClr val="5A6472"/>
                </a:solidFill>
                <a:latin typeface="Courier New"/>
              </a:rPr>
              <a:t>  →  </a:t>
            </a:r>
            <a:r>
              <a:rPr sz="1500" b="0">
                <a:solidFill>
                  <a:srgbClr val="4ED16B"/>
                </a:solidFill>
                <a:latin typeface="Courier New"/>
              </a:rPr>
              <a:t>Graph token + ADO PAT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11155680" cy="2514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E7B84B"/>
                </a:solidFill>
                <a:latin typeface="Arial"/>
              </a:rPr>
              <a:t>›  </a:t>
            </a:r>
            <a:r>
              <a:rPr sz="1700" b="0">
                <a:solidFill>
                  <a:srgbClr val="E6EDF3"/>
                </a:solidFill>
                <a:latin typeface="Arial"/>
              </a:rPr>
              <a:t>The passkey guarded the interactive leg. We never used that leg.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E7B84B"/>
                </a:solidFill>
                <a:latin typeface="Arial"/>
              </a:rPr>
              <a:t>›  </a:t>
            </a:r>
            <a:r>
              <a:rPr sz="1700" b="0">
                <a:solidFill>
                  <a:srgbClr val="E6EDF3"/>
                </a:solidFill>
                <a:latin typeface="Arial"/>
              </a:rPr>
              <a:t>The device-code + DRS grant was uncovered by Conditional Access.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E7B84B"/>
                </a:solidFill>
                <a:latin typeface="Arial"/>
              </a:rPr>
              <a:t>›  </a:t>
            </a:r>
            <a:r>
              <a:rPr sz="1700" b="0">
                <a:solidFill>
                  <a:srgbClr val="E6EDF3"/>
                </a:solidFill>
                <a:latin typeface="Arial"/>
              </a:rPr>
              <a:t>The phantom device satisfied every "compliant/joined device" 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recap · 19/26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How you'd catch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477255" cy="146304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54864" cy="146304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892807"/>
            <a:ext cx="5221223" cy="12435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device-code sign-ins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Interactive sign-in logs flag authenticationProtocol = deviceCode. Rare for real users — alert on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3" y="1783080"/>
            <a:ext cx="5477255" cy="146304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81343" y="1783080"/>
            <a:ext cx="54864" cy="146304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7" y="1892807"/>
            <a:ext cx="5221223" cy="12435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new device registration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A DRS join with no TPM / no enrollment context, right after a device-code auth, is the tell.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10712"/>
            <a:ext cx="5477255" cy="146304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410712"/>
            <a:ext cx="54864" cy="146304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3520440"/>
            <a:ext cx="5221223" cy="12435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legacy / ROPC auth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Password-grant sign-ins are distinctly flagged. They should be near-zero.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3" y="3410712"/>
            <a:ext cx="5477255" cy="146304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3" y="3410712"/>
            <a:ext cx="54864" cy="146304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7" y="3520440"/>
            <a:ext cx="5221223" cy="12435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PAT creation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Azure DevOps PAT lifecycle events — especially app_token / all-orgs — are auditable and durable.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2920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5084064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fix  </a:t>
            </a:r>
            <a:r>
              <a:rPr sz="1250" b="0">
                <a:solidFill>
                  <a:srgbClr val="97A4B4"/>
                </a:solidFill>
                <a:latin typeface="Arial"/>
              </a:rPr>
              <a:t>— require </a:t>
            </a:r>
            <a:r>
              <a:rPr sz="1250" b="0">
                <a:solidFill>
                  <a:srgbClr val="E7B84B"/>
                </a:solidFill>
                <a:latin typeface="Arial"/>
              </a:rPr>
              <a:t>authentication strength</a:t>
            </a:r>
            <a:r>
              <a:rPr sz="1250" b="0">
                <a:solidFill>
                  <a:srgbClr val="97A4B4"/>
                </a:solidFill>
                <a:latin typeface="Arial"/>
              </a:rPr>
              <a:t> (not just "MFA"), and put CA on the device-code and DRS grants, not only interactive.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detect · 20/26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detection · from the sign-in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Arial"/>
              </a:rPr>
              <a:t>Detections beyond the obvious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27975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What the engagement's Entra sign-in telemetry </a:t>
            </a:r>
            <a:r>
              <a:rPr lang="en-US" sz="1400" b="0">
                <a:solidFill>
                  <a:srgbClr val="97A4B4"/>
                </a:solidFill>
                <a:latin typeface="Arial"/>
              </a:rPr>
              <a:t>lit</a:t>
            </a:r>
            <a:r>
              <a:rPr sz="1400" b="0">
                <a:solidFill>
                  <a:srgbClr val="97A4B4"/>
                </a:solidFill>
                <a:latin typeface="Arial"/>
              </a:rPr>
              <a:t> up — build these analytics; risk scoring missed the whole chain</a:t>
            </a:r>
            <a:r>
              <a:rPr sz="1200" b="0">
                <a:solidFill>
                  <a:srgbClr val="97A4B4"/>
                </a:solidFill>
                <a:latin typeface="Arial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724284"/>
              </p:ext>
            </p:extLst>
          </p:nvPr>
        </p:nvGraphicFramePr>
        <p:xfrm>
          <a:off x="564204" y="1964894"/>
          <a:ext cx="11155680" cy="4334256"/>
        </p:xfrm>
        <a:graphic>
          <a:graphicData uri="http://schemas.openxmlformats.org/drawingml/2006/table">
            <a:tbl>
              <a:tblPr/>
              <a:tblGrid>
                <a:gridCol w="334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9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8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</a:rPr>
                        <a:t>Detection</a:t>
                      </a:r>
                    </a:p>
                  </a:txBody>
                  <a:tcPr marL="73152" marR="54864" marT="9144" marB="9144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ourier New"/>
                        </a:rPr>
                        <a:t>Signal — Entra sign-in log</a:t>
                      </a:r>
                    </a:p>
                  </a:txBody>
                  <a:tcPr marL="73152" marR="54864" marT="9144" marB="9144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Scripting user agents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userAgent = python-* / curl / not a real browser, to Graph/token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PRT → legacy AAD Graph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incomingTokenType=primaryRefreshToken + resource Windows Azure AD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First-party client abuse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Auth Broker → Device Registration Service; Azure CLI + ropc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Legacy AAD Graph access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resource = Windows Azure Active Directory (graph.windows.net)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Single origin, full chain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one IP/ASN: device-code + ROPC + PRT + DRS across users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MFA-required burst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errorCode=50076 on ropc / deviceCode / PRT grants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Unmanaged AAD-joined device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trustType=Azure AD joined, isCompliant=false, isManaged=false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CA not applied on key resource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conditionalAccessStatus=notApplied on DRS / AAD-Graph / ADO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ADO token → PAT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Azure DevOps token via ROPC/CLI (python UA) → PAT event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0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</a:rPr>
                        <a:t>Risk scoring blind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chemeClr val="tx1"/>
                          </a:solidFill>
                          <a:latin typeface="Courier New"/>
                        </a:rPr>
                        <a:t>riskState=none across the whole chain</a:t>
                      </a:r>
                    </a:p>
                  </a:txBody>
                  <a:tcPr marL="73152" marR="54864" marT="9144" marB="9144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detect · telemetry · 21/26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If you remember three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1155680" cy="4023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E7B84B"/>
                </a:solidFill>
                <a:latin typeface="Arial"/>
              </a:rPr>
              <a:t>›  Passkeys protect a leg, not the account.</a:t>
            </a:r>
            <a:r>
              <a:rPr sz="1800" b="0">
                <a:solidFill>
                  <a:srgbClr val="E6EDF3"/>
                </a:solidFill>
                <a:latin typeface="Arial"/>
              </a:rPr>
              <a:t> Any completable weaker method — or an uncovered grant — routes around them.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E7B84B"/>
                </a:solidFill>
                <a:latin typeface="Arial"/>
              </a:rPr>
              <a:t>›  Conditional Access must cover every grant.</a:t>
            </a:r>
            <a:r>
              <a:rPr sz="1800" b="0">
                <a:solidFill>
                  <a:srgbClr val="E6EDF3"/>
                </a:solidFill>
                <a:latin typeface="Arial"/>
              </a:rPr>
              <a:t> Device-code, DRS registration, and ROPC are where the intent leaks.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E7B84B"/>
                </a:solidFill>
                <a:latin typeface="Arial"/>
              </a:rPr>
              <a:t>›  Watch what a foothold produces.</a:t>
            </a:r>
            <a:r>
              <a:rPr sz="1800" b="0">
                <a:solidFill>
                  <a:srgbClr val="E6EDF3"/>
                </a:solidFill>
                <a:latin typeface="Arial"/>
              </a:rPr>
              <a:t> Phantom device registration and PAT creation are your loudest, most durable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12064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517550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and  </a:t>
            </a:r>
            <a:r>
              <a:rPr sz="1250" b="0">
                <a:solidFill>
                  <a:srgbClr val="97A4B4"/>
                </a:solidFill>
                <a:latin typeface="Arial"/>
              </a:rPr>
              <a:t>— Grapnel makes landfall; </a:t>
            </a:r>
            <a:r>
              <a:rPr sz="1250" b="0">
                <a:solidFill>
                  <a:srgbClr val="4ED16B"/>
                </a:solidFill>
                <a:latin typeface="Arial"/>
              </a:rPr>
              <a:t>Beachhead</a:t>
            </a:r>
            <a:r>
              <a:rPr sz="1250" b="0">
                <a:solidFill>
                  <a:srgbClr val="97A4B4"/>
                </a:solidFill>
                <a:latin typeface="Arial"/>
              </a:rPr>
              <a:t> is what happens next. See the sequel.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takeaways · 22/26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Arial"/>
              </a:rPr>
              <a:t>Standing on shoulders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4B4"/>
                </a:solidFill>
                <a:latin typeface="Arial"/>
              </a:rPr>
              <a:t>Grapnel is glue. The offensive weight is carried by tools and research from people who did the hard part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5477255" cy="129844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54864" cy="1298448"/>
          </a:xfrm>
          <a:prstGeom prst="rect">
            <a:avLst/>
          </a:prstGeom>
          <a:solidFill>
            <a:srgbClr val="56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441448"/>
            <a:ext cx="5221223" cy="10789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ROADtools · Dirk-jan Mollema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device-code → DRS → phantom device → PRT → tenant enum. The core of the chain.   github.com/dirkjanm/ROADtools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3" y="2331720"/>
            <a:ext cx="5477255" cy="129844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81343" y="2331720"/>
            <a:ext cx="54864" cy="1298448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7" y="2441448"/>
            <a:ext cx="5221223" cy="10789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AbuseAzureAPIPermissions · Hagrid29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the Get-AAA* Graph recon / abuse functions.   github.com/hagrid29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94759"/>
            <a:ext cx="5477255" cy="129844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794759"/>
            <a:ext cx="54864" cy="1298448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3904487"/>
            <a:ext cx="5221223" cy="10789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AADInternals · Nestori Syynimaa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token &amp; WS-Trust primitives, bundled inside AAA.   @DrAzureAD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3" y="3794759"/>
            <a:ext cx="5477255" cy="129844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3" y="3794759"/>
            <a:ext cx="54864" cy="1298448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7" y="3904487"/>
            <a:ext cx="5221223" cy="10789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TokenTacticsV2 · Fabian Bader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token-manipulation prior art.   github.com/f-bader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540410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technique  </a:t>
            </a:r>
            <a:r>
              <a:rPr sz="1250" b="0">
                <a:solidFill>
                  <a:srgbClr val="97A4B4"/>
                </a:solidFill>
                <a:latin typeface="Arial"/>
              </a:rPr>
              <a:t>— the phantom-join CA bypass is based on </a:t>
            </a:r>
            <a:r>
              <a:rPr sz="1250" b="0">
                <a:solidFill>
                  <a:srgbClr val="E7B84B"/>
                </a:solidFill>
                <a:latin typeface="Arial"/>
              </a:rPr>
              <a:t>Cyderes "Howler Cell"</a:t>
            </a:r>
            <a:r>
              <a:rPr sz="1250" b="0">
                <a:solidFill>
                  <a:srgbClr val="97A4B4"/>
                </a:solidFill>
                <a:latin typeface="Arial"/>
              </a:rPr>
              <a:t> research: "One Password, No Device, Full Tenant."   Built on Playwright · curl_cffi / libcurl-impersonate · FastAPI · React.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credits · 23/26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87650"/>
            <a:ext cx="11277295" cy="17912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5200" b="0">
                <a:solidFill>
                  <a:srgbClr val="4ED16B"/>
                </a:solidFill>
                <a:latin typeface="Courier New"/>
              </a:rPr>
              <a:t>grapnel</a:t>
            </a:r>
            <a:r>
              <a:rPr sz="5200" b="0">
                <a:solidFill>
                  <a:srgbClr val="97A4B4"/>
                </a:solidFill>
                <a:latin typeface="Courier New"/>
              </a:rPr>
              <a:t>$ </a:t>
            </a:r>
            <a:r>
              <a:rPr sz="5200" b="0">
                <a:solidFill>
                  <a:srgbClr val="4ED16B"/>
                </a:solidFill>
                <a:latin typeface="Courier New"/>
              </a:rPr>
              <a:t>▍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97A4B4"/>
                </a:solidFill>
                <a:latin typeface="Courier New"/>
              </a:rPr>
              <a:t>github.com/fd22vrsfpv-star/bitm-proxy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ourier New"/>
              </a:rPr>
              <a:t>DEF CON · Red Team Village · 2025    ·    questions 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E6EDF3"/>
                </a:solidFill>
                <a:latin typeface="Arial"/>
              </a:rPr>
              <a:t>Appendix — the Entra sign-in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7A4B4"/>
                </a:solidFill>
                <a:latin typeface="Arial"/>
              </a:rPr>
              <a:t>One identity plane, dozens of front doors — every portal below authenticates through the same Entra IdP, so a foothold on the auth flow reaches all of them. Full list: </a:t>
            </a:r>
            <a:r>
              <a:rPr sz="1300" b="0">
                <a:solidFill>
                  <a:srgbClr val="56C2FF"/>
                </a:solidFill>
                <a:latin typeface="Arial"/>
              </a:rPr>
              <a:t>docs/microsoft_entra_login_sites.xlsx</a:t>
            </a:r>
            <a:r>
              <a:rPr sz="1300" b="0">
                <a:solidFill>
                  <a:srgbClr val="97A4B4"/>
                </a:solidFill>
                <a:latin typeface="Arial"/>
              </a:rPr>
              <a:t> (60 sites).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5477255" cy="13716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54864" cy="1371600"/>
          </a:xfrm>
          <a:prstGeom prst="rect">
            <a:avLst/>
          </a:prstGeom>
          <a:solidFill>
            <a:srgbClr val="56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441448"/>
            <a:ext cx="5221223" cy="11521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End-user apps · 29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M365, Outlook, Teams, SharePoint / OneDrive, Power BI / Apps / Automate, Dynamics, Fabric, myapps / myaccount / mysignins…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3" y="2331720"/>
            <a:ext cx="5477255" cy="13716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81343" y="2331720"/>
            <a:ext cx="54864" cy="137160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7" y="2441448"/>
            <a:ext cx="5221223" cy="11521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Admin centers · 15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Azure portal, Entra admin, M365 admin, Exchange, Teams, Intune, Defender, Purview, Power Platform…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67911"/>
            <a:ext cx="5477255" cy="13716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867911"/>
            <a:ext cx="54864" cy="1371600"/>
          </a:xfrm>
          <a:prstGeom prst="rect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3977639"/>
            <a:ext cx="5221223" cy="11521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Developer &amp; support · 9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Azure DevOps, Graph Explorer, Partner Center, VS subscriptions, Services Hub…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3" y="3867911"/>
            <a:ext cx="5477255" cy="1371600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3" y="3867911"/>
            <a:ext cx="54864" cy="1371600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7" y="3977639"/>
            <a:ext cx="5221223" cy="11521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urier New"/>
              </a:rPr>
              <a:t>Entra auth infrastructure · 7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7A4B4"/>
                </a:solidFill>
                <a:latin typeface="Arial"/>
              </a:rPr>
              <a:t>login.microsoftonline.com, login.microsoft.com, device.login…, sts.windows.net, autologon SSO — the endpoints the chain drives.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5780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5312664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validated  </a:t>
            </a:r>
            <a:r>
              <a:rPr sz="1250" b="0">
                <a:solidFill>
                  <a:srgbClr val="97A4B4"/>
                </a:solidFill>
                <a:latin typeface="Arial"/>
              </a:rPr>
              <a:t>— every concrete URL checked reachable; 2 stale hostnames removed, 5 tenant/org placeholders. The auth-infrastructure row is where BITM, device-code, and PRT do their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appendix · 25/26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7B84B"/>
                </a:solidFill>
                <a:latin typeface="Courier New"/>
              </a:rPr>
              <a:t>// appendix · phantom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6EDF3"/>
                </a:solidFill>
                <a:latin typeface="Arial"/>
              </a:rPr>
              <a:t>Phantom Join — run flow &amp; where it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11155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7A4B4"/>
                </a:solidFill>
                <a:latin typeface="Arial"/>
              </a:rPr>
              <a:t>Phase 5 (PRT → Graph) is make-or-break: a password-minted PRT carries no mfa claim, so an MFA-covered grant refuses it (AADSTS50076) — enrich with roadtx prtenrich and re-run, or accept the stop as the finding.</a:t>
            </a:r>
          </a:p>
        </p:txBody>
      </p:sp>
      <p:pic>
        <p:nvPicPr>
          <p:cNvPr id="5" name="Picture 4" descr="phantom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377440"/>
            <a:ext cx="11430000" cy="23909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07492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5129783"/>
            <a:ext cx="10826496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7B84B"/>
                </a:solidFill>
                <a:latin typeface="Arial"/>
              </a:rPr>
              <a:t>// full detail  </a:t>
            </a:r>
            <a:r>
              <a:rPr sz="1250" b="0">
                <a:solidFill>
                  <a:srgbClr val="97A4B4"/>
                </a:solidFill>
                <a:latin typeface="Arial"/>
              </a:rPr>
              <a:t>— troubleshooting table + this flow in tools/README_Phantom.md. Phases 6-7 skip cleanly when Phase 5 yields no device token.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>
                <a:solidFill>
                  <a:srgbClr val="5A6472"/>
                </a:solidFill>
                <a:latin typeface="Courier New"/>
              </a:rPr>
              <a:t>phantom flow · 26/26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B84B"/>
                </a:solidFill>
                <a:latin typeface="Courier New"/>
              </a:rPr>
              <a:t>// arsenal · tokens &amp; grants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Getting &amp; using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7A4B4"/>
                </a:solidFill>
                <a:latin typeface="Arial"/>
              </a:rPr>
              <a:t>Beyond the browser-in-the-middle capture, the dashboard drives token-level attacks straight at the tenant — each records a </a:t>
            </a:r>
            <a:r>
              <a:rPr sz="1400" b="0">
                <a:solidFill>
                  <a:srgbClr val="E7B84B"/>
                </a:solidFill>
                <a:latin typeface="Arial"/>
              </a:rPr>
              <a:t>🧪 flow trace</a:t>
            </a:r>
            <a:r>
              <a:rPr sz="1400" b="0">
                <a:solidFill>
                  <a:srgbClr val="97A4B4"/>
                </a:solidFill>
                <a:latin typeface="Arial"/>
              </a:rPr>
              <a:t> you can send to the local LLM.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3590543" cy="248716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487168"/>
            <a:ext cx="54864" cy="2487168"/>
          </a:xfrm>
          <a:prstGeom prst="roundRect">
            <a:avLst>
              <a:gd name="adj" fmla="val 5000"/>
            </a:avLst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33472"/>
            <a:ext cx="3261360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6EDF3"/>
                </a:solidFill>
                <a:latin typeface="Courier New"/>
              </a:rPr>
              <a:t>ROPC · password grant</a:t>
            </a:r>
          </a:p>
          <a:p>
            <a:pPr algn="l"/>
            <a:r>
              <a:rPr sz="1250" b="0">
                <a:solidFill>
                  <a:srgbClr val="97A4B4"/>
                </a:solidFill>
                <a:latin typeface="Arial"/>
              </a:rPr>
              <a:t>POST user + password straight to /token (grant_type=password), skipping the interactive leg that CA often only guards. A 200 + access_token on an MFA-required account is an uncovered bypass; AADSTS50076 means the legacy grant was blocked.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5488" y="2487168"/>
            <a:ext cx="3590543" cy="248716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85488" y="2487168"/>
            <a:ext cx="54864" cy="2487168"/>
          </a:xfrm>
          <a:prstGeom prst="roundRect">
            <a:avLst>
              <a:gd name="adj" fmla="val 5000"/>
            </a:avLst>
          </a:prstGeom>
          <a:solidFill>
            <a:srgbClr val="56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8368" y="2633472"/>
            <a:ext cx="3261360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6EDF3"/>
                </a:solidFill>
                <a:latin typeface="Courier New"/>
              </a:rPr>
              <a:t>ADO PAT · persistence</a:t>
            </a:r>
          </a:p>
          <a:p>
            <a:pPr algn="l"/>
            <a:r>
              <a:rPr sz="1250" b="0">
                <a:solidFill>
                  <a:srgbClr val="97A4B4"/>
                </a:solidFill>
                <a:latin typeface="Arial"/>
              </a:rPr>
              <a:t>Trade an Azure DevOps-scoped token (from ROPC or device-code) for a long-lived Personal Access Token. Outlives the session, scopes to repos / pipelines, and often dodges MFA re-prompts — quiet CI/CD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8056" y="2487168"/>
            <a:ext cx="3590543" cy="248716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8056" y="2487168"/>
            <a:ext cx="54864" cy="2487168"/>
          </a:xfrm>
          <a:prstGeom prst="roundRect">
            <a:avLst>
              <a:gd name="adj" fmla="val 5000"/>
            </a:avLst>
          </a:prstGeom>
          <a:solidFill>
            <a:srgbClr val="4ED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0936" y="2633472"/>
            <a:ext cx="3261360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6EDF3"/>
                </a:solidFill>
                <a:latin typeface="Courier New"/>
              </a:rPr>
              <a:t>MS Graph · enumerate</a:t>
            </a:r>
          </a:p>
          <a:p>
            <a:pPr algn="l"/>
            <a:r>
              <a:rPr sz="1250" b="0">
                <a:solidFill>
                  <a:srgbClr val="97A4B4"/>
                </a:solidFill>
                <a:latin typeface="Arial"/>
              </a:rPr>
              <a:t>Replay any captured or minted token against graph.microsoft.com — /me, users, groups, devices, managed devices — to prove what it can actually reach. Turns a token into tenant recon.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30368"/>
            <a:ext cx="11155680" cy="658368"/>
          </a:xfrm>
          <a:prstGeom prst="roundRect">
            <a:avLst>
              <a:gd name="adj" fmla="val 4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285232"/>
            <a:ext cx="108264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E7B84B"/>
                </a:solidFill>
                <a:latin typeface="Arial"/>
              </a:rPr>
              <a:t>// dashboard  </a:t>
            </a:r>
            <a:r>
              <a:rPr sz="1200" b="0">
                <a:solidFill>
                  <a:srgbClr val="97A4B4"/>
                </a:solidFill>
                <a:latin typeface="Arial"/>
              </a:rPr>
              <a:t>Test ROPC · v1+v2 token · ADO PAT · Test Graph — one click each, full request/response captured for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  <a:latin typeface="Courier New"/>
              </a:rPr>
              <a:t>arsenal · 09/26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7B84B"/>
                </a:solidFill>
                <a:latin typeface="Courier New"/>
              </a:rPr>
              <a:t>// arsenal · escalation &amp; device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Escalating &amp; forging device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7A4B4"/>
                </a:solidFill>
                <a:latin typeface="Arial"/>
              </a:rPr>
              <a:t>With a token in hand, two heavier techniques turn access into </a:t>
            </a:r>
            <a:r>
              <a:rPr sz="1400" b="0">
                <a:solidFill>
                  <a:srgbClr val="E7B84B"/>
                </a:solidFill>
                <a:latin typeface="Arial"/>
              </a:rPr>
              <a:t>privilege</a:t>
            </a:r>
            <a:r>
              <a:rPr sz="1400" b="0">
                <a:solidFill>
                  <a:srgbClr val="97A4B4"/>
                </a:solidFill>
                <a:latin typeface="Arial"/>
              </a:rPr>
              <a:t> and </a:t>
            </a:r>
            <a:r>
              <a:rPr sz="1400" b="0">
                <a:solidFill>
                  <a:srgbClr val="E7B84B"/>
                </a:solidFill>
                <a:latin typeface="Arial"/>
              </a:rPr>
              <a:t>trusted-device</a:t>
            </a:r>
            <a:r>
              <a:rPr sz="1400" b="0">
                <a:solidFill>
                  <a:srgbClr val="97A4B4"/>
                </a:solidFill>
                <a:latin typeface="Arial"/>
              </a:rPr>
              <a:t> posture — the latter is the chain the live demo builds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5440679" cy="248716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487168"/>
            <a:ext cx="54864" cy="2487168"/>
          </a:xfrm>
          <a:prstGeom prst="roundRect">
            <a:avLst>
              <a:gd name="adj" fmla="val 5000"/>
            </a:avLst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33472"/>
            <a:ext cx="5111495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6EDF3"/>
                </a:solidFill>
                <a:latin typeface="Courier New"/>
              </a:rPr>
              <a:t>AAA · abuse API permissions</a:t>
            </a:r>
          </a:p>
          <a:p>
            <a:pPr algn="l"/>
            <a:r>
              <a:rPr sz="1250" b="0">
                <a:solidFill>
                  <a:srgbClr val="97A4B4"/>
                </a:solidFill>
                <a:latin typeface="Arial"/>
              </a:rPr>
              <a:t>Get-AAATokenFromAzLogin + the AbuseAzureAPIPermissions toolkit: take an Az / Graph token and exercise over-privileged app or service-principal permissions — add SP credentials, grant app roles, reset passwords — to escalate inside the tenant. Runs pwsh + Az.Accounts in-container.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2487168"/>
            <a:ext cx="5440679" cy="2487168"/>
          </a:xfrm>
          <a:prstGeom prst="roundRect">
            <a:avLst>
              <a:gd name="adj" fmla="val 5000"/>
            </a:avLst>
          </a:prstGeom>
          <a:solidFill>
            <a:srgbClr val="141B26"/>
          </a:solidFill>
          <a:ln w="9525">
            <a:solidFill>
              <a:srgbClr val="2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19" y="2487168"/>
            <a:ext cx="54864" cy="2487168"/>
          </a:xfrm>
          <a:prstGeom prst="roundRect">
            <a:avLst>
              <a:gd name="adj" fmla="val 5000"/>
            </a:avLst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799" y="2633472"/>
            <a:ext cx="5111495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6EDF3"/>
                </a:solidFill>
                <a:latin typeface="Courier New"/>
              </a:rPr>
              <a:t>Phantom Join · device + PRT</a:t>
            </a:r>
          </a:p>
          <a:p>
            <a:pPr algn="l"/>
            <a:r>
              <a:rPr sz="1250" b="0">
                <a:solidFill>
                  <a:srgbClr val="97A4B4"/>
                </a:solidFill>
                <a:latin typeface="Arial"/>
              </a:rPr>
              <a:t>Register a fake (“phantom”) device into Entra via the Device Registration Service using a device-code token, then mint a Primary Refresh Token. The PRT yields tokens that look like a compliant, joined device — satisfying device-based Conditional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30368"/>
            <a:ext cx="11155680" cy="658368"/>
          </a:xfrm>
          <a:prstGeom prst="roundRect">
            <a:avLst>
              <a:gd name="adj" fmla="val 4000"/>
            </a:avLst>
          </a:prstGeom>
          <a:solidFill>
            <a:srgbClr val="101A26"/>
          </a:solidFill>
          <a:ln w="9525">
            <a:solidFill>
              <a:srgbClr val="1C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285232"/>
            <a:ext cx="108264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E7B84B"/>
                </a:solidFill>
                <a:latin typeface="Arial"/>
              </a:rPr>
              <a:t>// demo  </a:t>
            </a:r>
            <a:r>
              <a:rPr sz="1200" b="0">
                <a:solidFill>
                  <a:srgbClr val="97A4B4"/>
                </a:solidFill>
                <a:latin typeface="Arial"/>
              </a:rPr>
              <a:t>Phantom Join is stages 3–5 of the live walkthrough: device-code → DRS → phantom join → PRT → Graph token.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2"/>
                </a:solidFill>
                <a:latin typeface="Courier New"/>
              </a:rPr>
              <a:t>YOUR PASSKEYS WON'T SAVE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  <a:latin typeface="Courier New"/>
              </a:rPr>
              <a:t>arsenal · 10/26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2638</Words>
  <Application>Microsoft Macintosh PowerPoint</Application>
  <PresentationFormat>Widescreen</PresentationFormat>
  <Paragraphs>266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Doug Mooney</cp:lastModifiedBy>
  <cp:revision>3</cp:revision>
  <dcterms:created xsi:type="dcterms:W3CDTF">2013-01-27T09:14:16Z</dcterms:created>
  <dcterms:modified xsi:type="dcterms:W3CDTF">2026-07-21T12:54:01Z</dcterms:modified>
  <cp:category/>
</cp:coreProperties>
</file>