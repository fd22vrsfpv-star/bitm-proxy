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79" r:id="rId11"/>
    <p:sldId id="281" r:id="rId12"/>
    <p:sldId id="282" r:id="rId13"/>
    <p:sldId id="283" r:id="rId14"/>
    <p:sldId id="266" r:id="rId15"/>
    <p:sldId id="267" r:id="rId16"/>
    <p:sldId id="268" r:id="rId17"/>
    <p:sldId id="269" r:id="rId18"/>
    <p:sldId id="270" r:id="rId19"/>
    <p:sldId id="271" r:id="rId20"/>
    <p:sldId id="272" r:id="rId21"/>
    <p:sldId id="273" r:id="rId22"/>
    <p:sldId id="280" r:id="rId23"/>
    <p:sldId id="277" r:id="rId24"/>
    <p:sldId id="275" r:id="rId25"/>
    <p:sldId id="276" r:id="rId26"/>
    <p:sldId id="27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4C23"/>
    <a:srgbClr val="097B3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278"/>
    <p:restoredTop sz="64806"/>
  </p:normalViewPr>
  <p:slideViewPr>
    <p:cSldViewPr snapToGrid="0" snapToObjects="1">
      <p:cViewPr varScale="1">
        <p:scale>
          <a:sx n="91" d="100"/>
          <a:sy n="91" d="100"/>
        </p:scale>
        <p:origin x="161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E79422-EB93-6E42-8C62-275986433F54}" type="datetimeFigureOut">
              <a:rPr lang="en-US" smtClean="0"/>
              <a:t>8/7/26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E54A61-5F1F-BB4E-8953-FBD069D881AA}" type="slidenum">
              <a:rPr lang="en-US" smtClean="0"/>
              <a:t>‹#›</a:t>
            </a:fld>
            <a:endParaRPr lang="en-US" dirty="0"/>
          </a:p>
        </p:txBody>
      </p:sp>
    </p:spTree>
    <p:extLst>
      <p:ext uri="{BB962C8B-B14F-4D97-AF65-F5344CB8AC3E}">
        <p14:creationId xmlns:p14="http://schemas.microsoft.com/office/powerpoint/2010/main" val="3234849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Passkeys are the phishing-proof future, and in the next 20 minutes you'll watch a phishing-resistant tenant get boarded anyway. Not by breaking the passkey, but by bypassing the controls that make it effective. This is the hook to get you in, today we make landfall; what you do once you're aboard is the sequel (Beachhead).</a:t>
            </a:r>
          </a:p>
        </p:txBody>
      </p:sp>
      <p:sp>
        <p:nvSpPr>
          <p:cNvPr id="4" name="Slide Number Placeholder 3"/>
          <p:cNvSpPr>
            <a:spLocks noGrp="1"/>
          </p:cNvSpPr>
          <p:nvPr>
            <p:ph type="sldNum" sz="quarter" idx="5"/>
          </p:nvPr>
        </p:nvSpPr>
        <p:spPr/>
        <p:txBody>
          <a:bodyPr/>
          <a:lstStyle/>
          <a:p>
            <a:fld id="{C5E54A61-5F1F-BB4E-8953-FBD069D881AA}" type="slidenum">
              <a:rPr lang="en-US" smtClean="0"/>
              <a:t>1</a:t>
            </a:fld>
            <a:endParaRPr lang="en-US" dirty="0"/>
          </a:p>
        </p:txBody>
      </p:sp>
    </p:spTree>
    <p:extLst>
      <p:ext uri="{BB962C8B-B14F-4D97-AF65-F5344CB8AC3E}">
        <p14:creationId xmlns:p14="http://schemas.microsoft.com/office/powerpoint/2010/main" val="3161101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Three of us, one keyboard's worth of questionable decisions. </a:t>
            </a:r>
          </a:p>
          <a:p>
            <a:endParaRPr lang="en-US" dirty="0"/>
          </a:p>
          <a:p>
            <a:r>
              <a:rPr lang="en-US" dirty="0"/>
              <a:t>this is the "how you got in" talk; the sequel "</a:t>
            </a:r>
            <a:r>
              <a:rPr lang="en-US" sz="1200" dirty="0">
                <a:solidFill>
                  <a:srgbClr val="E7B84B"/>
                </a:solidFill>
                <a:latin typeface="Arial"/>
              </a:rPr>
              <a:t>Establishing a Beachhead” </a:t>
            </a:r>
            <a:r>
              <a:rPr lang="en-US" dirty="0"/>
              <a:t>over at Adversary Village picks up on Sunday the second we're aboard.</a:t>
            </a:r>
          </a:p>
        </p:txBody>
      </p:sp>
      <p:sp>
        <p:nvSpPr>
          <p:cNvPr id="4" name="Slide Number Placeholder 3"/>
          <p:cNvSpPr>
            <a:spLocks noGrp="1"/>
          </p:cNvSpPr>
          <p:nvPr>
            <p:ph type="sldNum" sz="quarter" idx="5"/>
          </p:nvPr>
        </p:nvSpPr>
        <p:spPr/>
        <p:txBody>
          <a:bodyPr/>
          <a:lstStyle/>
          <a:p>
            <a:fld id="{C5E54A61-5F1F-BB4E-8953-FBD069D881AA}" type="slidenum">
              <a:rPr lang="en-US" smtClean="0"/>
              <a:t>2</a:t>
            </a:fld>
            <a:endParaRPr lang="en-US" dirty="0"/>
          </a:p>
        </p:txBody>
      </p:sp>
    </p:spTree>
    <p:extLst>
      <p:ext uri="{BB962C8B-B14F-4D97-AF65-F5344CB8AC3E}">
        <p14:creationId xmlns:p14="http://schemas.microsoft.com/office/powerpoint/2010/main" val="2068829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Here's the pitch you were sold: passkeys, phishing-proof, sleep easy. And for the interactive login path, genuinely, they deliver. </a:t>
            </a:r>
          </a:p>
          <a:p>
            <a:r>
              <a:rPr lang="en-US" dirty="0"/>
              <a:t>But the user still authenticates through a browser, and if we're sitting inside that browser at the moment of auth, "phishing-resistant" stops being our problem. </a:t>
            </a:r>
          </a:p>
          <a:p>
            <a:endParaRPr lang="en-US" dirty="0"/>
          </a:p>
          <a:p>
            <a:r>
              <a:rPr lang="en-US" dirty="0"/>
              <a:t>Three pieces: the browser we own, the policy that feels airtight, and the seam (CA is evaluated per-grant, so we just pick a grant it forgot to cover). Starting state: one click, no admin, no malware.</a:t>
            </a:r>
          </a:p>
        </p:txBody>
      </p:sp>
      <p:sp>
        <p:nvSpPr>
          <p:cNvPr id="4" name="Slide Number Placeholder 3"/>
          <p:cNvSpPr>
            <a:spLocks noGrp="1"/>
          </p:cNvSpPr>
          <p:nvPr>
            <p:ph type="sldNum" sz="quarter" idx="5"/>
          </p:nvPr>
        </p:nvSpPr>
        <p:spPr/>
        <p:txBody>
          <a:bodyPr/>
          <a:lstStyle/>
          <a:p>
            <a:fld id="{C5E54A61-5F1F-BB4E-8953-FBD069D881AA}" type="slidenum">
              <a:rPr lang="en-US" smtClean="0"/>
              <a:t>3</a:t>
            </a:fld>
            <a:endParaRPr lang="en-US" dirty="0"/>
          </a:p>
        </p:txBody>
      </p:sp>
    </p:spTree>
    <p:extLst>
      <p:ext uri="{BB962C8B-B14F-4D97-AF65-F5344CB8AC3E}">
        <p14:creationId xmlns:p14="http://schemas.microsoft.com/office/powerpoint/2010/main" val="3627637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Why the browser flow? Because the sign-in picker and the CA engine don't agree on what "strong" means, and disagreement is a door. An account is only as strong as its weakest method a human can complete. Everybody hardens the front door - the interactive login. Almost nobody checks whether the device-code + DRS side door is even locked. It usually isn't.</a:t>
            </a:r>
          </a:p>
        </p:txBody>
      </p:sp>
      <p:sp>
        <p:nvSpPr>
          <p:cNvPr id="4" name="Slide Number Placeholder 3"/>
          <p:cNvSpPr>
            <a:spLocks noGrp="1"/>
          </p:cNvSpPr>
          <p:nvPr>
            <p:ph type="sldNum" sz="quarter" idx="5"/>
          </p:nvPr>
        </p:nvSpPr>
        <p:spPr/>
        <p:txBody>
          <a:bodyPr/>
          <a:lstStyle/>
          <a:p>
            <a:fld id="{C5E54A61-5F1F-BB4E-8953-FBD069D881AA}" type="slidenum">
              <a:rPr lang="en-US" smtClean="0"/>
              <a:t>4</a:t>
            </a:fld>
            <a:endParaRPr lang="en-US" dirty="0"/>
          </a:p>
        </p:txBody>
      </p:sp>
    </p:spTree>
    <p:extLst>
      <p:ext uri="{BB962C8B-B14F-4D97-AF65-F5344CB8AC3E}">
        <p14:creationId xmlns:p14="http://schemas.microsoft.com/office/powerpoint/2010/main" val="3730223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The whole voyage on one slide: capture, downgrade, device-code, phantom join, mint. Five steps - and each one uses only what a single phished session already holds. </a:t>
            </a:r>
          </a:p>
          <a:p>
            <a:endParaRPr lang="en-US" dirty="0"/>
          </a:p>
          <a:p>
            <a:r>
              <a:rPr lang="en-US" dirty="0"/>
              <a:t>No second exploit, no malware, no admin. Here be dragons; they're just ours now.</a:t>
            </a:r>
          </a:p>
        </p:txBody>
      </p:sp>
      <p:sp>
        <p:nvSpPr>
          <p:cNvPr id="4" name="Slide Number Placeholder 3"/>
          <p:cNvSpPr>
            <a:spLocks noGrp="1"/>
          </p:cNvSpPr>
          <p:nvPr>
            <p:ph type="sldNum" sz="quarter" idx="5"/>
          </p:nvPr>
        </p:nvSpPr>
        <p:spPr/>
        <p:txBody>
          <a:bodyPr/>
          <a:lstStyle/>
          <a:p>
            <a:fld id="{C5E54A61-5F1F-BB4E-8953-FBD069D881AA}" type="slidenum">
              <a:rPr lang="en-US" smtClean="0"/>
              <a:t>5</a:t>
            </a:fld>
            <a:endParaRPr lang="en-US" dirty="0"/>
          </a:p>
        </p:txBody>
      </p:sp>
    </p:spTree>
    <p:extLst>
      <p:ext uri="{BB962C8B-B14F-4D97-AF65-F5344CB8AC3E}">
        <p14:creationId xmlns:p14="http://schemas.microsoft.com/office/powerpoint/2010/main" val="311408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One tool does all of it. Browser-in-the-middle, driven from a web dashboard </a:t>
            </a:r>
          </a:p>
          <a:p>
            <a:r>
              <a:rPr lang="en-US" dirty="0"/>
              <a:t>nothing installed on the victim, no CLI to memorize. </a:t>
            </a:r>
          </a:p>
          <a:p>
            <a:endParaRPr lang="en-US" dirty="0"/>
          </a:p>
          <a:p>
            <a:r>
              <a:rPr lang="en-US" dirty="0"/>
              <a:t>Docker compose up, three surfaces: the proxy that intercepts, the session the victim drives, the dashboard we drive. And it's scope-locked in code, it physically refuses any host or tenant not on the list, so nobody accidentally boards the wrong ship.</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operator watches the real login occur through grapnel.</a:t>
            </a:r>
          </a:p>
          <a:p>
            <a:endParaRPr lang="en-US" dirty="0"/>
          </a:p>
        </p:txBody>
      </p:sp>
      <p:sp>
        <p:nvSpPr>
          <p:cNvPr id="4" name="Slide Number Placeholder 3"/>
          <p:cNvSpPr>
            <a:spLocks noGrp="1"/>
          </p:cNvSpPr>
          <p:nvPr>
            <p:ph type="sldNum" sz="quarter" idx="5"/>
          </p:nvPr>
        </p:nvSpPr>
        <p:spPr/>
        <p:txBody>
          <a:bodyPr/>
          <a:lstStyle/>
          <a:p>
            <a:fld id="{C5E54A61-5F1F-BB4E-8953-FBD069D881AA}" type="slidenum">
              <a:rPr lang="en-US" smtClean="0"/>
              <a:t>6</a:t>
            </a:fld>
            <a:endParaRPr lang="en-US" dirty="0"/>
          </a:p>
        </p:txBody>
      </p:sp>
    </p:spTree>
    <p:extLst>
      <p:ext uri="{BB962C8B-B14F-4D97-AF65-F5344CB8AC3E}">
        <p14:creationId xmlns:p14="http://schemas.microsoft.com/office/powerpoint/2010/main" val="1334550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Quick honesty slide - where is the "middle"? It's a real browser we drive server-side. The victim's looking at a picture of it; the actual auth traffic to Microsoft runs behind that picture, and we read it on the way through. Magician's mirror, not magic.</a:t>
            </a:r>
          </a:p>
        </p:txBody>
      </p:sp>
      <p:sp>
        <p:nvSpPr>
          <p:cNvPr id="4" name="Slide Number Placeholder 3"/>
          <p:cNvSpPr>
            <a:spLocks noGrp="1"/>
          </p:cNvSpPr>
          <p:nvPr>
            <p:ph type="sldNum" sz="quarter" idx="5"/>
          </p:nvPr>
        </p:nvSpPr>
        <p:spPr/>
        <p:txBody>
          <a:bodyPr/>
          <a:lstStyle/>
          <a:p>
            <a:fld id="{C5E54A61-5F1F-BB4E-8953-FBD069D881AA}" type="slidenum">
              <a:rPr lang="en-US" smtClean="0"/>
              <a:t>7</a:t>
            </a:fld>
            <a:endParaRPr lang="en-US" dirty="0"/>
          </a:p>
        </p:txBody>
      </p:sp>
    </p:spTree>
    <p:extLst>
      <p:ext uri="{BB962C8B-B14F-4D97-AF65-F5344CB8AC3E}">
        <p14:creationId xmlns:p14="http://schemas.microsoft.com/office/powerpoint/2010/main" val="2686967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Everything you're about to see runs against a throwaway tenant and a container we drive from the booth. This can be configured to Enforce the scope in before deployment, not promised on a card: two allowlists, hosts and tenant domains. Same image runs against your tenant, under your authorization - just not this box.</a:t>
            </a:r>
          </a:p>
        </p:txBody>
      </p:sp>
      <p:sp>
        <p:nvSpPr>
          <p:cNvPr id="4" name="Slide Number Placeholder 3"/>
          <p:cNvSpPr>
            <a:spLocks noGrp="1"/>
          </p:cNvSpPr>
          <p:nvPr>
            <p:ph type="sldNum" sz="quarter" idx="5"/>
          </p:nvPr>
        </p:nvSpPr>
        <p:spPr/>
        <p:txBody>
          <a:bodyPr/>
          <a:lstStyle/>
          <a:p>
            <a:fld id="{C5E54A61-5F1F-BB4E-8953-FBD069D881AA}" type="slidenum">
              <a:rPr lang="en-US" smtClean="0"/>
              <a:t>8</a:t>
            </a:fld>
            <a:endParaRPr lang="en-US" dirty="0"/>
          </a:p>
        </p:txBody>
      </p:sp>
    </p:spTree>
    <p:extLst>
      <p:ext uri="{BB962C8B-B14F-4D97-AF65-F5344CB8AC3E}">
        <p14:creationId xmlns:p14="http://schemas.microsoft.com/office/powerpoint/2010/main" val="4291419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Let me be honest about what makes this work, because I don't want anyone leaving saying we "broke MFA." We didn’t. </a:t>
            </a:r>
          </a:p>
          <a:p>
            <a:endParaRPr lang="en-US" dirty="0"/>
          </a:p>
          <a:p>
            <a:r>
              <a:rPr lang="en-US" dirty="0"/>
              <a:t>The chain completes because the tenant has an MFA relaxation on the grant we ride - and those exist everywhere for boring, well-meaning reasons: legacy compatibility, device-migration windows, per-app policies. Where CA truly covers every grant with authentication strength, the chain dead-ends with a 50076 and we go home. This is a coverage-gap attack, not a magic key. (Scope: Microsoft cloud.)</a:t>
            </a:r>
          </a:p>
        </p:txBody>
      </p:sp>
      <p:sp>
        <p:nvSpPr>
          <p:cNvPr id="4" name="Slide Number Placeholder 3"/>
          <p:cNvSpPr>
            <a:spLocks noGrp="1"/>
          </p:cNvSpPr>
          <p:nvPr>
            <p:ph type="sldNum" sz="quarter" idx="5"/>
          </p:nvPr>
        </p:nvSpPr>
        <p:spPr/>
        <p:txBody>
          <a:bodyPr/>
          <a:lstStyle/>
          <a:p>
            <a:fld id="{C5E54A61-5F1F-BB4E-8953-FBD069D881AA}" type="slidenum">
              <a:rPr lang="en-US" smtClean="0"/>
              <a:t>9</a:t>
            </a:fld>
            <a:endParaRPr lang="en-US" dirty="0"/>
          </a:p>
        </p:txBody>
      </p:sp>
    </p:spTree>
    <p:extLst>
      <p:ext uri="{BB962C8B-B14F-4D97-AF65-F5344CB8AC3E}">
        <p14:creationId xmlns:p14="http://schemas.microsoft.com/office/powerpoint/2010/main" val="590911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We aren’t showing the real attack vector used, but will setup a realistic case</a:t>
            </a:r>
          </a:p>
          <a:p>
            <a:r>
              <a:rPr lang="en-US" dirty="0"/>
              <a:t>myaccount.microsoft.com - the portal where you manage your passkeys and MFA methods - requires MFA on Windows, Mac, and web. </a:t>
            </a:r>
          </a:p>
          <a:p>
            <a:r>
              <a:rPr lang="en-US" dirty="0"/>
              <a:t>On iOS and Android? Device-platform carve-out; MFA skipped. </a:t>
            </a:r>
          </a:p>
          <a:p>
            <a:endParaRPr lang="en-US" dirty="0"/>
          </a:p>
          <a:p>
            <a:r>
              <a:rPr lang="en-US" dirty="0"/>
              <a:t>So we show up as an iPhone, walk into the room that controls MFA, and enroll our own authenticator. The gap is on the door that guards all the other doors.</a:t>
            </a:r>
          </a:p>
        </p:txBody>
      </p:sp>
      <p:sp>
        <p:nvSpPr>
          <p:cNvPr id="4" name="Slide Number Placeholder 3"/>
          <p:cNvSpPr>
            <a:spLocks noGrp="1"/>
          </p:cNvSpPr>
          <p:nvPr>
            <p:ph type="sldNum" sz="quarter" idx="5"/>
          </p:nvPr>
        </p:nvSpPr>
        <p:spPr/>
        <p:txBody>
          <a:bodyPr/>
          <a:lstStyle/>
          <a:p>
            <a:fld id="{C5E54A61-5F1F-BB4E-8953-FBD069D881AA}" type="slidenum">
              <a:rPr lang="en-US" smtClean="0"/>
              <a:t>10</a:t>
            </a:fld>
            <a:endParaRPr lang="en-US" dirty="0"/>
          </a:p>
        </p:txBody>
      </p:sp>
    </p:spTree>
    <p:extLst>
      <p:ext uri="{BB962C8B-B14F-4D97-AF65-F5344CB8AC3E}">
        <p14:creationId xmlns:p14="http://schemas.microsoft.com/office/powerpoint/2010/main" val="3227556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Beyond the browser capture, the dashboard just... asks the tenant for things, directly. ROPC - password straight to /token, skipping the leg CA was watching. ADO PAT - trade a token for a Personal Access Token that outlives the session and shrugs at MFA re-prompts. Graph - replay any token to see what it can actually touch. One click each, full request/response captured - and yes, you can hand the trace to a local LLM and ask it what it's looking at.</a:t>
            </a:r>
          </a:p>
        </p:txBody>
      </p:sp>
      <p:sp>
        <p:nvSpPr>
          <p:cNvPr id="4" name="Slide Number Placeholder 3"/>
          <p:cNvSpPr>
            <a:spLocks noGrp="1"/>
          </p:cNvSpPr>
          <p:nvPr>
            <p:ph type="sldNum" sz="quarter" idx="5"/>
          </p:nvPr>
        </p:nvSpPr>
        <p:spPr/>
        <p:txBody>
          <a:bodyPr/>
          <a:lstStyle/>
          <a:p>
            <a:fld id="{C5E54A61-5F1F-BB4E-8953-FBD069D881AA}" type="slidenum">
              <a:rPr lang="en-US" smtClean="0"/>
              <a:t>11</a:t>
            </a:fld>
            <a:endParaRPr lang="en-US" dirty="0"/>
          </a:p>
        </p:txBody>
      </p:sp>
    </p:spTree>
    <p:extLst>
      <p:ext uri="{BB962C8B-B14F-4D97-AF65-F5344CB8AC3E}">
        <p14:creationId xmlns:p14="http://schemas.microsoft.com/office/powerpoint/2010/main" val="3032602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Two heavier hitters. AAA takes an Az or Graph token and abuses over-privileged app permissions - add creds to a service principal, grant yourself app roles, reset passwords </a:t>
            </a:r>
          </a:p>
          <a:p>
            <a:r>
              <a:rPr lang="en-US" dirty="0"/>
              <a:t>- the boring corporate stuff that ends with you owning the tenant. </a:t>
            </a:r>
          </a:p>
          <a:p>
            <a:r>
              <a:rPr lang="en-US" dirty="0"/>
              <a:t>Once you've captured a token, AAA enumerates the Microsoft Graph API permissions that identity actually holds, then exercises them - directory recon, group membership, password/credential ops, app consent - whatever the scopes allow. In Grapnel it runs one-click against the captured Graph token, so 'we have a token' becomes 'we have hands-on-keyboard Graph access' - and every call lands in the Entra sign-in logs."</a:t>
            </a:r>
          </a:p>
          <a:p>
            <a:endParaRPr lang="en-US" dirty="0"/>
          </a:p>
          <a:p>
            <a:endParaRPr lang="en-US" dirty="0"/>
          </a:p>
          <a:p>
            <a:r>
              <a:rPr lang="en-US" dirty="0"/>
              <a:t>And Phantom Join: register a device that doesn't exist, mint a PRT from it, and your tokens now look like they came from a nice compliant corporate laptop. </a:t>
            </a:r>
          </a:p>
          <a:p>
            <a:endParaRPr lang="en-US" dirty="0"/>
          </a:p>
          <a:p>
            <a:r>
              <a:rPr lang="en-US" dirty="0"/>
              <a:t>That second one's the demo. (Credit's coming at the end - none of this is ours alone.)</a:t>
            </a:r>
          </a:p>
          <a:p>
            <a:endParaRPr lang="en-US" dirty="0"/>
          </a:p>
          <a:p>
            <a:endParaRPr lang="en-US" dirty="0"/>
          </a:p>
        </p:txBody>
      </p:sp>
      <p:sp>
        <p:nvSpPr>
          <p:cNvPr id="4" name="Slide Number Placeholder 3"/>
          <p:cNvSpPr>
            <a:spLocks noGrp="1"/>
          </p:cNvSpPr>
          <p:nvPr>
            <p:ph type="sldNum" sz="quarter" idx="5"/>
          </p:nvPr>
        </p:nvSpPr>
        <p:spPr/>
        <p:txBody>
          <a:bodyPr/>
          <a:lstStyle/>
          <a:p>
            <a:fld id="{C5E54A61-5F1F-BB4E-8953-FBD069D881AA}" type="slidenum">
              <a:rPr lang="en-US" smtClean="0"/>
              <a:t>12</a:t>
            </a:fld>
            <a:endParaRPr lang="en-US" dirty="0"/>
          </a:p>
        </p:txBody>
      </p:sp>
    </p:spTree>
    <p:extLst>
      <p:ext uri="{BB962C8B-B14F-4D97-AF65-F5344CB8AC3E}">
        <p14:creationId xmlns:p14="http://schemas.microsoft.com/office/powerpoint/2010/main" val="3464533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Deep breath. Demo gods, be kind. ⚓ Making landfall.</a:t>
            </a:r>
          </a:p>
          <a:p>
            <a:endParaRPr lang="en-US" dirty="0"/>
          </a:p>
        </p:txBody>
      </p:sp>
      <p:sp>
        <p:nvSpPr>
          <p:cNvPr id="4" name="Slide Number Placeholder 3"/>
          <p:cNvSpPr>
            <a:spLocks noGrp="1"/>
          </p:cNvSpPr>
          <p:nvPr>
            <p:ph type="sldNum" sz="quarter" idx="5"/>
          </p:nvPr>
        </p:nvSpPr>
        <p:spPr/>
        <p:txBody>
          <a:bodyPr/>
          <a:lstStyle/>
          <a:p>
            <a:fld id="{C5E54A61-5F1F-BB4E-8953-FBD069D881AA}" type="slidenum">
              <a:rPr lang="en-US" smtClean="0"/>
              <a:t>13</a:t>
            </a:fld>
            <a:endParaRPr lang="en-US" dirty="0"/>
          </a:p>
        </p:txBody>
      </p:sp>
    </p:spTree>
    <p:extLst>
      <p:ext uri="{BB962C8B-B14F-4D97-AF65-F5344CB8AC3E}">
        <p14:creationId xmlns:p14="http://schemas.microsoft.com/office/powerpoint/2010/main" val="2388046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Victim logs in completely normally - nothing weird on their end. And already: tokens, headers, cookies in the dashboard, with the ROPC / PAT / AAA buttons sitting right on top. We haven't done anything yet except be in the room. Lab tenant, identifiers redacted - before legal emails me.</a:t>
            </a:r>
          </a:p>
        </p:txBody>
      </p:sp>
      <p:sp>
        <p:nvSpPr>
          <p:cNvPr id="4" name="Slide Number Placeholder 3"/>
          <p:cNvSpPr>
            <a:spLocks noGrp="1"/>
          </p:cNvSpPr>
          <p:nvPr>
            <p:ph type="sldNum" sz="quarter" idx="5"/>
          </p:nvPr>
        </p:nvSpPr>
        <p:spPr/>
        <p:txBody>
          <a:bodyPr/>
          <a:lstStyle/>
          <a:p>
            <a:fld id="{C5E54A61-5F1F-BB4E-8953-FBD069D881AA}" type="slidenum">
              <a:rPr lang="en-US" smtClean="0"/>
              <a:t>14</a:t>
            </a:fld>
            <a:endParaRPr lang="en-US" dirty="0"/>
          </a:p>
        </p:txBody>
      </p:sp>
    </p:spTree>
    <p:extLst>
      <p:ext uri="{BB962C8B-B14F-4D97-AF65-F5344CB8AC3E}">
        <p14:creationId xmlns:p14="http://schemas.microsoft.com/office/powerpoint/2010/main" val="2544776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Conditional Access is only as strong as the weakest method your sign-in will still accept. You can register the best credential in the world - a passkey, phishing-resistant, hardware-backed - but if the account will also take a push, or a code, or a password, that passkey is now optional. And optional is just a suggestion.”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moment the sign-in asks how do you want to prove it's you? A human reaches for their strongest habit. Grapnel reaches for the weakest thing that still completes."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push is on the menu, Grapnel clicks the Microsoft Authenticator tile before the user even thinks about their passkey. Number-match shows up on their phone - and that's the human factor doing our work for us: it's muscle memory, one tap, they're conditioned to approve. That tap is our token."</a:t>
            </a:r>
          </a:p>
          <a:p>
            <a:endParaRPr lang="en-US" dirty="0"/>
          </a:p>
          <a:p>
            <a:endParaRPr lang="en-US" dirty="0"/>
          </a:p>
          <a:p>
            <a:r>
              <a:rPr lang="en-US" dirty="0"/>
              <a:t>See, we're pirates - we don't sail into your cannons. Passkeys are the cannons: big, expensive, phishing-resistant. We just come up the rope ladder ye forgot to haul in. Every buccaneer knows it only takes one plank to walk aboard."</a:t>
            </a:r>
          </a:p>
          <a:p>
            <a:endParaRPr lang="en-US" dirty="0"/>
          </a:p>
          <a:p>
            <a:endParaRPr lang="en-US" dirty="0"/>
          </a:p>
        </p:txBody>
      </p:sp>
      <p:sp>
        <p:nvSpPr>
          <p:cNvPr id="4" name="Slide Number Placeholder 3"/>
          <p:cNvSpPr>
            <a:spLocks noGrp="1"/>
          </p:cNvSpPr>
          <p:nvPr>
            <p:ph type="sldNum" sz="quarter" idx="5"/>
          </p:nvPr>
        </p:nvSpPr>
        <p:spPr/>
        <p:txBody>
          <a:bodyPr/>
          <a:lstStyle/>
          <a:p>
            <a:fld id="{C5E54A61-5F1F-BB4E-8953-FBD069D881AA}" type="slidenum">
              <a:rPr lang="en-US" smtClean="0"/>
              <a:t>15</a:t>
            </a:fld>
            <a:endParaRPr lang="en-US" dirty="0"/>
          </a:p>
        </p:txBody>
      </p:sp>
    </p:spTree>
    <p:extLst>
      <p:ext uri="{BB962C8B-B14F-4D97-AF65-F5344CB8AC3E}">
        <p14:creationId xmlns:p14="http://schemas.microsoft.com/office/powerpoint/2010/main" val="462410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"So the passkey-only account dead-ended us - good for them. Interactive sign-in is gated; the browser front door is locked and bolted. Most demos stop here. This is where we start."</a:t>
            </a:r>
          </a:p>
          <a:p>
            <a:endParaRPr lang="en-US" dirty="0"/>
          </a:p>
          <a:p>
            <a:r>
              <a:rPr lang="en-US" dirty="0"/>
              <a:t>"Conditional Access is a policy - and policies are scoped. That 'require phishing-resistant MFA' rule was written against interactive, browser sign-in. But there's another grant that doesn't go through that door: the device-code flow, talking to the Device Registration Service. Same identity, same tenant - completely different endpoint, and one the CA policy never named."</a:t>
            </a:r>
          </a:p>
          <a:p>
            <a:endParaRPr lang="en-US" dirty="0"/>
          </a:p>
          <a:p>
            <a:r>
              <a:rPr lang="en-US" dirty="0"/>
              <a:t>The move:</a:t>
            </a:r>
          </a:p>
          <a:p>
            <a:r>
              <a:rPr lang="en-US" dirty="0"/>
              <a:t>"So instead of fighting the front door, we request a device code and take a DRS-scoped token - the token whose whole job is to say 'I'm allowed to register a device.' That's Phantom Join, phase 2. The policy that blocked the browser is just... not standing at this door."</a:t>
            </a:r>
          </a:p>
          <a:p>
            <a:endParaRPr lang="en-US" dirty="0"/>
          </a:p>
          <a:p>
            <a:r>
              <a:rPr lang="en-US" dirty="0"/>
              <a:t>"CA didn't fail - it did exactly what it was told. It guarded the door it was pointed at. We didn't pick the lock. We used a door the policy forgot to mention."</a:t>
            </a:r>
          </a:p>
          <a:p>
            <a:endParaRPr lang="en-US" dirty="0"/>
          </a:p>
          <a:p>
            <a:r>
              <a:rPr lang="en-US" dirty="0"/>
              <a:t>"Ye barred the front door. A ship's got more ways aboard than one - and this one wasn't even locked. Arrr."</a:t>
            </a:r>
          </a:p>
        </p:txBody>
      </p:sp>
      <p:sp>
        <p:nvSpPr>
          <p:cNvPr id="4" name="Slide Number Placeholder 3"/>
          <p:cNvSpPr>
            <a:spLocks noGrp="1"/>
          </p:cNvSpPr>
          <p:nvPr>
            <p:ph type="sldNum" sz="quarter" idx="5"/>
          </p:nvPr>
        </p:nvSpPr>
        <p:spPr/>
        <p:txBody>
          <a:bodyPr/>
          <a:lstStyle/>
          <a:p>
            <a:fld id="{C5E54A61-5F1F-BB4E-8953-FBD069D881AA}" type="slidenum">
              <a:rPr lang="en-US" smtClean="0"/>
              <a:t>16</a:t>
            </a:fld>
            <a:endParaRPr lang="en-US" dirty="0"/>
          </a:p>
        </p:txBody>
      </p:sp>
    </p:spTree>
    <p:extLst>
      <p:ext uri="{BB962C8B-B14F-4D97-AF65-F5344CB8AC3E}">
        <p14:creationId xmlns:p14="http://schemas.microsoft.com/office/powerpoint/2010/main" val="1064327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"We walked in the side door and left with a DRS token - the 'I can register a device' token. So let's register one. Except… there's no device."</a:t>
            </a:r>
          </a:p>
          <a:p>
            <a:endParaRPr lang="en-US" dirty="0"/>
          </a:p>
          <a:p>
            <a:r>
              <a:rPr lang="en-US" dirty="0"/>
              <a:t>The mechanism (this is the jaw-drop beat - slow down):</a:t>
            </a:r>
          </a:p>
          <a:p>
            <a:r>
              <a:rPr lang="en-US" dirty="0"/>
              <a:t>"No TPM. No hardware attestation. No admin approval. We hand Entra that DRS token, and Entra issues a real Device ID - a genuine, trusted entry in the directory - for a device that does not physically exist. Phases 3 and 4 of Phantom Join."</a:t>
            </a:r>
          </a:p>
          <a:p>
            <a:endParaRPr lang="en-US" dirty="0"/>
          </a:p>
          <a:p>
            <a:r>
              <a:rPr lang="en-US" dirty="0"/>
              <a:t>The PRT (why it matters):</a:t>
            </a:r>
          </a:p>
          <a:p>
            <a:r>
              <a:rPr lang="en-US" dirty="0"/>
              <a:t>"And from that phantom device, we mint a Primary Refresh Token - a PRT that carries device claims. That's the crown jewel: a durable credential that doesn't just say who we are, it says what device we're on - and that device is one we invented ninety seconds ago."</a:t>
            </a:r>
          </a:p>
          <a:p>
            <a:endParaRPr lang="en-US" dirty="0"/>
          </a:p>
          <a:p>
            <a:r>
              <a:rPr lang="en-US" dirty="0"/>
              <a:t>The point (land it hard):</a:t>
            </a:r>
          </a:p>
          <a:p>
            <a:r>
              <a:rPr lang="en-US" dirty="0"/>
              <a:t>"Here's the uncomfortable part: device trust in Entra is asserted, not proven. Every device-based Conditional Access control - 'compliant device,' 'hybrid-joined,' the stuff you added to make passkeys stronger - now works for us, because we're holding the strongest device signal in the tenant. For a device that never existed."</a:t>
            </a:r>
          </a:p>
          <a:p>
            <a:endParaRPr lang="en-US" dirty="0"/>
          </a:p>
          <a:p>
            <a:r>
              <a:rPr lang="en-US" dirty="0"/>
              <a:t>"Why build a ship when ye can just register one? No keel, no attestation - tell Entra she's seaworthy and it stamps her papers. Finest vessel in the fleet, and she never touched water. Arrr."</a:t>
            </a:r>
          </a:p>
          <a:p>
            <a:endParaRPr lang="en-US" dirty="0"/>
          </a:p>
          <a:p>
            <a:r>
              <a:rPr lang="en-US" dirty="0"/>
              <a:t>Transition to next slide:</a:t>
            </a:r>
          </a:p>
          <a:p>
            <a:r>
              <a:rPr lang="en-US" dirty="0"/>
              <a:t>"And that PRT is the whole point - it's the letter of marque we sail in on." → (next: "The beachhead ☠")</a:t>
            </a:r>
          </a:p>
        </p:txBody>
      </p:sp>
      <p:sp>
        <p:nvSpPr>
          <p:cNvPr id="4" name="Slide Number Placeholder 3"/>
          <p:cNvSpPr>
            <a:spLocks noGrp="1"/>
          </p:cNvSpPr>
          <p:nvPr>
            <p:ph type="sldNum" sz="quarter" idx="5"/>
          </p:nvPr>
        </p:nvSpPr>
        <p:spPr/>
        <p:txBody>
          <a:bodyPr/>
          <a:lstStyle/>
          <a:p>
            <a:fld id="{C5E54A61-5F1F-BB4E-8953-FBD069D881AA}" type="slidenum">
              <a:rPr lang="en-US" smtClean="0"/>
              <a:t>17</a:t>
            </a:fld>
            <a:endParaRPr lang="en-US" dirty="0"/>
          </a:p>
        </p:txBody>
      </p:sp>
    </p:spTree>
    <p:extLst>
      <p:ext uri="{BB962C8B-B14F-4D97-AF65-F5344CB8AC3E}">
        <p14:creationId xmlns:p14="http://schemas.microsoft.com/office/powerpoint/2010/main" val="30580876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E54A61-5F1F-BB4E-8953-FBD069D881AA}" type="slidenum">
              <a:rPr lang="en-US" smtClean="0"/>
              <a:t>18</a:t>
            </a:fld>
            <a:endParaRPr lang="en-US" dirty="0"/>
          </a:p>
        </p:txBody>
      </p:sp>
    </p:spTree>
    <p:extLst>
      <p:ext uri="{BB962C8B-B14F-4D97-AF65-F5344CB8AC3E}">
        <p14:creationId xmlns:p14="http://schemas.microsoft.com/office/powerpoint/2010/main" val="25116224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"Let's walk the whole chain back. Browser control… downgrade to a weaker method, or device-code… a phantom device… a PRT… and out the other side, a Graph token and a durable ADO PAT."</a:t>
            </a:r>
          </a:p>
          <a:p>
            <a:endParaRPr lang="en-US" dirty="0"/>
          </a:p>
          <a:p>
            <a:r>
              <a:rPr lang="en-US" dirty="0"/>
              <a:t>The thesis (beat of silence, then):</a:t>
            </a:r>
          </a:p>
          <a:p>
            <a:r>
              <a:rPr lang="en-US" dirty="0"/>
              <a:t>"And here's the thing - none of it needed a passkey."</a:t>
            </a:r>
          </a:p>
          <a:p>
            <a:endParaRPr lang="en-US" dirty="0"/>
          </a:p>
          <a:p>
            <a:r>
              <a:rPr lang="en-US" dirty="0"/>
              <a:t>Why each control missed (three quick jabs, land them):</a:t>
            </a:r>
          </a:p>
          <a:p>
            <a:r>
              <a:rPr lang="en-US" dirty="0"/>
              <a:t>- "The passkey guarded the interactive leg - and we never used that leg."</a:t>
            </a:r>
          </a:p>
          <a:p>
            <a:r>
              <a:rPr lang="en-US" dirty="0"/>
              <a:t>- "The device-code + DRS grant? Conditional Access never covered it."</a:t>
            </a:r>
          </a:p>
          <a:p>
            <a:r>
              <a:rPr lang="en-US" dirty="0"/>
              <a:t>- "And the phantom device satisfied every 'compliant device,' 'joined device' check you added to feel safer."</a:t>
            </a:r>
          </a:p>
          <a:p>
            <a:endParaRPr lang="en-US" dirty="0"/>
          </a:p>
          <a:p>
            <a:r>
              <a:rPr lang="en-US" dirty="0"/>
              <a:t>"Every control worked exactly as configured. Not one of them worked as intended. The strongest credential in the building sat there the whole time - unused, unbothered, irrelevant."</a:t>
            </a:r>
          </a:p>
        </p:txBody>
      </p:sp>
      <p:sp>
        <p:nvSpPr>
          <p:cNvPr id="4" name="Slide Number Placeholder 3"/>
          <p:cNvSpPr>
            <a:spLocks noGrp="1"/>
          </p:cNvSpPr>
          <p:nvPr>
            <p:ph type="sldNum" sz="quarter" idx="5"/>
          </p:nvPr>
        </p:nvSpPr>
        <p:spPr/>
        <p:txBody>
          <a:bodyPr/>
          <a:lstStyle/>
          <a:p>
            <a:fld id="{C5E54A61-5F1F-BB4E-8953-FBD069D881AA}" type="slidenum">
              <a:rPr lang="en-US" smtClean="0"/>
              <a:t>19</a:t>
            </a:fld>
            <a:endParaRPr lang="en-US" dirty="0"/>
          </a:p>
        </p:txBody>
      </p:sp>
    </p:spTree>
    <p:extLst>
      <p:ext uri="{BB962C8B-B14F-4D97-AF65-F5344CB8AC3E}">
        <p14:creationId xmlns:p14="http://schemas.microsoft.com/office/powerpoint/2010/main" val="2716565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Blue team, this one's for you - and it's genuinely detectable</a:t>
            </a:r>
          </a:p>
          <a:p>
            <a:endParaRPr lang="en-US" dirty="0"/>
          </a:p>
          <a:p>
            <a:r>
              <a:rPr lang="en-US" dirty="0"/>
              <a:t>Device-code sign-ins are rare for real humans; alert on them. A device registration with no TPM right after a device-code auth is the tell. </a:t>
            </a:r>
          </a:p>
          <a:p>
            <a:r>
              <a:rPr lang="en-US" dirty="0"/>
              <a:t>ROPC should be near-zero. PAT creation is durable and auditable. The fix is basically one line: require authentication strength, and put CA on the device-code and DRS grants - not just the interactive one everyone remembers.</a:t>
            </a:r>
          </a:p>
        </p:txBody>
      </p:sp>
      <p:sp>
        <p:nvSpPr>
          <p:cNvPr id="4" name="Slide Number Placeholder 3"/>
          <p:cNvSpPr>
            <a:spLocks noGrp="1"/>
          </p:cNvSpPr>
          <p:nvPr>
            <p:ph type="sldNum" sz="quarter" idx="5"/>
          </p:nvPr>
        </p:nvSpPr>
        <p:spPr/>
        <p:txBody>
          <a:bodyPr/>
          <a:lstStyle/>
          <a:p>
            <a:fld id="{C5E54A61-5F1F-BB4E-8953-FBD069D881AA}" type="slidenum">
              <a:rPr lang="en-US" smtClean="0"/>
              <a:t>20</a:t>
            </a:fld>
            <a:endParaRPr lang="en-US" dirty="0"/>
          </a:p>
        </p:txBody>
      </p:sp>
    </p:spTree>
    <p:extLst>
      <p:ext uri="{BB962C8B-B14F-4D97-AF65-F5344CB8AC3E}">
        <p14:creationId xmlns:p14="http://schemas.microsoft.com/office/powerpoint/2010/main" val="919278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And these are the ones that slip past. Straight from setting up our demo sign-in telemetry: the analytics that would have caught the whole chain -</a:t>
            </a:r>
          </a:p>
          <a:p>
            <a:endParaRPr lang="en-US" dirty="0"/>
          </a:p>
          <a:p>
            <a:r>
              <a:rPr lang="en-US" dirty="0"/>
              <a:t>The risk scoring that watched all of it and shrugged. Build these; your SIEM won't hand them to you.</a:t>
            </a:r>
          </a:p>
        </p:txBody>
      </p:sp>
      <p:sp>
        <p:nvSpPr>
          <p:cNvPr id="4" name="Slide Number Placeholder 3"/>
          <p:cNvSpPr>
            <a:spLocks noGrp="1"/>
          </p:cNvSpPr>
          <p:nvPr>
            <p:ph type="sldNum" sz="quarter" idx="5"/>
          </p:nvPr>
        </p:nvSpPr>
        <p:spPr/>
        <p:txBody>
          <a:bodyPr/>
          <a:lstStyle/>
          <a:p>
            <a:fld id="{C5E54A61-5F1F-BB4E-8953-FBD069D881AA}" type="slidenum">
              <a:rPr lang="en-US" smtClean="0"/>
              <a:t>21</a:t>
            </a:fld>
            <a:endParaRPr lang="en-US" dirty="0"/>
          </a:p>
        </p:txBody>
      </p:sp>
    </p:spTree>
    <p:extLst>
      <p:ext uri="{BB962C8B-B14F-4D97-AF65-F5344CB8AC3E}">
        <p14:creationId xmlns:p14="http://schemas.microsoft.com/office/powerpoint/2010/main" val="28136756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If you keep three things: one - passkeys protect a leg, not the account; any weaker compatible method or uncovered grant routes around them. </a:t>
            </a:r>
          </a:p>
          <a:p>
            <a:r>
              <a:rPr lang="en-US" dirty="0"/>
              <a:t>Two - Conditional Access has to cover every grant; device-code, DRS, and ROPC are where the intent leaks. </a:t>
            </a:r>
          </a:p>
          <a:p>
            <a:r>
              <a:rPr lang="en-US" dirty="0"/>
              <a:t>Three - watch what a foothold produces, not just how it got in. </a:t>
            </a:r>
          </a:p>
          <a:p>
            <a:endParaRPr lang="en-US" dirty="0"/>
          </a:p>
          <a:p>
            <a:r>
              <a:rPr lang="en-US" dirty="0"/>
              <a:t>And - Grapnel makes landfall; what happens afterwards is the sequel. (Beachhead)</a:t>
            </a:r>
          </a:p>
        </p:txBody>
      </p:sp>
      <p:sp>
        <p:nvSpPr>
          <p:cNvPr id="4" name="Slide Number Placeholder 3"/>
          <p:cNvSpPr>
            <a:spLocks noGrp="1"/>
          </p:cNvSpPr>
          <p:nvPr>
            <p:ph type="sldNum" sz="quarter" idx="5"/>
          </p:nvPr>
        </p:nvSpPr>
        <p:spPr/>
        <p:txBody>
          <a:bodyPr/>
          <a:lstStyle/>
          <a:p>
            <a:fld id="{C5E54A61-5F1F-BB4E-8953-FBD069D881AA}" type="slidenum">
              <a:rPr lang="en-US" smtClean="0"/>
              <a:t>22</a:t>
            </a:fld>
            <a:endParaRPr lang="en-US" dirty="0"/>
          </a:p>
        </p:txBody>
      </p:sp>
    </p:spTree>
    <p:extLst>
      <p:ext uri="{BB962C8B-B14F-4D97-AF65-F5344CB8AC3E}">
        <p14:creationId xmlns:p14="http://schemas.microsoft.com/office/powerpoint/2010/main" val="18712804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If someone asks "how much does one foothold actually reach" - this. Sixty-odd portals, one identity plane; every one authenticates through the same Entra IdP, so a foothold on the auth flow touches all of them. Full list's in the repo - we checked every URL and dropped the dead ones.</a:t>
            </a:r>
          </a:p>
        </p:txBody>
      </p:sp>
      <p:sp>
        <p:nvSpPr>
          <p:cNvPr id="4" name="Slide Number Placeholder 3"/>
          <p:cNvSpPr>
            <a:spLocks noGrp="1"/>
          </p:cNvSpPr>
          <p:nvPr>
            <p:ph type="sldNum" sz="quarter" idx="5"/>
          </p:nvPr>
        </p:nvSpPr>
        <p:spPr/>
        <p:txBody>
          <a:bodyPr/>
          <a:lstStyle/>
          <a:p>
            <a:fld id="{C5E54A61-5F1F-BB4E-8953-FBD069D881AA}" type="slidenum">
              <a:rPr lang="en-US" smtClean="0"/>
              <a:t>23</a:t>
            </a:fld>
            <a:endParaRPr lang="en-US" dirty="0"/>
          </a:p>
        </p:txBody>
      </p:sp>
    </p:spTree>
    <p:extLst>
      <p:ext uri="{BB962C8B-B14F-4D97-AF65-F5344CB8AC3E}">
        <p14:creationId xmlns:p14="http://schemas.microsoft.com/office/powerpoint/2010/main" val="1251314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Credit where it's massively due. Grapnel is glue, the offensive weight is other people's work. </a:t>
            </a:r>
          </a:p>
          <a:p>
            <a:r>
              <a:rPr lang="en-US" dirty="0"/>
              <a:t>Dirk-jan's ROADtools is the spine of the entire chain. </a:t>
            </a:r>
          </a:p>
          <a:p>
            <a:r>
              <a:rPr lang="en-US" dirty="0"/>
              <a:t>Hagrid29's AbuseAzureAPIPermissions, </a:t>
            </a:r>
          </a:p>
          <a:p>
            <a:r>
              <a:rPr lang="en-US" dirty="0"/>
              <a:t>Nestori's AADInternals, </a:t>
            </a:r>
          </a:p>
          <a:p>
            <a:r>
              <a:rPr lang="en-US" dirty="0"/>
              <a:t>Fabian's TokenTactics</a:t>
            </a:r>
          </a:p>
          <a:p>
            <a:r>
              <a:rPr lang="en-US" dirty="0"/>
              <a:t>and the phantom-join technique itself is Cyderes "Howler Cell" research. </a:t>
            </a:r>
          </a:p>
          <a:p>
            <a:r>
              <a:rPr lang="en-US" dirty="0"/>
              <a:t>We stapled it to a dashboard. </a:t>
            </a:r>
            <a:r>
              <a:rPr lang="en-US" b="1" dirty="0"/>
              <a:t>That's the honest version.</a:t>
            </a:r>
          </a:p>
        </p:txBody>
      </p:sp>
      <p:sp>
        <p:nvSpPr>
          <p:cNvPr id="4" name="Slide Number Placeholder 3"/>
          <p:cNvSpPr>
            <a:spLocks noGrp="1"/>
          </p:cNvSpPr>
          <p:nvPr>
            <p:ph type="sldNum" sz="quarter" idx="5"/>
          </p:nvPr>
        </p:nvSpPr>
        <p:spPr/>
        <p:txBody>
          <a:bodyPr/>
          <a:lstStyle/>
          <a:p>
            <a:fld id="{C5E54A61-5F1F-BB4E-8953-FBD069D881AA}" type="slidenum">
              <a:rPr lang="en-US" smtClean="0"/>
              <a:t>24</a:t>
            </a:fld>
            <a:endParaRPr lang="en-US" dirty="0"/>
          </a:p>
        </p:txBody>
      </p:sp>
    </p:spTree>
    <p:extLst>
      <p:ext uri="{BB962C8B-B14F-4D97-AF65-F5344CB8AC3E}">
        <p14:creationId xmlns:p14="http://schemas.microsoft.com/office/powerpoint/2010/main" val="8518589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For the "what if it stops" question: Phase 5, PRT-to-Graph, is make-or-break. A password-minted PRT carries no MFA claim, so an MFA-covered grant slams it with a 50076. You either enrich with prt-enrich and re-run, or - importantly - you accept the stop as the finding. A dead-end here isn't a failure; it's proof the tenant did CA right.</a:t>
            </a:r>
          </a:p>
        </p:txBody>
      </p:sp>
      <p:sp>
        <p:nvSpPr>
          <p:cNvPr id="4" name="Slide Number Placeholder 3"/>
          <p:cNvSpPr>
            <a:spLocks noGrp="1"/>
          </p:cNvSpPr>
          <p:nvPr>
            <p:ph type="sldNum" sz="quarter" idx="5"/>
          </p:nvPr>
        </p:nvSpPr>
        <p:spPr/>
        <p:txBody>
          <a:bodyPr/>
          <a:lstStyle/>
          <a:p>
            <a:fld id="{C5E54A61-5F1F-BB4E-8953-FBD069D881AA}" type="slidenum">
              <a:rPr lang="en-US" smtClean="0"/>
              <a:t>26</a:t>
            </a:fld>
            <a:endParaRPr lang="en-US" dirty="0"/>
          </a:p>
        </p:txBody>
      </p:sp>
    </p:spTree>
    <p:extLst>
      <p:ext uri="{BB962C8B-B14F-4D97-AF65-F5344CB8AC3E}">
        <p14:creationId xmlns:p14="http://schemas.microsoft.com/office/powerpoint/2010/main" val="576023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8/7/26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640080" y="1371600"/>
            <a:ext cx="10972800" cy="2743200"/>
          </a:xfrm>
          <a:prstGeom prst="rect">
            <a:avLst/>
          </a:prstGeom>
          <a:noFill/>
        </p:spPr>
        <p:txBody>
          <a:bodyPr wrap="square" lIns="36576" tIns="18288" rIns="36576" bIns="18288" anchor="t">
            <a:spAutoFit/>
          </a:bodyPr>
          <a:lstStyle/>
          <a:p>
            <a:pPr algn="l">
              <a:lnSpc>
                <a:spcPct val="100000"/>
              </a:lnSpc>
              <a:spcBef>
                <a:spcPts val="0"/>
              </a:spcBef>
              <a:spcAft>
                <a:spcPts val="0"/>
              </a:spcAft>
            </a:pPr>
            <a:r>
              <a:rPr sz="5200" b="1" dirty="0">
                <a:solidFill>
                  <a:srgbClr val="E6EDF3"/>
                </a:solidFill>
                <a:latin typeface="Arial"/>
              </a:rPr>
              <a:t>YOUR PASSKEYS</a:t>
            </a:r>
          </a:p>
          <a:p>
            <a:pPr algn="l">
              <a:lnSpc>
                <a:spcPct val="100000"/>
              </a:lnSpc>
              <a:spcBef>
                <a:spcPts val="0"/>
              </a:spcBef>
              <a:spcAft>
                <a:spcPts val="0"/>
              </a:spcAft>
            </a:pPr>
            <a:r>
              <a:rPr sz="5200" b="1" dirty="0">
                <a:solidFill>
                  <a:srgbClr val="FF5A45"/>
                </a:solidFill>
                <a:latin typeface="Arial"/>
              </a:rPr>
              <a:t>WON'T SAVE YOU</a:t>
            </a:r>
          </a:p>
        </p:txBody>
      </p:sp>
      <p:sp>
        <p:nvSpPr>
          <p:cNvPr id="3" name="TextBox 2"/>
          <p:cNvSpPr txBox="1"/>
          <p:nvPr/>
        </p:nvSpPr>
        <p:spPr>
          <a:xfrm>
            <a:off x="658368" y="3977639"/>
            <a:ext cx="9692640" cy="605871"/>
          </a:xfrm>
          <a:prstGeom prst="rect">
            <a:avLst/>
          </a:prstGeom>
          <a:noFill/>
        </p:spPr>
        <p:txBody>
          <a:bodyPr wrap="square" lIns="36576" tIns="18288" rIns="36576" bIns="18288" anchor="t">
            <a:spAutoFit/>
          </a:bodyPr>
          <a:lstStyle/>
          <a:p>
            <a:pPr algn="l">
              <a:lnSpc>
                <a:spcPct val="130000"/>
              </a:lnSpc>
              <a:spcBef>
                <a:spcPts val="0"/>
              </a:spcBef>
              <a:spcAft>
                <a:spcPts val="600"/>
              </a:spcAft>
            </a:pPr>
            <a:r>
              <a:rPr sz="1500" b="0" dirty="0">
                <a:solidFill>
                  <a:srgbClr val="97A4B4"/>
                </a:solidFill>
                <a:latin typeface="Arial"/>
              </a:rPr>
              <a:t>Making landfall</a:t>
            </a:r>
            <a:r>
              <a:rPr lang="en-US" sz="1500" b="0" dirty="0">
                <a:solidFill>
                  <a:srgbClr val="97A4B4"/>
                </a:solidFill>
                <a:latin typeface="Arial"/>
              </a:rPr>
              <a:t> - </a:t>
            </a:r>
            <a:r>
              <a:rPr sz="1500" b="0" dirty="0">
                <a:solidFill>
                  <a:srgbClr val="97A4B4"/>
                </a:solidFill>
                <a:latin typeface="Arial"/>
              </a:rPr>
              <a:t>bypassing Entra Conditional Access to establish the beachhead, straight through a browser you don't control.</a:t>
            </a:r>
          </a:p>
        </p:txBody>
      </p:sp>
      <p:sp>
        <p:nvSpPr>
          <p:cNvPr id="4" name="TextBox 3"/>
          <p:cNvSpPr txBox="1"/>
          <p:nvPr/>
        </p:nvSpPr>
        <p:spPr>
          <a:xfrm>
            <a:off x="658368" y="4892040"/>
            <a:ext cx="9144000" cy="252377"/>
          </a:xfrm>
          <a:prstGeom prst="rect">
            <a:avLst/>
          </a:prstGeom>
          <a:noFill/>
        </p:spPr>
        <p:txBody>
          <a:bodyPr wrap="square" lIns="36576" tIns="18288" rIns="36576" bIns="18288" anchor="t">
            <a:spAutoFit/>
          </a:bodyPr>
          <a:lstStyle/>
          <a:p>
            <a:pPr algn="l">
              <a:spcBef>
                <a:spcPts val="0"/>
              </a:spcBef>
              <a:spcAft>
                <a:spcPts val="600"/>
              </a:spcAft>
            </a:pPr>
            <a:r>
              <a:rPr sz="1400" b="0" dirty="0">
                <a:solidFill>
                  <a:srgbClr val="56C2FF"/>
                </a:solidFill>
                <a:latin typeface="Courier New"/>
              </a:rPr>
              <a:t>DEF CON · Red Team Village · </a:t>
            </a:r>
            <a:r>
              <a:rPr lang="en-US" sz="1400" b="0" dirty="0">
                <a:solidFill>
                  <a:srgbClr val="56C2FF"/>
                </a:solidFill>
                <a:latin typeface="Courier New"/>
              </a:rPr>
              <a:t>2026</a:t>
            </a:r>
            <a:endParaRPr sz="1400" b="0" dirty="0">
              <a:solidFill>
                <a:srgbClr val="56C2FF"/>
              </a:solidFill>
              <a:latin typeface="Courier New"/>
            </a:endParaRPr>
          </a:p>
        </p:txBody>
      </p:sp>
      <p:sp>
        <p:nvSpPr>
          <p:cNvPr id="5" name="Rounded Rectangle 4"/>
          <p:cNvSpPr/>
          <p:nvPr/>
        </p:nvSpPr>
        <p:spPr>
          <a:xfrm>
            <a:off x="658368" y="5440680"/>
            <a:ext cx="5943600" cy="457200"/>
          </a:xfrm>
          <a:prstGeom prst="roundRect">
            <a:avLst>
              <a:gd name="adj" fmla="val 50000"/>
            </a:avLst>
          </a:prstGeom>
          <a:solidFill>
            <a:srgbClr val="0C1912"/>
          </a:solidFill>
          <a:ln w="9525">
            <a:solidFill>
              <a:srgbClr val="1F3A2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TextBox 5"/>
          <p:cNvSpPr txBox="1"/>
          <p:nvPr/>
        </p:nvSpPr>
        <p:spPr>
          <a:xfrm>
            <a:off x="822960" y="5554633"/>
            <a:ext cx="5669280" cy="229294"/>
          </a:xfrm>
          <a:prstGeom prst="rect">
            <a:avLst/>
          </a:prstGeom>
          <a:noFill/>
        </p:spPr>
        <p:txBody>
          <a:bodyPr wrap="square" lIns="36576" tIns="18288" rIns="36576" bIns="18288" anchor="ctr">
            <a:spAutoFit/>
          </a:bodyPr>
          <a:lstStyle/>
          <a:p>
            <a:pPr algn="l">
              <a:spcBef>
                <a:spcPts val="0"/>
              </a:spcBef>
              <a:spcAft>
                <a:spcPts val="600"/>
              </a:spcAft>
            </a:pPr>
            <a:r>
              <a:rPr sz="1250" b="0" dirty="0">
                <a:solidFill>
                  <a:srgbClr val="4ED16B"/>
                </a:solidFill>
                <a:latin typeface="Courier New"/>
              </a:rPr>
              <a:t>⚓ Grapnel</a:t>
            </a:r>
            <a:r>
              <a:rPr lang="en-US" sz="1250" b="0" dirty="0">
                <a:solidFill>
                  <a:srgbClr val="4ED16B"/>
                </a:solidFill>
                <a:latin typeface="Courier New"/>
              </a:rPr>
              <a:t>: </a:t>
            </a:r>
            <a:r>
              <a:rPr sz="1250" b="0" dirty="0">
                <a:solidFill>
                  <a:srgbClr val="4ED16B"/>
                </a:solidFill>
                <a:latin typeface="Courier New"/>
              </a:rPr>
              <a:t>the browser-in-the-middle boarding hook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01 · whoami</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whoami</a:t>
            </a:r>
          </a:p>
        </p:txBody>
      </p:sp>
      <p:sp>
        <p:nvSpPr>
          <p:cNvPr id="4" name="Rounded Rectangle 3"/>
          <p:cNvSpPr/>
          <p:nvPr/>
        </p:nvSpPr>
        <p:spPr>
          <a:xfrm>
            <a:off x="502920" y="1783080"/>
            <a:ext cx="3584448" cy="1965960"/>
          </a:xfrm>
          <a:prstGeom prst="roundRect">
            <a:avLst>
              <a:gd name="adj" fmla="val 4000"/>
            </a:avLst>
          </a:prstGeom>
          <a:solidFill>
            <a:srgbClr val="0B1017"/>
          </a:solidFill>
          <a:ln w="11430">
            <a:solidFill>
              <a:srgbClr val="1C27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5" name="Rectangle 4"/>
          <p:cNvSpPr/>
          <p:nvPr/>
        </p:nvSpPr>
        <p:spPr>
          <a:xfrm>
            <a:off x="502920" y="1783080"/>
            <a:ext cx="3584448" cy="365760"/>
          </a:xfrm>
          <a:prstGeom prst="rect">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Oval 5"/>
          <p:cNvSpPr/>
          <p:nvPr/>
        </p:nvSpPr>
        <p:spPr>
          <a:xfrm>
            <a:off x="630936" y="1911095"/>
            <a:ext cx="100584" cy="100584"/>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Oval 6"/>
          <p:cNvSpPr/>
          <p:nvPr/>
        </p:nvSpPr>
        <p:spPr>
          <a:xfrm>
            <a:off x="813816" y="1911095"/>
            <a:ext cx="100584" cy="10058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Oval 7"/>
          <p:cNvSpPr/>
          <p:nvPr/>
        </p:nvSpPr>
        <p:spPr>
          <a:xfrm>
            <a:off x="996696" y="1911095"/>
            <a:ext cx="100584" cy="100584"/>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1216152" y="1866702"/>
            <a:ext cx="2807208" cy="198516"/>
          </a:xfrm>
          <a:prstGeom prst="rect">
            <a:avLst/>
          </a:prstGeom>
          <a:noFill/>
        </p:spPr>
        <p:txBody>
          <a:bodyPr wrap="square" lIns="36576" tIns="18288" rIns="36576" bIns="18288" anchor="ctr">
            <a:spAutoFit/>
          </a:bodyPr>
          <a:lstStyle/>
          <a:p>
            <a:pPr algn="l">
              <a:spcBef>
                <a:spcPts val="0"/>
              </a:spcBef>
              <a:spcAft>
                <a:spcPts val="600"/>
              </a:spcAft>
            </a:pPr>
            <a:r>
              <a:rPr sz="1050" b="0" dirty="0">
                <a:solidFill>
                  <a:srgbClr val="7A8899"/>
                </a:solidFill>
                <a:latin typeface="Courier New"/>
              </a:rPr>
              <a:t>bash </a:t>
            </a:r>
            <a:r>
              <a:rPr lang="en-US" sz="1050" b="0" dirty="0">
                <a:solidFill>
                  <a:srgbClr val="7A8899"/>
                </a:solidFill>
                <a:latin typeface="Courier New"/>
              </a:rPr>
              <a:t>-</a:t>
            </a:r>
            <a:r>
              <a:rPr sz="1050" b="0" dirty="0">
                <a:solidFill>
                  <a:srgbClr val="7A8899"/>
                </a:solidFill>
                <a:latin typeface="Courier New"/>
              </a:rPr>
              <a:t> fr13ndz@defcon34</a:t>
            </a:r>
          </a:p>
        </p:txBody>
      </p:sp>
      <p:sp>
        <p:nvSpPr>
          <p:cNvPr id="10" name="TextBox 9"/>
          <p:cNvSpPr txBox="1"/>
          <p:nvPr/>
        </p:nvSpPr>
        <p:spPr>
          <a:xfrm>
            <a:off x="667512" y="2286000"/>
            <a:ext cx="3273552" cy="973087"/>
          </a:xfrm>
          <a:prstGeom prst="rect">
            <a:avLst/>
          </a:prstGeom>
          <a:noFill/>
        </p:spPr>
        <p:txBody>
          <a:bodyPr wrap="square" lIns="36576" tIns="18288" rIns="36576" bIns="18288" anchor="t">
            <a:spAutoFit/>
          </a:bodyPr>
          <a:lstStyle/>
          <a:p>
            <a:pPr algn="l">
              <a:spcBef>
                <a:spcPts val="0"/>
              </a:spcBef>
              <a:spcAft>
                <a:spcPts val="1000"/>
              </a:spcAft>
            </a:pPr>
            <a:r>
              <a:rPr sz="1250" b="0" dirty="0">
                <a:solidFill>
                  <a:srgbClr val="4ED16B"/>
                </a:solidFill>
                <a:latin typeface="Courier New"/>
              </a:rPr>
              <a:t>$ </a:t>
            </a:r>
            <a:r>
              <a:rPr sz="1250" b="0" dirty="0">
                <a:solidFill>
                  <a:schemeClr val="bg1"/>
                </a:solidFill>
                <a:latin typeface="Courier New"/>
              </a:rPr>
              <a:t>whoami</a:t>
            </a:r>
          </a:p>
          <a:p>
            <a:pPr algn="l">
              <a:spcBef>
                <a:spcPts val="0"/>
              </a:spcBef>
              <a:spcAft>
                <a:spcPts val="300"/>
              </a:spcAft>
            </a:pPr>
            <a:r>
              <a:rPr sz="1250" b="0" dirty="0">
                <a:solidFill>
                  <a:srgbClr val="7A8899"/>
                </a:solidFill>
                <a:latin typeface="Courier New"/>
              </a:rPr>
              <a:t>handle</a:t>
            </a:r>
            <a:r>
              <a:rPr sz="1250" b="0" dirty="0">
                <a:solidFill>
                  <a:srgbClr val="E6EDF3"/>
                </a:solidFill>
                <a:latin typeface="Courier New"/>
              </a:rPr>
              <a:t>: Fr13ndz</a:t>
            </a:r>
            <a:r>
              <a:rPr lang="en-US" sz="1250" b="0" dirty="0">
                <a:solidFill>
                  <a:srgbClr val="E6EDF3"/>
                </a:solidFill>
                <a:latin typeface="Courier New"/>
              </a:rPr>
              <a:t>@defcon34</a:t>
            </a:r>
            <a:endParaRPr sz="1250" b="0" dirty="0">
              <a:solidFill>
                <a:srgbClr val="E6EDF3"/>
              </a:solidFill>
              <a:latin typeface="Courier New"/>
            </a:endParaRPr>
          </a:p>
          <a:p>
            <a:pPr algn="l">
              <a:spcBef>
                <a:spcPts val="0"/>
              </a:spcBef>
              <a:spcAft>
                <a:spcPts val="600"/>
              </a:spcAft>
            </a:pPr>
            <a:r>
              <a:rPr sz="1250" b="0" dirty="0">
                <a:solidFill>
                  <a:srgbClr val="7A8899"/>
                </a:solidFill>
                <a:latin typeface="Courier New"/>
              </a:rPr>
              <a:t>role</a:t>
            </a:r>
            <a:r>
              <a:rPr sz="1250" b="0" dirty="0">
                <a:solidFill>
                  <a:srgbClr val="E6EDF3"/>
                </a:solidFill>
                <a:latin typeface="Courier New"/>
              </a:rPr>
              <a:t>:   Adversarial Engineer</a:t>
            </a:r>
            <a:r>
              <a:rPr lang="en-US" sz="1250" b="0" dirty="0">
                <a:solidFill>
                  <a:srgbClr val="E6EDF3"/>
                </a:solidFill>
                <a:latin typeface="Courier New"/>
              </a:rPr>
              <a:t>, 		   keeper of creds</a:t>
            </a:r>
            <a:endParaRPr sz="1250" b="0" dirty="0">
              <a:solidFill>
                <a:srgbClr val="E6EDF3"/>
              </a:solidFill>
              <a:latin typeface="Courier New"/>
            </a:endParaRPr>
          </a:p>
        </p:txBody>
      </p:sp>
      <p:sp>
        <p:nvSpPr>
          <p:cNvPr id="11" name="Rounded Rectangle 10"/>
          <p:cNvSpPr/>
          <p:nvPr/>
        </p:nvSpPr>
        <p:spPr>
          <a:xfrm>
            <a:off x="4288536" y="1783080"/>
            <a:ext cx="3584448" cy="1965960"/>
          </a:xfrm>
          <a:prstGeom prst="roundRect">
            <a:avLst>
              <a:gd name="adj" fmla="val 4000"/>
            </a:avLst>
          </a:prstGeom>
          <a:solidFill>
            <a:srgbClr val="0B1017"/>
          </a:solidFill>
          <a:ln w="11430">
            <a:solidFill>
              <a:srgbClr val="1C27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Rectangle 11"/>
          <p:cNvSpPr/>
          <p:nvPr/>
        </p:nvSpPr>
        <p:spPr>
          <a:xfrm>
            <a:off x="4288536" y="1783080"/>
            <a:ext cx="3584448" cy="365760"/>
          </a:xfrm>
          <a:prstGeom prst="rect">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3" name="Oval 12"/>
          <p:cNvSpPr/>
          <p:nvPr/>
        </p:nvSpPr>
        <p:spPr>
          <a:xfrm>
            <a:off x="4416551" y="1911095"/>
            <a:ext cx="100584" cy="100584"/>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Oval 13"/>
          <p:cNvSpPr/>
          <p:nvPr/>
        </p:nvSpPr>
        <p:spPr>
          <a:xfrm>
            <a:off x="4599431" y="1911095"/>
            <a:ext cx="100584" cy="10058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Oval 14"/>
          <p:cNvSpPr/>
          <p:nvPr/>
        </p:nvSpPr>
        <p:spPr>
          <a:xfrm>
            <a:off x="4782312" y="1911095"/>
            <a:ext cx="100584" cy="100584"/>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TextBox 15"/>
          <p:cNvSpPr txBox="1"/>
          <p:nvPr/>
        </p:nvSpPr>
        <p:spPr>
          <a:xfrm>
            <a:off x="5001768" y="1866702"/>
            <a:ext cx="2807208" cy="198516"/>
          </a:xfrm>
          <a:prstGeom prst="rect">
            <a:avLst/>
          </a:prstGeom>
          <a:noFill/>
        </p:spPr>
        <p:txBody>
          <a:bodyPr wrap="square" lIns="36576" tIns="18288" rIns="36576" bIns="18288" anchor="ctr">
            <a:spAutoFit/>
          </a:bodyPr>
          <a:lstStyle/>
          <a:p>
            <a:pPr algn="l">
              <a:spcBef>
                <a:spcPts val="0"/>
              </a:spcBef>
              <a:spcAft>
                <a:spcPts val="600"/>
              </a:spcAft>
            </a:pPr>
            <a:r>
              <a:rPr sz="1050" b="0" dirty="0">
                <a:solidFill>
                  <a:srgbClr val="7A8899"/>
                </a:solidFill>
                <a:latin typeface="Courier New"/>
              </a:rPr>
              <a:t>bash </a:t>
            </a:r>
            <a:r>
              <a:rPr lang="en-US" sz="1050" b="0" dirty="0">
                <a:solidFill>
                  <a:srgbClr val="7A8899"/>
                </a:solidFill>
                <a:latin typeface="Courier New"/>
              </a:rPr>
              <a:t>-</a:t>
            </a:r>
            <a:r>
              <a:rPr sz="1050" b="0" dirty="0">
                <a:solidFill>
                  <a:srgbClr val="7A8899"/>
                </a:solidFill>
                <a:latin typeface="Courier New"/>
              </a:rPr>
              <a:t> </a:t>
            </a:r>
            <a:r>
              <a:rPr lang="en-US" sz="1050" b="0" dirty="0">
                <a:solidFill>
                  <a:srgbClr val="7A8899"/>
                </a:solidFill>
                <a:latin typeface="Courier New"/>
              </a:rPr>
              <a:t>nullspace</a:t>
            </a:r>
            <a:r>
              <a:rPr sz="1050" b="0" dirty="0">
                <a:solidFill>
                  <a:srgbClr val="7A8899"/>
                </a:solidFill>
                <a:latin typeface="Courier New"/>
              </a:rPr>
              <a:t>@defcon34</a:t>
            </a:r>
          </a:p>
        </p:txBody>
      </p:sp>
      <p:sp>
        <p:nvSpPr>
          <p:cNvPr id="17" name="TextBox 16"/>
          <p:cNvSpPr txBox="1"/>
          <p:nvPr/>
        </p:nvSpPr>
        <p:spPr>
          <a:xfrm>
            <a:off x="4453127" y="2286000"/>
            <a:ext cx="3273552" cy="1050031"/>
          </a:xfrm>
          <a:prstGeom prst="rect">
            <a:avLst/>
          </a:prstGeom>
          <a:noFill/>
        </p:spPr>
        <p:txBody>
          <a:bodyPr wrap="square" lIns="36576" tIns="18288" rIns="36576" bIns="18288" anchor="t">
            <a:spAutoFit/>
          </a:bodyPr>
          <a:lstStyle/>
          <a:p>
            <a:pPr algn="l">
              <a:spcBef>
                <a:spcPts val="0"/>
              </a:spcBef>
              <a:spcAft>
                <a:spcPts val="1000"/>
              </a:spcAft>
            </a:pPr>
            <a:r>
              <a:rPr sz="1250" b="0" dirty="0">
                <a:solidFill>
                  <a:srgbClr val="4ED16B"/>
                </a:solidFill>
                <a:latin typeface="Courier New"/>
              </a:rPr>
              <a:t>$ </a:t>
            </a:r>
            <a:r>
              <a:rPr sz="1250" b="0" dirty="0">
                <a:solidFill>
                  <a:schemeClr val="bg1"/>
                </a:solidFill>
                <a:latin typeface="Courier New"/>
              </a:rPr>
              <a:t>whoami</a:t>
            </a:r>
          </a:p>
          <a:p>
            <a:pPr>
              <a:spcAft>
                <a:spcPts val="300"/>
              </a:spcAft>
            </a:pPr>
            <a:r>
              <a:rPr sz="1250" b="0" dirty="0">
                <a:solidFill>
                  <a:srgbClr val="7A8899"/>
                </a:solidFill>
                <a:latin typeface="Courier New"/>
              </a:rPr>
              <a:t>handle</a:t>
            </a:r>
            <a:r>
              <a:rPr sz="1250" b="0" dirty="0">
                <a:solidFill>
                  <a:srgbClr val="E6EDF3"/>
                </a:solidFill>
                <a:latin typeface="Courier New"/>
              </a:rPr>
              <a:t>: </a:t>
            </a:r>
            <a:r>
              <a:rPr lang="en-US" sz="1250" dirty="0">
                <a:solidFill>
                  <a:srgbClr val="E6EDF3"/>
                </a:solidFill>
                <a:latin typeface="Courier New"/>
              </a:rPr>
              <a:t>nullspace@defcon34</a:t>
            </a:r>
            <a:endParaRPr sz="1250" b="0" dirty="0">
              <a:solidFill>
                <a:srgbClr val="E6EDF3"/>
              </a:solidFill>
              <a:latin typeface="Courier New"/>
            </a:endParaRPr>
          </a:p>
          <a:p>
            <a:pPr algn="l">
              <a:spcBef>
                <a:spcPts val="0"/>
              </a:spcBef>
              <a:spcAft>
                <a:spcPts val="600"/>
              </a:spcAft>
            </a:pPr>
            <a:r>
              <a:rPr sz="1250" b="0" dirty="0">
                <a:solidFill>
                  <a:srgbClr val="7A8899"/>
                </a:solidFill>
                <a:latin typeface="Courier New"/>
              </a:rPr>
              <a:t>role</a:t>
            </a:r>
            <a:r>
              <a:rPr sz="1250" b="0" dirty="0">
                <a:solidFill>
                  <a:srgbClr val="E6EDF3"/>
                </a:solidFill>
                <a:latin typeface="Courier New"/>
              </a:rPr>
              <a:t>:   Adversarial Engineer</a:t>
            </a:r>
            <a:r>
              <a:rPr lang="en-US" sz="1250" b="0" dirty="0">
                <a:solidFill>
                  <a:srgbClr val="E6EDF3"/>
                </a:solidFill>
                <a:latin typeface="Courier New"/>
              </a:rPr>
              <a:t>,     </a:t>
            </a:r>
          </a:p>
          <a:p>
            <a:pPr algn="l">
              <a:spcBef>
                <a:spcPts val="0"/>
              </a:spcBef>
              <a:spcAft>
                <a:spcPts val="600"/>
              </a:spcAft>
            </a:pPr>
            <a:r>
              <a:rPr lang="en-US" sz="1250" dirty="0">
                <a:solidFill>
                  <a:srgbClr val="E6EDF3"/>
                </a:solidFill>
                <a:latin typeface="Courier New"/>
              </a:rPr>
              <a:t>        harbinger of chaos</a:t>
            </a:r>
            <a:endParaRPr sz="1250" b="0" dirty="0">
              <a:solidFill>
                <a:srgbClr val="E6EDF3"/>
              </a:solidFill>
              <a:latin typeface="Courier New"/>
            </a:endParaRPr>
          </a:p>
        </p:txBody>
      </p:sp>
      <p:sp>
        <p:nvSpPr>
          <p:cNvPr id="18" name="Rounded Rectangle 17"/>
          <p:cNvSpPr/>
          <p:nvPr/>
        </p:nvSpPr>
        <p:spPr>
          <a:xfrm>
            <a:off x="8074152" y="1783080"/>
            <a:ext cx="3584448" cy="1965960"/>
          </a:xfrm>
          <a:prstGeom prst="roundRect">
            <a:avLst>
              <a:gd name="adj" fmla="val 4000"/>
            </a:avLst>
          </a:prstGeom>
          <a:solidFill>
            <a:srgbClr val="0B1017"/>
          </a:solidFill>
          <a:ln w="11430">
            <a:solidFill>
              <a:srgbClr val="4ED1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9" name="Rectangle 18"/>
          <p:cNvSpPr/>
          <p:nvPr/>
        </p:nvSpPr>
        <p:spPr>
          <a:xfrm>
            <a:off x="8074152" y="1783080"/>
            <a:ext cx="3584448" cy="365760"/>
          </a:xfrm>
          <a:prstGeom prst="rect">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20" name="Oval 19"/>
          <p:cNvSpPr/>
          <p:nvPr/>
        </p:nvSpPr>
        <p:spPr>
          <a:xfrm>
            <a:off x="8202168" y="1911095"/>
            <a:ext cx="100584" cy="100584"/>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Oval 20"/>
          <p:cNvSpPr/>
          <p:nvPr/>
        </p:nvSpPr>
        <p:spPr>
          <a:xfrm>
            <a:off x="8385048" y="1911095"/>
            <a:ext cx="100584" cy="10058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Oval 21"/>
          <p:cNvSpPr/>
          <p:nvPr/>
        </p:nvSpPr>
        <p:spPr>
          <a:xfrm>
            <a:off x="8567928" y="1911095"/>
            <a:ext cx="100584" cy="100584"/>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TextBox 22"/>
          <p:cNvSpPr txBox="1"/>
          <p:nvPr/>
        </p:nvSpPr>
        <p:spPr>
          <a:xfrm>
            <a:off x="8787384" y="1866702"/>
            <a:ext cx="2807208" cy="198516"/>
          </a:xfrm>
          <a:prstGeom prst="rect">
            <a:avLst/>
          </a:prstGeom>
          <a:noFill/>
        </p:spPr>
        <p:txBody>
          <a:bodyPr wrap="square" lIns="36576" tIns="18288" rIns="36576" bIns="18288" anchor="ctr">
            <a:spAutoFit/>
          </a:bodyPr>
          <a:lstStyle/>
          <a:p>
            <a:pPr algn="l">
              <a:spcBef>
                <a:spcPts val="0"/>
              </a:spcBef>
              <a:spcAft>
                <a:spcPts val="600"/>
              </a:spcAft>
            </a:pPr>
            <a:r>
              <a:rPr sz="1050" b="0" dirty="0">
                <a:solidFill>
                  <a:srgbClr val="4ED16B"/>
                </a:solidFill>
                <a:latin typeface="Courier New"/>
              </a:rPr>
              <a:t>bash </a:t>
            </a:r>
            <a:r>
              <a:rPr lang="en-US" sz="1050" b="0" dirty="0">
                <a:solidFill>
                  <a:srgbClr val="4ED16B"/>
                </a:solidFill>
                <a:latin typeface="Courier New"/>
              </a:rPr>
              <a:t>-</a:t>
            </a:r>
            <a:r>
              <a:rPr sz="1050" b="0" dirty="0">
                <a:solidFill>
                  <a:srgbClr val="4ED16B"/>
                </a:solidFill>
                <a:latin typeface="Courier New"/>
              </a:rPr>
              <a:t> </a:t>
            </a:r>
            <a:r>
              <a:rPr lang="en-US" sz="1050" dirty="0">
                <a:solidFill>
                  <a:srgbClr val="4ED16B"/>
                </a:solidFill>
                <a:latin typeface="Courier New"/>
              </a:rPr>
              <a:t>Doug Mooney</a:t>
            </a:r>
            <a:endParaRPr sz="1050" b="0" dirty="0">
              <a:solidFill>
                <a:srgbClr val="4ED16B"/>
              </a:solidFill>
              <a:latin typeface="Courier New"/>
            </a:endParaRPr>
          </a:p>
        </p:txBody>
      </p:sp>
      <p:sp>
        <p:nvSpPr>
          <p:cNvPr id="24" name="TextBox 23"/>
          <p:cNvSpPr txBox="1"/>
          <p:nvPr/>
        </p:nvSpPr>
        <p:spPr>
          <a:xfrm>
            <a:off x="8238744" y="2286000"/>
            <a:ext cx="3355848" cy="996170"/>
          </a:xfrm>
          <a:prstGeom prst="rect">
            <a:avLst/>
          </a:prstGeom>
          <a:noFill/>
        </p:spPr>
        <p:txBody>
          <a:bodyPr wrap="square" lIns="36576" tIns="18288" rIns="36576" bIns="18288" anchor="t">
            <a:spAutoFit/>
          </a:bodyPr>
          <a:lstStyle/>
          <a:p>
            <a:pPr algn="l">
              <a:spcBef>
                <a:spcPts val="0"/>
              </a:spcBef>
              <a:spcAft>
                <a:spcPts val="1000"/>
              </a:spcAft>
            </a:pPr>
            <a:r>
              <a:rPr sz="1250" b="0" dirty="0">
                <a:solidFill>
                  <a:srgbClr val="4ED16B"/>
                </a:solidFill>
                <a:latin typeface="Courier New"/>
              </a:rPr>
              <a:t>$ </a:t>
            </a:r>
            <a:r>
              <a:rPr sz="1250" b="0" dirty="0">
                <a:solidFill>
                  <a:schemeClr val="bg1"/>
                </a:solidFill>
                <a:latin typeface="Courier New"/>
              </a:rPr>
              <a:t>whoami</a:t>
            </a:r>
          </a:p>
          <a:p>
            <a:pPr>
              <a:spcAft>
                <a:spcPts val="300"/>
              </a:spcAft>
            </a:pPr>
            <a:r>
              <a:rPr sz="1250" b="0" dirty="0">
                <a:solidFill>
                  <a:srgbClr val="7A8899"/>
                </a:solidFill>
                <a:latin typeface="Courier New"/>
              </a:rPr>
              <a:t>handle</a:t>
            </a:r>
            <a:r>
              <a:rPr sz="1250" b="0" dirty="0">
                <a:solidFill>
                  <a:srgbClr val="E6EDF3"/>
                </a:solidFill>
                <a:latin typeface="Courier New"/>
              </a:rPr>
              <a:t>: </a:t>
            </a:r>
            <a:r>
              <a:rPr lang="en-US" sz="1400" dirty="0">
                <a:solidFill>
                  <a:srgbClr val="4ED16B"/>
                </a:solidFill>
                <a:latin typeface="Courier New"/>
              </a:rPr>
              <a:t>maddog#x00@defcon34</a:t>
            </a:r>
            <a:endParaRPr sz="1250" b="0" dirty="0">
              <a:solidFill>
                <a:srgbClr val="E6EDF3"/>
              </a:solidFill>
              <a:latin typeface="Courier New"/>
            </a:endParaRPr>
          </a:p>
          <a:p>
            <a:pPr algn="l">
              <a:spcBef>
                <a:spcPts val="0"/>
              </a:spcBef>
              <a:spcAft>
                <a:spcPts val="600"/>
              </a:spcAft>
            </a:pPr>
            <a:r>
              <a:rPr sz="1250" b="0" dirty="0">
                <a:solidFill>
                  <a:srgbClr val="7A8899"/>
                </a:solidFill>
                <a:latin typeface="Courier New"/>
              </a:rPr>
              <a:t>role</a:t>
            </a:r>
            <a:r>
              <a:rPr sz="1250" b="0" dirty="0">
                <a:solidFill>
                  <a:srgbClr val="E6EDF3"/>
                </a:solidFill>
                <a:latin typeface="Courier New"/>
              </a:rPr>
              <a:t>:   Offensive Security Leader</a:t>
            </a:r>
            <a:r>
              <a:rPr lang="en-US" sz="1250" dirty="0">
                <a:solidFill>
                  <a:srgbClr val="E6EDF3"/>
                </a:solidFill>
                <a:latin typeface="Courier New"/>
              </a:rPr>
              <a:t>,              	   </a:t>
            </a:r>
            <a:r>
              <a:rPr lang="en-US" sz="1250" b="0" dirty="0">
                <a:solidFill>
                  <a:srgbClr val="E6EDF3"/>
                </a:solidFill>
                <a:latin typeface="Courier New"/>
              </a:rPr>
              <a:t>herder of cats</a:t>
            </a:r>
            <a:endParaRPr sz="1250" b="0" dirty="0">
              <a:solidFill>
                <a:srgbClr val="E6EDF3"/>
              </a:solidFill>
              <a:latin typeface="Courier New"/>
            </a:endParaRPr>
          </a:p>
        </p:txBody>
      </p:sp>
      <p:sp>
        <p:nvSpPr>
          <p:cNvPr id="25" name="Rounded Rectangle 24"/>
          <p:cNvSpPr/>
          <p:nvPr/>
        </p:nvSpPr>
        <p:spPr>
          <a:xfrm>
            <a:off x="502920" y="5532120"/>
            <a:ext cx="11155680" cy="658368"/>
          </a:xfrm>
          <a:prstGeom prst="roundRect">
            <a:avLst>
              <a:gd name="adj" fmla="val 6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26" name="TextBox 25"/>
          <p:cNvSpPr txBox="1"/>
          <p:nvPr/>
        </p:nvSpPr>
        <p:spPr>
          <a:xfrm>
            <a:off x="667512" y="5622615"/>
            <a:ext cx="10826496" cy="477375"/>
          </a:xfrm>
          <a:prstGeom prst="rect">
            <a:avLst/>
          </a:prstGeom>
          <a:noFill/>
        </p:spPr>
        <p:txBody>
          <a:bodyPr wrap="square" lIns="36576" tIns="18288" rIns="36576" bIns="18288" anchor="ctr">
            <a:spAutoFit/>
          </a:bodyPr>
          <a:lstStyle/>
          <a:p>
            <a:pPr algn="l">
              <a:lnSpc>
                <a:spcPct val="120000"/>
              </a:lnSpc>
              <a:spcBef>
                <a:spcPts val="0"/>
              </a:spcBef>
              <a:spcAft>
                <a:spcPts val="600"/>
              </a:spcAft>
            </a:pPr>
            <a:r>
              <a:rPr sz="1250" b="0" dirty="0">
                <a:solidFill>
                  <a:srgbClr val="E7B84B"/>
                </a:solidFill>
                <a:latin typeface="Arial"/>
              </a:rPr>
              <a:t>// note</a:t>
            </a:r>
            <a:r>
              <a:rPr lang="en-US" sz="1250" b="0" dirty="0">
                <a:solidFill>
                  <a:srgbClr val="E7B84B"/>
                </a:solidFill>
                <a:latin typeface="Arial"/>
              </a:rPr>
              <a:t>:</a:t>
            </a:r>
            <a:r>
              <a:rPr lang="en-US" sz="1250" b="0" dirty="0">
                <a:solidFill>
                  <a:srgbClr val="97A4B4"/>
                </a:solidFill>
                <a:latin typeface="Arial"/>
              </a:rPr>
              <a:t> </a:t>
            </a:r>
            <a:r>
              <a:rPr sz="1250" b="0" dirty="0">
                <a:solidFill>
                  <a:srgbClr val="97A4B4"/>
                </a:solidFill>
                <a:latin typeface="Arial"/>
              </a:rPr>
              <a:t>this is the "how you got in" talk. Its sequel, </a:t>
            </a:r>
            <a:r>
              <a:rPr sz="1250" b="0" dirty="0">
                <a:solidFill>
                  <a:srgbClr val="E7B84B"/>
                </a:solidFill>
                <a:latin typeface="Arial"/>
              </a:rPr>
              <a:t>"</a:t>
            </a:r>
            <a:r>
              <a:rPr lang="en-US" sz="1250" dirty="0">
                <a:solidFill>
                  <a:srgbClr val="E7B84B"/>
                </a:solidFill>
                <a:latin typeface="Arial"/>
              </a:rPr>
              <a:t>Establishing a Beachhead” </a:t>
            </a:r>
            <a:r>
              <a:rPr sz="1250" b="0" dirty="0">
                <a:solidFill>
                  <a:srgbClr val="97A4B4"/>
                </a:solidFill>
                <a:latin typeface="Arial"/>
              </a:rPr>
              <a:t>(Adversary Village), starts the moment </a:t>
            </a:r>
            <a:r>
              <a:rPr sz="1250" b="0" dirty="0">
                <a:solidFill>
                  <a:srgbClr val="4ED16B"/>
                </a:solidFill>
                <a:latin typeface="Arial"/>
              </a:rPr>
              <a:t>after</a:t>
            </a:r>
            <a:r>
              <a:rPr sz="1250" b="0" dirty="0">
                <a:solidFill>
                  <a:srgbClr val="97A4B4"/>
                </a:solidFill>
                <a:latin typeface="Arial"/>
              </a:rPr>
              <a:t> with the </a:t>
            </a:r>
            <a:r>
              <a:rPr sz="1250" b="0" dirty="0">
                <a:solidFill>
                  <a:srgbClr val="4ED16B"/>
                </a:solidFill>
                <a:latin typeface="Arial"/>
              </a:rPr>
              <a:t>Beachhead</a:t>
            </a:r>
            <a:r>
              <a:rPr sz="1250" b="0" dirty="0">
                <a:solidFill>
                  <a:srgbClr val="97A4B4"/>
                </a:solidFill>
                <a:latin typeface="Arial"/>
              </a:rPr>
              <a:t> already yours.</a:t>
            </a:r>
          </a:p>
        </p:txBody>
      </p:sp>
      <p:sp>
        <p:nvSpPr>
          <p:cNvPr id="27" name="TextBox 26"/>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28" name="TextBox 27"/>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whoami · 02/24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02 · the premise</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They sold you passkeys as </a:t>
            </a:r>
            <a:r>
              <a:rPr sz="3000" b="1" dirty="0">
                <a:solidFill>
                  <a:srgbClr val="FF5A45"/>
                </a:solidFill>
                <a:latin typeface="Arial"/>
              </a:rPr>
              <a:t>phishing-proof.</a:t>
            </a:r>
          </a:p>
        </p:txBody>
      </p:sp>
      <p:sp>
        <p:nvSpPr>
          <p:cNvPr id="4" name="TextBox 3"/>
          <p:cNvSpPr txBox="1"/>
          <p:nvPr/>
        </p:nvSpPr>
        <p:spPr>
          <a:xfrm>
            <a:off x="502920" y="1600200"/>
            <a:ext cx="11155680" cy="549061"/>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400" b="0" dirty="0">
                <a:solidFill>
                  <a:srgbClr val="97A4B4"/>
                </a:solidFill>
                <a:latin typeface="Arial"/>
              </a:rPr>
              <a:t>And for the interactive login leg, they mostly are. But the user still authenticates through a browser and </a:t>
            </a:r>
            <a:r>
              <a:rPr lang="en-US" sz="1400" b="0" dirty="0">
                <a:solidFill>
                  <a:srgbClr val="97A4B4"/>
                </a:solidFill>
                <a:latin typeface="Arial"/>
              </a:rPr>
              <a:t>during </a:t>
            </a:r>
            <a:r>
              <a:rPr sz="1400" b="0" dirty="0">
                <a:solidFill>
                  <a:srgbClr val="97A4B4"/>
                </a:solidFill>
                <a:latin typeface="Arial"/>
              </a:rPr>
              <a:t>auth, the adversary is </a:t>
            </a:r>
            <a:r>
              <a:rPr sz="1400" b="0" dirty="0">
                <a:solidFill>
                  <a:srgbClr val="E7B84B"/>
                </a:solidFill>
                <a:latin typeface="Arial"/>
              </a:rPr>
              <a:t>in the middle of it.</a:t>
            </a:r>
          </a:p>
        </p:txBody>
      </p:sp>
      <p:sp>
        <p:nvSpPr>
          <p:cNvPr id="5" name="Rounded Rectangle 4"/>
          <p:cNvSpPr/>
          <p:nvPr/>
        </p:nvSpPr>
        <p:spPr>
          <a:xfrm>
            <a:off x="502920" y="2606040"/>
            <a:ext cx="3584448" cy="173736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Rectangle 5"/>
          <p:cNvSpPr/>
          <p:nvPr/>
        </p:nvSpPr>
        <p:spPr>
          <a:xfrm>
            <a:off x="502920" y="2606040"/>
            <a:ext cx="54864" cy="1737360"/>
          </a:xfrm>
          <a:prstGeom prst="rect">
            <a:avLst/>
          </a:prstGeom>
          <a:solidFill>
            <a:srgbClr val="56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7" name="TextBox 6"/>
          <p:cNvSpPr txBox="1"/>
          <p:nvPr/>
        </p:nvSpPr>
        <p:spPr>
          <a:xfrm>
            <a:off x="649224" y="2715768"/>
            <a:ext cx="3328415" cy="151790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the browser</a:t>
            </a:r>
          </a:p>
          <a:p>
            <a:pPr algn="l">
              <a:lnSpc>
                <a:spcPct val="118000"/>
              </a:lnSpc>
              <a:spcBef>
                <a:spcPts val="0"/>
              </a:spcBef>
              <a:spcAft>
                <a:spcPts val="600"/>
              </a:spcAft>
            </a:pPr>
            <a:r>
              <a:rPr sz="1250" b="0" dirty="0">
                <a:solidFill>
                  <a:srgbClr val="97A4B4"/>
                </a:solidFill>
                <a:latin typeface="Arial"/>
              </a:rPr>
              <a:t>Victim drives a session through a forged-CA proxy. Every request, header, token, and cookie is ours in-flight.</a:t>
            </a:r>
          </a:p>
        </p:txBody>
      </p:sp>
      <p:sp>
        <p:nvSpPr>
          <p:cNvPr id="8" name="Rounded Rectangle 7"/>
          <p:cNvSpPr/>
          <p:nvPr/>
        </p:nvSpPr>
        <p:spPr>
          <a:xfrm>
            <a:off x="4288536" y="2606040"/>
            <a:ext cx="3584448" cy="173736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9" name="Rectangle 8"/>
          <p:cNvSpPr/>
          <p:nvPr/>
        </p:nvSpPr>
        <p:spPr>
          <a:xfrm>
            <a:off x="4288536" y="2606040"/>
            <a:ext cx="54864" cy="173736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0" name="TextBox 9"/>
          <p:cNvSpPr txBox="1"/>
          <p:nvPr/>
        </p:nvSpPr>
        <p:spPr>
          <a:xfrm>
            <a:off x="4434840" y="2715768"/>
            <a:ext cx="3328415" cy="737381"/>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the policy</a:t>
            </a:r>
          </a:p>
          <a:p>
            <a:pPr algn="l">
              <a:lnSpc>
                <a:spcPct val="118000"/>
              </a:lnSpc>
              <a:spcBef>
                <a:spcPts val="0"/>
              </a:spcBef>
              <a:spcAft>
                <a:spcPts val="600"/>
              </a:spcAft>
            </a:pPr>
            <a:r>
              <a:rPr sz="1250" b="0" dirty="0">
                <a:solidFill>
                  <a:srgbClr val="97A4B4"/>
                </a:solidFill>
                <a:latin typeface="Arial"/>
              </a:rPr>
              <a:t>Org enforces MFA / passkey via Conditional Access. Feels airtight on the leg it </a:t>
            </a:r>
            <a:r>
              <a:rPr lang="en-US" sz="1250" b="0" dirty="0">
                <a:solidFill>
                  <a:srgbClr val="97A4B4"/>
                </a:solidFill>
                <a:latin typeface="Arial"/>
              </a:rPr>
              <a:t>covers</a:t>
            </a:r>
            <a:r>
              <a:rPr sz="1250" b="0" dirty="0">
                <a:solidFill>
                  <a:srgbClr val="97A4B4"/>
                </a:solidFill>
                <a:latin typeface="Arial"/>
              </a:rPr>
              <a:t>.</a:t>
            </a:r>
          </a:p>
        </p:txBody>
      </p:sp>
      <p:sp>
        <p:nvSpPr>
          <p:cNvPr id="11" name="Rounded Rectangle 10"/>
          <p:cNvSpPr/>
          <p:nvPr/>
        </p:nvSpPr>
        <p:spPr>
          <a:xfrm>
            <a:off x="8074152" y="2606040"/>
            <a:ext cx="3584448" cy="173736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Rectangle 11"/>
          <p:cNvSpPr/>
          <p:nvPr/>
        </p:nvSpPr>
        <p:spPr>
          <a:xfrm>
            <a:off x="8074152" y="2606040"/>
            <a:ext cx="54864" cy="1737360"/>
          </a:xfrm>
          <a:prstGeom prst="rect">
            <a:avLst/>
          </a:prstGeom>
          <a:solidFill>
            <a:srgbClr val="FF5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3" name="TextBox 12"/>
          <p:cNvSpPr txBox="1"/>
          <p:nvPr/>
        </p:nvSpPr>
        <p:spPr>
          <a:xfrm>
            <a:off x="8220456" y="2715768"/>
            <a:ext cx="3328415" cy="151790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the seam</a:t>
            </a:r>
          </a:p>
          <a:p>
            <a:pPr algn="l">
              <a:lnSpc>
                <a:spcPct val="118000"/>
              </a:lnSpc>
              <a:spcBef>
                <a:spcPts val="0"/>
              </a:spcBef>
              <a:spcAft>
                <a:spcPts val="600"/>
              </a:spcAft>
            </a:pPr>
            <a:r>
              <a:rPr sz="1250" b="0" dirty="0">
                <a:solidFill>
                  <a:srgbClr val="97A4B4"/>
                </a:solidFill>
                <a:latin typeface="Arial"/>
              </a:rPr>
              <a:t>CA is evaluated per grant. Pick a grant it doesn't cover and the passkey never enters the picture.</a:t>
            </a:r>
          </a:p>
        </p:txBody>
      </p:sp>
      <p:sp>
        <p:nvSpPr>
          <p:cNvPr id="14" name="Rounded Rectangle 13"/>
          <p:cNvSpPr/>
          <p:nvPr/>
        </p:nvSpPr>
        <p:spPr>
          <a:xfrm>
            <a:off x="502920" y="4892040"/>
            <a:ext cx="11155680" cy="658368"/>
          </a:xfrm>
          <a:prstGeom prst="roundRect">
            <a:avLst>
              <a:gd name="adj" fmla="val 6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5" name="TextBox 14"/>
          <p:cNvSpPr txBox="1"/>
          <p:nvPr/>
        </p:nvSpPr>
        <p:spPr>
          <a:xfrm>
            <a:off x="667512" y="5097984"/>
            <a:ext cx="10826496" cy="246478"/>
          </a:xfrm>
          <a:prstGeom prst="rect">
            <a:avLst/>
          </a:prstGeom>
          <a:noFill/>
        </p:spPr>
        <p:txBody>
          <a:bodyPr wrap="square" lIns="36576" tIns="18288" rIns="36576" bIns="18288" anchor="ctr">
            <a:spAutoFit/>
          </a:bodyPr>
          <a:lstStyle/>
          <a:p>
            <a:pPr algn="l">
              <a:lnSpc>
                <a:spcPct val="120000"/>
              </a:lnSpc>
              <a:spcBef>
                <a:spcPts val="0"/>
              </a:spcBef>
              <a:spcAft>
                <a:spcPts val="600"/>
              </a:spcAft>
            </a:pPr>
            <a:r>
              <a:rPr sz="1250" b="0" dirty="0">
                <a:solidFill>
                  <a:srgbClr val="E7B84B"/>
                </a:solidFill>
                <a:latin typeface="Arial"/>
              </a:rPr>
              <a:t>starting state</a:t>
            </a:r>
            <a:r>
              <a:rPr lang="en-US" sz="1250" b="0" dirty="0">
                <a:solidFill>
                  <a:srgbClr val="E7B84B"/>
                </a:solidFill>
                <a:latin typeface="Arial"/>
              </a:rPr>
              <a:t>: </a:t>
            </a:r>
            <a:r>
              <a:rPr sz="1250" b="0" dirty="0">
                <a:solidFill>
                  <a:srgbClr val="97A4B4"/>
                </a:solidFill>
                <a:latin typeface="Arial"/>
              </a:rPr>
              <a:t>one victim, one click, one browser we sit inside. No admin. No malware on the endpoint.</a:t>
            </a:r>
          </a:p>
        </p:txBody>
      </p:sp>
      <p:sp>
        <p:nvSpPr>
          <p:cNvPr id="16" name="TextBox 15"/>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17" name="TextBox 16"/>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premise · 03/24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03 · the surface</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Why the browser auth flow?</a:t>
            </a:r>
          </a:p>
        </p:txBody>
      </p:sp>
      <p:sp>
        <p:nvSpPr>
          <p:cNvPr id="4" name="TextBox 3"/>
          <p:cNvSpPr txBox="1"/>
          <p:nvPr/>
        </p:nvSpPr>
        <p:spPr>
          <a:xfrm>
            <a:off x="502920" y="1600200"/>
            <a:ext cx="11155680" cy="279757"/>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400" b="0" dirty="0">
                <a:solidFill>
                  <a:srgbClr val="97A4B4"/>
                </a:solidFill>
                <a:latin typeface="Arial"/>
              </a:rPr>
              <a:t>The sign-in method picker and the CA policy engine disagree about what "strong" means</a:t>
            </a:r>
            <a:r>
              <a:rPr lang="en-US" sz="1400" b="0" dirty="0">
                <a:solidFill>
                  <a:srgbClr val="97A4B4"/>
                </a:solidFill>
                <a:latin typeface="Arial"/>
              </a:rPr>
              <a:t>, </a:t>
            </a:r>
            <a:r>
              <a:rPr sz="1400" b="0" dirty="0">
                <a:solidFill>
                  <a:srgbClr val="97A4B4"/>
                </a:solidFill>
                <a:latin typeface="Arial"/>
              </a:rPr>
              <a:t>and the gap is a doorway.</a:t>
            </a:r>
          </a:p>
        </p:txBody>
      </p:sp>
      <p:sp>
        <p:nvSpPr>
          <p:cNvPr id="5" name="Rounded Rectangle 4"/>
          <p:cNvSpPr/>
          <p:nvPr/>
        </p:nvSpPr>
        <p:spPr>
          <a:xfrm>
            <a:off x="502920" y="2606040"/>
            <a:ext cx="3584448" cy="173736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Rectangle 5"/>
          <p:cNvSpPr/>
          <p:nvPr/>
        </p:nvSpPr>
        <p:spPr>
          <a:xfrm>
            <a:off x="502920" y="2606040"/>
            <a:ext cx="54864" cy="173736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7" name="TextBox 6"/>
          <p:cNvSpPr txBox="1"/>
          <p:nvPr/>
        </p:nvSpPr>
        <p:spPr>
          <a:xfrm>
            <a:off x="649224" y="2715768"/>
            <a:ext cx="3328415" cy="151790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the method picker</a:t>
            </a:r>
          </a:p>
          <a:p>
            <a:pPr algn="l">
              <a:lnSpc>
                <a:spcPct val="118000"/>
              </a:lnSpc>
              <a:spcBef>
                <a:spcPts val="0"/>
              </a:spcBef>
              <a:spcAft>
                <a:spcPts val="600"/>
              </a:spcAft>
            </a:pPr>
            <a:r>
              <a:rPr sz="1250" b="0" dirty="0">
                <a:solidFill>
                  <a:srgbClr val="97A4B4"/>
                </a:solidFill>
                <a:latin typeface="Arial"/>
              </a:rPr>
              <a:t>Push · passkey · SMS · device-code. The account is only as strong as its weakest completable method.</a:t>
            </a:r>
          </a:p>
        </p:txBody>
      </p:sp>
      <p:sp>
        <p:nvSpPr>
          <p:cNvPr id="8" name="Rounded Rectangle 7"/>
          <p:cNvSpPr/>
          <p:nvPr/>
        </p:nvSpPr>
        <p:spPr>
          <a:xfrm>
            <a:off x="4288536" y="2606040"/>
            <a:ext cx="3584448" cy="173736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9" name="Rectangle 8"/>
          <p:cNvSpPr/>
          <p:nvPr/>
        </p:nvSpPr>
        <p:spPr>
          <a:xfrm>
            <a:off x="4288536" y="2606040"/>
            <a:ext cx="54864" cy="173736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0" name="TextBox 9"/>
          <p:cNvSpPr txBox="1"/>
          <p:nvPr/>
        </p:nvSpPr>
        <p:spPr>
          <a:xfrm>
            <a:off x="4434840" y="2715768"/>
            <a:ext cx="3328415" cy="964303"/>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device-code → DRS</a:t>
            </a:r>
          </a:p>
          <a:p>
            <a:pPr algn="l">
              <a:lnSpc>
                <a:spcPct val="118000"/>
              </a:lnSpc>
              <a:spcBef>
                <a:spcPts val="0"/>
              </a:spcBef>
              <a:spcAft>
                <a:spcPts val="600"/>
              </a:spcAft>
            </a:pPr>
            <a:r>
              <a:rPr sz="1250" b="0" dirty="0">
                <a:solidFill>
                  <a:srgbClr val="97A4B4"/>
                </a:solidFill>
                <a:latin typeface="Arial"/>
              </a:rPr>
              <a:t>The device-registration grant is often governed by a different CA policy than interactive</a:t>
            </a:r>
            <a:r>
              <a:rPr lang="en-US" sz="1250" b="0" dirty="0">
                <a:solidFill>
                  <a:srgbClr val="97A4B4"/>
                </a:solidFill>
                <a:latin typeface="Arial"/>
              </a:rPr>
              <a:t>, </a:t>
            </a:r>
            <a:r>
              <a:rPr sz="1250" b="0" dirty="0">
                <a:solidFill>
                  <a:srgbClr val="97A4B4"/>
                </a:solidFill>
                <a:latin typeface="Arial"/>
              </a:rPr>
              <a:t>or none at all.</a:t>
            </a:r>
          </a:p>
        </p:txBody>
      </p:sp>
      <p:sp>
        <p:nvSpPr>
          <p:cNvPr id="11" name="Rounded Rectangle 10"/>
          <p:cNvSpPr/>
          <p:nvPr/>
        </p:nvSpPr>
        <p:spPr>
          <a:xfrm>
            <a:off x="8074152" y="2606040"/>
            <a:ext cx="3584448" cy="173736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Rectangle 11"/>
          <p:cNvSpPr/>
          <p:nvPr/>
        </p:nvSpPr>
        <p:spPr>
          <a:xfrm>
            <a:off x="8074152" y="2606040"/>
            <a:ext cx="54864" cy="173736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3" name="TextBox 12"/>
          <p:cNvSpPr txBox="1"/>
          <p:nvPr/>
        </p:nvSpPr>
        <p:spPr>
          <a:xfrm>
            <a:off x="8220456" y="2715768"/>
            <a:ext cx="3328415" cy="151790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ROPC (legacy)</a:t>
            </a:r>
          </a:p>
          <a:p>
            <a:pPr algn="l">
              <a:lnSpc>
                <a:spcPct val="118000"/>
              </a:lnSpc>
              <a:spcBef>
                <a:spcPts val="0"/>
              </a:spcBef>
              <a:spcAft>
                <a:spcPts val="600"/>
              </a:spcAft>
            </a:pPr>
            <a:r>
              <a:rPr sz="1250" b="0" dirty="0">
                <a:solidFill>
                  <a:srgbClr val="97A4B4"/>
                </a:solidFill>
                <a:latin typeface="Arial"/>
              </a:rPr>
              <a:t>grant_type=password straight to /token, skipping the authorization endpoint (and whatever runs there).</a:t>
            </a:r>
          </a:p>
        </p:txBody>
      </p:sp>
      <p:sp>
        <p:nvSpPr>
          <p:cNvPr id="14" name="Rounded Rectangle 13"/>
          <p:cNvSpPr/>
          <p:nvPr/>
        </p:nvSpPr>
        <p:spPr>
          <a:xfrm>
            <a:off x="502920" y="4892040"/>
            <a:ext cx="11155680" cy="658368"/>
          </a:xfrm>
          <a:prstGeom prst="roundRect">
            <a:avLst>
              <a:gd name="adj" fmla="val 6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5" name="TextBox 14"/>
          <p:cNvSpPr txBox="1"/>
          <p:nvPr/>
        </p:nvSpPr>
        <p:spPr>
          <a:xfrm>
            <a:off x="667512" y="5097984"/>
            <a:ext cx="10826496" cy="246478"/>
          </a:xfrm>
          <a:prstGeom prst="rect">
            <a:avLst/>
          </a:prstGeom>
          <a:noFill/>
        </p:spPr>
        <p:txBody>
          <a:bodyPr wrap="square" lIns="36576" tIns="18288" rIns="36576" bIns="18288" anchor="ctr">
            <a:spAutoFit/>
          </a:bodyPr>
          <a:lstStyle/>
          <a:p>
            <a:pPr algn="l">
              <a:lnSpc>
                <a:spcPct val="120000"/>
              </a:lnSpc>
              <a:spcBef>
                <a:spcPts val="0"/>
              </a:spcBef>
              <a:spcAft>
                <a:spcPts val="600"/>
              </a:spcAft>
            </a:pPr>
            <a:r>
              <a:rPr sz="1250" b="0" dirty="0">
                <a:solidFill>
                  <a:srgbClr val="E7B84B"/>
                </a:solidFill>
                <a:latin typeface="Arial"/>
              </a:rPr>
              <a:t>// the gap</a:t>
            </a:r>
            <a:r>
              <a:rPr lang="en-US" sz="1250" b="0" dirty="0">
                <a:solidFill>
                  <a:srgbClr val="E7B84B"/>
                </a:solidFill>
                <a:latin typeface="Arial"/>
              </a:rPr>
              <a:t>: </a:t>
            </a:r>
            <a:r>
              <a:rPr sz="1250" b="0" dirty="0">
                <a:solidFill>
                  <a:srgbClr val="97A4B4"/>
                </a:solidFill>
                <a:latin typeface="Arial"/>
              </a:rPr>
              <a:t>everyone tests the interactive leg. Almost nobody tests whether the </a:t>
            </a:r>
            <a:r>
              <a:rPr sz="1250" b="0" dirty="0">
                <a:solidFill>
                  <a:srgbClr val="E7B84B"/>
                </a:solidFill>
                <a:latin typeface="Arial"/>
              </a:rPr>
              <a:t>device-code + DRS</a:t>
            </a:r>
            <a:r>
              <a:rPr sz="1250" b="0" dirty="0">
                <a:solidFill>
                  <a:srgbClr val="97A4B4"/>
                </a:solidFill>
                <a:latin typeface="Arial"/>
              </a:rPr>
              <a:t> path is covered. It usually isn't.</a:t>
            </a:r>
          </a:p>
        </p:txBody>
      </p:sp>
      <p:sp>
        <p:nvSpPr>
          <p:cNvPr id="16" name="TextBox 15"/>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17" name="TextBox 16"/>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surface · 04/24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04 · the path</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The path we walk live</a:t>
            </a:r>
          </a:p>
        </p:txBody>
      </p:sp>
      <p:sp>
        <p:nvSpPr>
          <p:cNvPr id="4" name="Rounded Rectangle 3"/>
          <p:cNvSpPr/>
          <p:nvPr/>
        </p:nvSpPr>
        <p:spPr>
          <a:xfrm>
            <a:off x="502920" y="2194560"/>
            <a:ext cx="2114092" cy="2286000"/>
          </a:xfrm>
          <a:prstGeom prst="roundRect">
            <a:avLst>
              <a:gd name="adj" fmla="val 5000"/>
            </a:avLst>
          </a:prstGeom>
          <a:solidFill>
            <a:srgbClr val="141B26"/>
          </a:solidFill>
          <a:ln w="11430">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5" name="TextBox 4"/>
          <p:cNvSpPr txBox="1"/>
          <p:nvPr/>
        </p:nvSpPr>
        <p:spPr>
          <a:xfrm>
            <a:off x="630936" y="2340864"/>
            <a:ext cx="1858060" cy="2011680"/>
          </a:xfrm>
          <a:prstGeom prst="rect">
            <a:avLst/>
          </a:prstGeom>
          <a:noFill/>
        </p:spPr>
        <p:txBody>
          <a:bodyPr wrap="square" lIns="36576" tIns="18288" rIns="36576" bIns="18288" anchor="t">
            <a:spAutoFit/>
          </a:bodyPr>
          <a:lstStyle/>
          <a:p>
            <a:pPr algn="l">
              <a:spcBef>
                <a:spcPts val="0"/>
              </a:spcBef>
              <a:spcAft>
                <a:spcPts val="400"/>
              </a:spcAft>
            </a:pPr>
            <a:r>
              <a:rPr sz="2200" b="1" dirty="0">
                <a:solidFill>
                  <a:srgbClr val="E7B84B"/>
                </a:solidFill>
                <a:latin typeface="Courier New"/>
              </a:rPr>
              <a:t>1</a:t>
            </a:r>
          </a:p>
          <a:p>
            <a:pPr algn="l">
              <a:spcBef>
                <a:spcPts val="0"/>
              </a:spcBef>
              <a:spcAft>
                <a:spcPts val="400"/>
              </a:spcAft>
            </a:pPr>
            <a:r>
              <a:rPr sz="1400" b="1" dirty="0">
                <a:solidFill>
                  <a:srgbClr val="E6EDF3"/>
                </a:solidFill>
                <a:latin typeface="Arial"/>
              </a:rPr>
              <a:t>Capture</a:t>
            </a:r>
          </a:p>
          <a:p>
            <a:pPr algn="l">
              <a:lnSpc>
                <a:spcPct val="125000"/>
              </a:lnSpc>
              <a:spcBef>
                <a:spcPts val="0"/>
              </a:spcBef>
              <a:spcAft>
                <a:spcPts val="600"/>
              </a:spcAft>
            </a:pPr>
            <a:r>
              <a:rPr sz="1150" b="0" dirty="0">
                <a:solidFill>
                  <a:srgbClr val="97A4B4"/>
                </a:solidFill>
                <a:latin typeface="Arial"/>
              </a:rPr>
              <a:t>Fingerprint + session through the BITM proxy</a:t>
            </a:r>
          </a:p>
        </p:txBody>
      </p:sp>
      <p:sp>
        <p:nvSpPr>
          <p:cNvPr id="6" name="TextBox 5"/>
          <p:cNvSpPr txBox="1"/>
          <p:nvPr/>
        </p:nvSpPr>
        <p:spPr>
          <a:xfrm>
            <a:off x="2598724" y="3108960"/>
            <a:ext cx="182880" cy="457200"/>
          </a:xfrm>
          <a:prstGeom prst="rect">
            <a:avLst/>
          </a:prstGeom>
          <a:noFill/>
        </p:spPr>
        <p:txBody>
          <a:bodyPr wrap="square" lIns="36576" tIns="18288" rIns="36576" bIns="18288" anchor="ctr">
            <a:spAutoFit/>
          </a:bodyPr>
          <a:lstStyle/>
          <a:p>
            <a:pPr algn="ctr">
              <a:spcBef>
                <a:spcPts val="0"/>
              </a:spcBef>
              <a:spcAft>
                <a:spcPts val="600"/>
              </a:spcAft>
            </a:pPr>
            <a:r>
              <a:rPr sz="1800" b="0" dirty="0">
                <a:solidFill>
                  <a:srgbClr val="5A6472"/>
                </a:solidFill>
                <a:latin typeface="Courier New"/>
              </a:rPr>
              <a:t>›</a:t>
            </a:r>
          </a:p>
        </p:txBody>
      </p:sp>
      <p:sp>
        <p:nvSpPr>
          <p:cNvPr id="7" name="Rounded Rectangle 6"/>
          <p:cNvSpPr/>
          <p:nvPr/>
        </p:nvSpPr>
        <p:spPr>
          <a:xfrm>
            <a:off x="2763316" y="2194560"/>
            <a:ext cx="2114092" cy="2286000"/>
          </a:xfrm>
          <a:prstGeom prst="roundRect">
            <a:avLst>
              <a:gd name="adj" fmla="val 5000"/>
            </a:avLst>
          </a:prstGeom>
          <a:solidFill>
            <a:srgbClr val="141B26"/>
          </a:solidFill>
          <a:ln w="11430">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8" name="TextBox 7"/>
          <p:cNvSpPr txBox="1"/>
          <p:nvPr/>
        </p:nvSpPr>
        <p:spPr>
          <a:xfrm>
            <a:off x="2891332" y="2340864"/>
            <a:ext cx="1858060" cy="1114216"/>
          </a:xfrm>
          <a:prstGeom prst="rect">
            <a:avLst/>
          </a:prstGeom>
          <a:noFill/>
        </p:spPr>
        <p:txBody>
          <a:bodyPr wrap="square" lIns="36576" tIns="18288" rIns="36576" bIns="18288" anchor="t">
            <a:spAutoFit/>
          </a:bodyPr>
          <a:lstStyle/>
          <a:p>
            <a:pPr algn="l">
              <a:spcBef>
                <a:spcPts val="0"/>
              </a:spcBef>
              <a:spcAft>
                <a:spcPts val="400"/>
              </a:spcAft>
            </a:pPr>
            <a:r>
              <a:rPr sz="2200" b="1" dirty="0">
                <a:solidFill>
                  <a:srgbClr val="E7B84B"/>
                </a:solidFill>
                <a:latin typeface="Courier New"/>
              </a:rPr>
              <a:t>2</a:t>
            </a:r>
          </a:p>
          <a:p>
            <a:pPr algn="l">
              <a:spcBef>
                <a:spcPts val="0"/>
              </a:spcBef>
              <a:spcAft>
                <a:spcPts val="400"/>
              </a:spcAft>
            </a:pPr>
            <a:r>
              <a:rPr sz="1400" b="1" dirty="0">
                <a:solidFill>
                  <a:srgbClr val="E6EDF3"/>
                </a:solidFill>
                <a:latin typeface="Arial"/>
              </a:rPr>
              <a:t>Downgrade</a:t>
            </a:r>
          </a:p>
          <a:p>
            <a:pPr algn="l">
              <a:lnSpc>
                <a:spcPct val="125000"/>
              </a:lnSpc>
              <a:spcBef>
                <a:spcPts val="0"/>
              </a:spcBef>
              <a:spcAft>
                <a:spcPts val="600"/>
              </a:spcAft>
            </a:pPr>
            <a:r>
              <a:rPr sz="1150" b="0" dirty="0">
                <a:solidFill>
                  <a:srgbClr val="97A4B4"/>
                </a:solidFill>
                <a:latin typeface="Arial"/>
              </a:rPr>
              <a:t>Auto-click push </a:t>
            </a:r>
            <a:r>
              <a:rPr lang="en-US" sz="1150" b="0" dirty="0">
                <a:solidFill>
                  <a:srgbClr val="97A4B4"/>
                </a:solidFill>
                <a:latin typeface="Arial"/>
              </a:rPr>
              <a:t>-</a:t>
            </a:r>
            <a:r>
              <a:rPr sz="1150" b="0" dirty="0">
                <a:solidFill>
                  <a:srgbClr val="97A4B4"/>
                </a:solidFill>
                <a:latin typeface="Arial"/>
              </a:rPr>
              <a:t> detect passkey dead-end</a:t>
            </a:r>
          </a:p>
        </p:txBody>
      </p:sp>
      <p:sp>
        <p:nvSpPr>
          <p:cNvPr id="9" name="TextBox 8"/>
          <p:cNvSpPr txBox="1"/>
          <p:nvPr/>
        </p:nvSpPr>
        <p:spPr>
          <a:xfrm>
            <a:off x="4859121" y="3108960"/>
            <a:ext cx="182880" cy="457200"/>
          </a:xfrm>
          <a:prstGeom prst="rect">
            <a:avLst/>
          </a:prstGeom>
          <a:noFill/>
        </p:spPr>
        <p:txBody>
          <a:bodyPr wrap="square" lIns="36576" tIns="18288" rIns="36576" bIns="18288" anchor="ctr">
            <a:spAutoFit/>
          </a:bodyPr>
          <a:lstStyle/>
          <a:p>
            <a:pPr algn="ctr">
              <a:spcBef>
                <a:spcPts val="0"/>
              </a:spcBef>
              <a:spcAft>
                <a:spcPts val="600"/>
              </a:spcAft>
            </a:pPr>
            <a:r>
              <a:rPr sz="1800" b="0" dirty="0">
                <a:solidFill>
                  <a:srgbClr val="5A6472"/>
                </a:solidFill>
                <a:latin typeface="Courier New"/>
              </a:rPr>
              <a:t>›</a:t>
            </a:r>
          </a:p>
        </p:txBody>
      </p:sp>
      <p:sp>
        <p:nvSpPr>
          <p:cNvPr id="10" name="Rounded Rectangle 9"/>
          <p:cNvSpPr/>
          <p:nvPr/>
        </p:nvSpPr>
        <p:spPr>
          <a:xfrm>
            <a:off x="5023713" y="2194560"/>
            <a:ext cx="2114092" cy="2286000"/>
          </a:xfrm>
          <a:prstGeom prst="roundRect">
            <a:avLst>
              <a:gd name="adj" fmla="val 5000"/>
            </a:avLst>
          </a:prstGeom>
          <a:solidFill>
            <a:srgbClr val="141B26"/>
          </a:solidFill>
          <a:ln w="11430">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1" name="TextBox 10"/>
          <p:cNvSpPr txBox="1"/>
          <p:nvPr/>
        </p:nvSpPr>
        <p:spPr>
          <a:xfrm>
            <a:off x="5151729" y="2340864"/>
            <a:ext cx="1858060" cy="1114216"/>
          </a:xfrm>
          <a:prstGeom prst="rect">
            <a:avLst/>
          </a:prstGeom>
          <a:noFill/>
        </p:spPr>
        <p:txBody>
          <a:bodyPr wrap="square" lIns="36576" tIns="18288" rIns="36576" bIns="18288" anchor="t">
            <a:spAutoFit/>
          </a:bodyPr>
          <a:lstStyle/>
          <a:p>
            <a:pPr algn="l">
              <a:spcBef>
                <a:spcPts val="0"/>
              </a:spcBef>
              <a:spcAft>
                <a:spcPts val="400"/>
              </a:spcAft>
            </a:pPr>
            <a:r>
              <a:rPr sz="2200" b="1" dirty="0">
                <a:solidFill>
                  <a:srgbClr val="E7B84B"/>
                </a:solidFill>
                <a:latin typeface="Courier New"/>
              </a:rPr>
              <a:t>3</a:t>
            </a:r>
          </a:p>
          <a:p>
            <a:pPr algn="l">
              <a:spcBef>
                <a:spcPts val="0"/>
              </a:spcBef>
              <a:spcAft>
                <a:spcPts val="400"/>
              </a:spcAft>
            </a:pPr>
            <a:r>
              <a:rPr sz="1400" b="1" dirty="0">
                <a:solidFill>
                  <a:srgbClr val="E6EDF3"/>
                </a:solidFill>
                <a:latin typeface="Arial"/>
              </a:rPr>
              <a:t>Device-code</a:t>
            </a:r>
          </a:p>
          <a:p>
            <a:pPr algn="l">
              <a:lnSpc>
                <a:spcPct val="125000"/>
              </a:lnSpc>
              <a:spcBef>
                <a:spcPts val="0"/>
              </a:spcBef>
              <a:spcAft>
                <a:spcPts val="600"/>
              </a:spcAft>
            </a:pPr>
            <a:r>
              <a:rPr sz="1150" b="0" dirty="0">
                <a:solidFill>
                  <a:srgbClr val="97A4B4"/>
                </a:solidFill>
                <a:latin typeface="Arial"/>
              </a:rPr>
              <a:t>Grant a DRS token</a:t>
            </a:r>
            <a:r>
              <a:rPr lang="en-US" sz="1150" dirty="0">
                <a:solidFill>
                  <a:srgbClr val="97A4B4"/>
                </a:solidFill>
                <a:latin typeface="Arial"/>
              </a:rPr>
              <a:t> -</a:t>
            </a:r>
            <a:r>
              <a:rPr sz="1150" b="0" dirty="0">
                <a:solidFill>
                  <a:srgbClr val="97A4B4"/>
                </a:solidFill>
                <a:latin typeface="Arial"/>
              </a:rPr>
              <a:t> </a:t>
            </a:r>
            <a:r>
              <a:rPr lang="en-US" sz="1150" b="0" dirty="0">
                <a:solidFill>
                  <a:srgbClr val="97A4B4"/>
                </a:solidFill>
                <a:latin typeface="Arial"/>
              </a:rPr>
              <a:t>no in</a:t>
            </a:r>
            <a:r>
              <a:rPr sz="1150" b="0" dirty="0">
                <a:solidFill>
                  <a:srgbClr val="97A4B4"/>
                </a:solidFill>
                <a:latin typeface="Arial"/>
              </a:rPr>
              <a:t>teractive CA</a:t>
            </a:r>
          </a:p>
        </p:txBody>
      </p:sp>
      <p:sp>
        <p:nvSpPr>
          <p:cNvPr id="12" name="TextBox 11"/>
          <p:cNvSpPr txBox="1"/>
          <p:nvPr/>
        </p:nvSpPr>
        <p:spPr>
          <a:xfrm>
            <a:off x="7119518" y="3108960"/>
            <a:ext cx="182880" cy="457200"/>
          </a:xfrm>
          <a:prstGeom prst="rect">
            <a:avLst/>
          </a:prstGeom>
          <a:noFill/>
        </p:spPr>
        <p:txBody>
          <a:bodyPr wrap="square" lIns="36576" tIns="18288" rIns="36576" bIns="18288" anchor="ctr">
            <a:spAutoFit/>
          </a:bodyPr>
          <a:lstStyle/>
          <a:p>
            <a:pPr algn="ctr">
              <a:spcBef>
                <a:spcPts val="0"/>
              </a:spcBef>
              <a:spcAft>
                <a:spcPts val="600"/>
              </a:spcAft>
            </a:pPr>
            <a:r>
              <a:rPr sz="1800" b="0" dirty="0">
                <a:solidFill>
                  <a:srgbClr val="5A6472"/>
                </a:solidFill>
                <a:latin typeface="Courier New"/>
              </a:rPr>
              <a:t>›</a:t>
            </a:r>
          </a:p>
        </p:txBody>
      </p:sp>
      <p:sp>
        <p:nvSpPr>
          <p:cNvPr id="13" name="Rounded Rectangle 12"/>
          <p:cNvSpPr/>
          <p:nvPr/>
        </p:nvSpPr>
        <p:spPr>
          <a:xfrm>
            <a:off x="7284110" y="2194560"/>
            <a:ext cx="2114092" cy="2286000"/>
          </a:xfrm>
          <a:prstGeom prst="roundRect">
            <a:avLst>
              <a:gd name="adj" fmla="val 5000"/>
            </a:avLst>
          </a:prstGeom>
          <a:solidFill>
            <a:srgbClr val="141B26"/>
          </a:solidFill>
          <a:ln w="11430">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4" name="TextBox 13"/>
          <p:cNvSpPr txBox="1"/>
          <p:nvPr/>
        </p:nvSpPr>
        <p:spPr>
          <a:xfrm>
            <a:off x="7412126" y="2340864"/>
            <a:ext cx="1858060" cy="1114216"/>
          </a:xfrm>
          <a:prstGeom prst="rect">
            <a:avLst/>
          </a:prstGeom>
          <a:noFill/>
        </p:spPr>
        <p:txBody>
          <a:bodyPr wrap="square" lIns="36576" tIns="18288" rIns="36576" bIns="18288" anchor="t">
            <a:spAutoFit/>
          </a:bodyPr>
          <a:lstStyle/>
          <a:p>
            <a:pPr algn="l">
              <a:spcBef>
                <a:spcPts val="0"/>
              </a:spcBef>
              <a:spcAft>
                <a:spcPts val="400"/>
              </a:spcAft>
            </a:pPr>
            <a:r>
              <a:rPr sz="2200" b="1" dirty="0">
                <a:solidFill>
                  <a:srgbClr val="E7B84B"/>
                </a:solidFill>
                <a:latin typeface="Courier New"/>
              </a:rPr>
              <a:t>4</a:t>
            </a:r>
          </a:p>
          <a:p>
            <a:pPr algn="l">
              <a:spcBef>
                <a:spcPts val="0"/>
              </a:spcBef>
              <a:spcAft>
                <a:spcPts val="400"/>
              </a:spcAft>
            </a:pPr>
            <a:r>
              <a:rPr sz="1400" b="1" dirty="0">
                <a:solidFill>
                  <a:srgbClr val="E6EDF3"/>
                </a:solidFill>
                <a:latin typeface="Arial"/>
              </a:rPr>
              <a:t>Phantom join</a:t>
            </a:r>
          </a:p>
          <a:p>
            <a:pPr algn="l">
              <a:lnSpc>
                <a:spcPct val="125000"/>
              </a:lnSpc>
              <a:spcBef>
                <a:spcPts val="0"/>
              </a:spcBef>
              <a:spcAft>
                <a:spcPts val="600"/>
              </a:spcAft>
            </a:pPr>
            <a:r>
              <a:rPr sz="1150" b="0" dirty="0">
                <a:solidFill>
                  <a:srgbClr val="97A4B4"/>
                </a:solidFill>
                <a:latin typeface="Arial"/>
              </a:rPr>
              <a:t>Register a device</a:t>
            </a:r>
            <a:r>
              <a:rPr lang="en-US" sz="1150" b="0" dirty="0">
                <a:solidFill>
                  <a:srgbClr val="97A4B4"/>
                </a:solidFill>
                <a:latin typeface="Arial"/>
              </a:rPr>
              <a:t> - </a:t>
            </a:r>
            <a:r>
              <a:rPr sz="1150" b="0" dirty="0">
                <a:solidFill>
                  <a:srgbClr val="97A4B4"/>
                </a:solidFill>
                <a:latin typeface="Arial"/>
              </a:rPr>
              <a:t>no TPM, no admin</a:t>
            </a:r>
          </a:p>
        </p:txBody>
      </p:sp>
      <p:sp>
        <p:nvSpPr>
          <p:cNvPr id="15" name="TextBox 14"/>
          <p:cNvSpPr txBox="1"/>
          <p:nvPr/>
        </p:nvSpPr>
        <p:spPr>
          <a:xfrm>
            <a:off x="9379915" y="3108960"/>
            <a:ext cx="182880" cy="457200"/>
          </a:xfrm>
          <a:prstGeom prst="rect">
            <a:avLst/>
          </a:prstGeom>
          <a:noFill/>
        </p:spPr>
        <p:txBody>
          <a:bodyPr wrap="square" lIns="36576" tIns="18288" rIns="36576" bIns="18288" anchor="ctr">
            <a:spAutoFit/>
          </a:bodyPr>
          <a:lstStyle/>
          <a:p>
            <a:pPr algn="ctr">
              <a:spcBef>
                <a:spcPts val="0"/>
              </a:spcBef>
              <a:spcAft>
                <a:spcPts val="600"/>
              </a:spcAft>
            </a:pPr>
            <a:r>
              <a:rPr sz="1800" b="0" dirty="0">
                <a:solidFill>
                  <a:srgbClr val="5A6472"/>
                </a:solidFill>
                <a:latin typeface="Courier New"/>
              </a:rPr>
              <a:t>›</a:t>
            </a:r>
          </a:p>
        </p:txBody>
      </p:sp>
      <p:sp>
        <p:nvSpPr>
          <p:cNvPr id="16" name="Rounded Rectangle 15"/>
          <p:cNvSpPr/>
          <p:nvPr/>
        </p:nvSpPr>
        <p:spPr>
          <a:xfrm>
            <a:off x="9544507" y="2194560"/>
            <a:ext cx="2114092" cy="2286000"/>
          </a:xfrm>
          <a:prstGeom prst="roundRect">
            <a:avLst>
              <a:gd name="adj" fmla="val 5000"/>
            </a:avLst>
          </a:prstGeom>
          <a:solidFill>
            <a:srgbClr val="1A1113"/>
          </a:solidFill>
          <a:ln w="11430">
            <a:solidFill>
              <a:srgbClr val="5A2B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7" name="TextBox 16"/>
          <p:cNvSpPr txBox="1"/>
          <p:nvPr/>
        </p:nvSpPr>
        <p:spPr>
          <a:xfrm>
            <a:off x="9672523" y="2340864"/>
            <a:ext cx="1858060" cy="2011680"/>
          </a:xfrm>
          <a:prstGeom prst="rect">
            <a:avLst/>
          </a:prstGeom>
          <a:noFill/>
        </p:spPr>
        <p:txBody>
          <a:bodyPr wrap="square" lIns="36576" tIns="18288" rIns="36576" bIns="18288" anchor="t">
            <a:spAutoFit/>
          </a:bodyPr>
          <a:lstStyle/>
          <a:p>
            <a:pPr algn="l">
              <a:spcBef>
                <a:spcPts val="0"/>
              </a:spcBef>
              <a:spcAft>
                <a:spcPts val="400"/>
              </a:spcAft>
            </a:pPr>
            <a:r>
              <a:rPr sz="2200" b="1" dirty="0">
                <a:solidFill>
                  <a:srgbClr val="FF5A45"/>
                </a:solidFill>
                <a:latin typeface="Courier New"/>
              </a:rPr>
              <a:t>5</a:t>
            </a:r>
          </a:p>
          <a:p>
            <a:pPr algn="l">
              <a:spcBef>
                <a:spcPts val="0"/>
              </a:spcBef>
              <a:spcAft>
                <a:spcPts val="400"/>
              </a:spcAft>
            </a:pPr>
            <a:r>
              <a:rPr sz="1400" b="1" dirty="0">
                <a:solidFill>
                  <a:srgbClr val="E6EDF3"/>
                </a:solidFill>
                <a:latin typeface="Arial"/>
              </a:rPr>
              <a:t>Mint</a:t>
            </a:r>
          </a:p>
          <a:p>
            <a:pPr algn="l">
              <a:lnSpc>
                <a:spcPct val="125000"/>
              </a:lnSpc>
              <a:spcBef>
                <a:spcPts val="0"/>
              </a:spcBef>
              <a:spcAft>
                <a:spcPts val="600"/>
              </a:spcAft>
            </a:pPr>
            <a:r>
              <a:rPr sz="1150" b="0" dirty="0">
                <a:solidFill>
                  <a:srgbClr val="97A4B4"/>
                </a:solidFill>
                <a:latin typeface="Arial"/>
              </a:rPr>
              <a:t>PRT → Graph token → ADO PAT ☠</a:t>
            </a:r>
          </a:p>
        </p:txBody>
      </p:sp>
      <p:sp>
        <p:nvSpPr>
          <p:cNvPr id="18" name="Rounded Rectangle 17"/>
          <p:cNvSpPr/>
          <p:nvPr/>
        </p:nvSpPr>
        <p:spPr>
          <a:xfrm>
            <a:off x="502920" y="4892040"/>
            <a:ext cx="11155680" cy="658368"/>
          </a:xfrm>
          <a:prstGeom prst="roundRect">
            <a:avLst>
              <a:gd name="adj" fmla="val 6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9" name="TextBox 18"/>
          <p:cNvSpPr txBox="1"/>
          <p:nvPr/>
        </p:nvSpPr>
        <p:spPr>
          <a:xfrm>
            <a:off x="667512" y="5097984"/>
            <a:ext cx="10826496" cy="246478"/>
          </a:xfrm>
          <a:prstGeom prst="rect">
            <a:avLst/>
          </a:prstGeom>
          <a:noFill/>
        </p:spPr>
        <p:txBody>
          <a:bodyPr wrap="square" lIns="36576" tIns="18288" rIns="36576" bIns="18288" anchor="ctr">
            <a:spAutoFit/>
          </a:bodyPr>
          <a:lstStyle/>
          <a:p>
            <a:pPr algn="l">
              <a:lnSpc>
                <a:spcPct val="120000"/>
              </a:lnSpc>
              <a:spcBef>
                <a:spcPts val="0"/>
              </a:spcBef>
              <a:spcAft>
                <a:spcPts val="600"/>
              </a:spcAft>
            </a:pPr>
            <a:r>
              <a:rPr sz="1250" b="0" dirty="0">
                <a:solidFill>
                  <a:srgbClr val="E7B84B"/>
                </a:solidFill>
                <a:latin typeface="Arial"/>
              </a:rPr>
              <a:t>// here be dragons</a:t>
            </a:r>
            <a:r>
              <a:rPr lang="en-US" sz="1250" b="0" dirty="0">
                <a:solidFill>
                  <a:srgbClr val="E7B84B"/>
                </a:solidFill>
                <a:latin typeface="Arial"/>
              </a:rPr>
              <a:t>: </a:t>
            </a:r>
            <a:r>
              <a:rPr sz="1250" b="0" dirty="0">
                <a:solidFill>
                  <a:srgbClr val="97A4B4"/>
                </a:solidFill>
                <a:latin typeface="Arial"/>
              </a:rPr>
              <a:t>every step uses only what a single phished session already holds.</a:t>
            </a:r>
          </a:p>
        </p:txBody>
      </p:sp>
      <p:sp>
        <p:nvSpPr>
          <p:cNvPr id="20" name="TextBox 19"/>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21" name="TextBox 20"/>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path · 05/24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05 · the tool</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One tool: </a:t>
            </a:r>
            <a:r>
              <a:rPr sz="3000" b="1" dirty="0">
                <a:solidFill>
                  <a:srgbClr val="4ED16B"/>
                </a:solidFill>
                <a:latin typeface="Arial"/>
              </a:rPr>
              <a:t>Grapnel</a:t>
            </a:r>
            <a:r>
              <a:rPr sz="3000" b="1" dirty="0">
                <a:solidFill>
                  <a:srgbClr val="E6EDF3"/>
                </a:solidFill>
                <a:latin typeface="Arial"/>
              </a:rPr>
              <a:t>  ⚓</a:t>
            </a:r>
          </a:p>
        </p:txBody>
      </p:sp>
      <p:sp>
        <p:nvSpPr>
          <p:cNvPr id="4" name="TextBox 3"/>
          <p:cNvSpPr txBox="1"/>
          <p:nvPr/>
        </p:nvSpPr>
        <p:spPr>
          <a:xfrm>
            <a:off x="502920" y="1536192"/>
            <a:ext cx="11155680" cy="530786"/>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350" b="0" dirty="0">
                <a:solidFill>
                  <a:srgbClr val="97A4B4"/>
                </a:solidFill>
                <a:latin typeface="Arial"/>
              </a:rPr>
              <a:t>A browser-in-the-middle rig driven entirely from a web dashboard</a:t>
            </a:r>
            <a:r>
              <a:rPr lang="en-US" sz="1350" b="0" dirty="0">
                <a:solidFill>
                  <a:srgbClr val="97A4B4"/>
                </a:solidFill>
                <a:latin typeface="Arial"/>
              </a:rPr>
              <a:t> -</a:t>
            </a:r>
            <a:r>
              <a:rPr sz="1350" b="0" dirty="0">
                <a:solidFill>
                  <a:srgbClr val="97A4B4"/>
                </a:solidFill>
                <a:latin typeface="Arial"/>
              </a:rPr>
              <a:t> nothing to install on the victim, no CLI to memorize. The operator watches the real login happen and clicks; interception, capture, and the phantom-join chain all run server-side.</a:t>
            </a:r>
          </a:p>
        </p:txBody>
      </p:sp>
      <p:sp>
        <p:nvSpPr>
          <p:cNvPr id="5" name="Rounded Rectangle 4"/>
          <p:cNvSpPr/>
          <p:nvPr/>
        </p:nvSpPr>
        <p:spPr>
          <a:xfrm>
            <a:off x="502920" y="2542032"/>
            <a:ext cx="11155680" cy="1719580"/>
          </a:xfrm>
          <a:prstGeom prst="roundRect">
            <a:avLst>
              <a:gd name="adj" fmla="val 4000"/>
            </a:avLst>
          </a:prstGeom>
          <a:solidFill>
            <a:srgbClr val="0B1017"/>
          </a:solidFill>
          <a:ln w="9525">
            <a:solidFill>
              <a:srgbClr val="1C27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Rectangle 5"/>
          <p:cNvSpPr/>
          <p:nvPr/>
        </p:nvSpPr>
        <p:spPr>
          <a:xfrm>
            <a:off x="502920" y="2542032"/>
            <a:ext cx="11155680" cy="384048"/>
          </a:xfrm>
          <a:prstGeom prst="rect">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7" name="Oval 6"/>
          <p:cNvSpPr/>
          <p:nvPr/>
        </p:nvSpPr>
        <p:spPr>
          <a:xfrm>
            <a:off x="649224" y="2679191"/>
            <a:ext cx="109728" cy="109728"/>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Oval 7"/>
          <p:cNvSpPr/>
          <p:nvPr/>
        </p:nvSpPr>
        <p:spPr>
          <a:xfrm>
            <a:off x="850392" y="2679191"/>
            <a:ext cx="109728" cy="109728"/>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Oval 8"/>
          <p:cNvSpPr/>
          <p:nvPr/>
        </p:nvSpPr>
        <p:spPr>
          <a:xfrm>
            <a:off x="1051560" y="2679191"/>
            <a:ext cx="109728" cy="109728"/>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1325880" y="2627103"/>
            <a:ext cx="10241280" cy="213905"/>
          </a:xfrm>
          <a:prstGeom prst="rect">
            <a:avLst/>
          </a:prstGeom>
          <a:noFill/>
        </p:spPr>
        <p:txBody>
          <a:bodyPr wrap="square" lIns="36576" tIns="18288" rIns="36576" bIns="18288" anchor="ctr">
            <a:spAutoFit/>
          </a:bodyPr>
          <a:lstStyle/>
          <a:p>
            <a:pPr algn="l">
              <a:spcBef>
                <a:spcPts val="0"/>
              </a:spcBef>
              <a:spcAft>
                <a:spcPts val="600"/>
              </a:spcAft>
            </a:pPr>
            <a:r>
              <a:rPr sz="1150" b="0" dirty="0">
                <a:solidFill>
                  <a:srgbClr val="7A8899"/>
                </a:solidFill>
                <a:latin typeface="Courier New"/>
              </a:rPr>
              <a:t>docker compose up </a:t>
            </a:r>
            <a:r>
              <a:rPr lang="en-US" sz="1150" b="0" dirty="0">
                <a:solidFill>
                  <a:srgbClr val="7A8899"/>
                </a:solidFill>
                <a:latin typeface="Courier New"/>
              </a:rPr>
              <a:t>-</a:t>
            </a:r>
            <a:r>
              <a:rPr sz="1150" b="0" dirty="0">
                <a:solidFill>
                  <a:srgbClr val="7A8899"/>
                </a:solidFill>
                <a:latin typeface="Courier New"/>
              </a:rPr>
              <a:t> one rig, three surfaces</a:t>
            </a:r>
          </a:p>
        </p:txBody>
      </p:sp>
      <p:sp>
        <p:nvSpPr>
          <p:cNvPr id="11" name="TextBox 10"/>
          <p:cNvSpPr txBox="1"/>
          <p:nvPr/>
        </p:nvSpPr>
        <p:spPr>
          <a:xfrm>
            <a:off x="704088" y="2999232"/>
            <a:ext cx="10753344" cy="1189228"/>
          </a:xfrm>
          <a:prstGeom prst="rect">
            <a:avLst/>
          </a:prstGeom>
          <a:noFill/>
        </p:spPr>
        <p:txBody>
          <a:bodyPr wrap="square" lIns="36576" tIns="18288" rIns="36576" bIns="18288" anchor="t">
            <a:spAutoFit/>
          </a:bodyPr>
          <a:lstStyle/>
          <a:p>
            <a:pPr algn="l">
              <a:lnSpc>
                <a:spcPct val="150000"/>
              </a:lnSpc>
              <a:spcBef>
                <a:spcPts val="0"/>
              </a:spcBef>
              <a:spcAft>
                <a:spcPts val="200"/>
              </a:spcAft>
            </a:pPr>
            <a:r>
              <a:rPr sz="1250" b="0" dirty="0">
                <a:solidFill>
                  <a:srgbClr val="4ED16B"/>
                </a:solidFill>
                <a:latin typeface="Courier New"/>
              </a:rPr>
              <a:t>$ </a:t>
            </a:r>
            <a:r>
              <a:rPr sz="1250" b="0" dirty="0">
                <a:solidFill>
                  <a:srgbClr val="E6EDF3"/>
                </a:solidFill>
                <a:latin typeface="Courier New"/>
              </a:rPr>
              <a:t>docker compose up -d        </a:t>
            </a:r>
            <a:r>
              <a:rPr sz="1250" b="0" dirty="0">
                <a:solidFill>
                  <a:srgbClr val="5A6472"/>
                </a:solidFill>
                <a:latin typeface="Courier New"/>
              </a:rPr>
              <a:t># forged-CA proxy · hosted session · dashboard</a:t>
            </a:r>
          </a:p>
          <a:p>
            <a:pPr algn="l">
              <a:lnSpc>
                <a:spcPct val="150000"/>
              </a:lnSpc>
              <a:spcBef>
                <a:spcPts val="0"/>
              </a:spcBef>
              <a:spcAft>
                <a:spcPts val="200"/>
              </a:spcAft>
            </a:pPr>
            <a:r>
              <a:rPr sz="1250" b="0" dirty="0">
                <a:solidFill>
                  <a:srgbClr val="56C2FF"/>
                </a:solidFill>
                <a:latin typeface="Courier New"/>
              </a:rPr>
              <a:t>:3128</a:t>
            </a:r>
            <a:r>
              <a:rPr sz="1250" b="0" dirty="0">
                <a:solidFill>
                  <a:srgbClr val="E6EDF3"/>
                </a:solidFill>
                <a:latin typeface="Courier New"/>
              </a:rPr>
              <a:t>  BITM proxy      </a:t>
            </a:r>
            <a:r>
              <a:rPr sz="1250" b="0" dirty="0">
                <a:solidFill>
                  <a:srgbClr val="5A6472"/>
                </a:solidFill>
                <a:latin typeface="Courier New"/>
              </a:rPr>
              <a:t>→ </a:t>
            </a:r>
            <a:r>
              <a:rPr sz="1250" b="0" dirty="0">
                <a:solidFill>
                  <a:srgbClr val="97A4B4"/>
                </a:solidFill>
                <a:latin typeface="Courier New"/>
              </a:rPr>
              <a:t>intercept · capture · inject tokens/cookies in-flight</a:t>
            </a:r>
          </a:p>
          <a:p>
            <a:pPr algn="l">
              <a:lnSpc>
                <a:spcPct val="150000"/>
              </a:lnSpc>
              <a:spcBef>
                <a:spcPts val="0"/>
              </a:spcBef>
              <a:spcAft>
                <a:spcPts val="200"/>
              </a:spcAft>
            </a:pPr>
            <a:r>
              <a:rPr sz="1250" b="0" dirty="0">
                <a:solidFill>
                  <a:srgbClr val="56C2FF"/>
                </a:solidFill>
                <a:latin typeface="Courier New"/>
              </a:rPr>
              <a:t>:8091</a:t>
            </a:r>
            <a:r>
              <a:rPr sz="1250" b="0" dirty="0">
                <a:solidFill>
                  <a:srgbClr val="E6EDF3"/>
                </a:solidFill>
                <a:latin typeface="Courier New"/>
              </a:rPr>
              <a:t>  hosted session  </a:t>
            </a:r>
            <a:r>
              <a:rPr sz="1250" b="0" dirty="0">
                <a:solidFill>
                  <a:srgbClr val="5A6472"/>
                </a:solidFill>
                <a:latin typeface="Courier New"/>
              </a:rPr>
              <a:t>→ </a:t>
            </a:r>
            <a:r>
              <a:rPr sz="1250" b="0" dirty="0">
                <a:solidFill>
                  <a:srgbClr val="97A4B4"/>
                </a:solidFill>
                <a:latin typeface="Courier New"/>
              </a:rPr>
              <a:t>the victim drives their real login in this canvas</a:t>
            </a:r>
          </a:p>
          <a:p>
            <a:pPr algn="l">
              <a:lnSpc>
                <a:spcPct val="150000"/>
              </a:lnSpc>
              <a:spcBef>
                <a:spcPts val="0"/>
              </a:spcBef>
              <a:spcAft>
                <a:spcPts val="200"/>
              </a:spcAft>
            </a:pPr>
            <a:r>
              <a:rPr sz="1250" b="0" dirty="0">
                <a:solidFill>
                  <a:srgbClr val="56C2FF"/>
                </a:solidFill>
                <a:latin typeface="Courier New"/>
              </a:rPr>
              <a:t>:8092</a:t>
            </a:r>
            <a:r>
              <a:rPr sz="1250" b="0" dirty="0">
                <a:solidFill>
                  <a:srgbClr val="E6EDF3"/>
                </a:solidFill>
                <a:latin typeface="Courier New"/>
              </a:rPr>
              <a:t>  operator dash   </a:t>
            </a:r>
            <a:r>
              <a:rPr sz="1250" b="0" dirty="0">
                <a:solidFill>
                  <a:srgbClr val="5A6472"/>
                </a:solidFill>
                <a:latin typeface="Courier New"/>
              </a:rPr>
              <a:t>→ </a:t>
            </a:r>
            <a:r>
              <a:rPr sz="1250" b="0" dirty="0">
                <a:solidFill>
                  <a:srgbClr val="97A4B4"/>
                </a:solidFill>
                <a:latin typeface="Courier New"/>
              </a:rPr>
              <a:t>Captured Data · Phantom Join · Flow Trace · ROPC/PAT/AAA</a:t>
            </a:r>
          </a:p>
        </p:txBody>
      </p:sp>
      <p:sp>
        <p:nvSpPr>
          <p:cNvPr id="12" name="Rounded Rectangle 11"/>
          <p:cNvSpPr/>
          <p:nvPr/>
        </p:nvSpPr>
        <p:spPr>
          <a:xfrm>
            <a:off x="502920" y="4709160"/>
            <a:ext cx="3584448" cy="132588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3" name="Rectangle 12"/>
          <p:cNvSpPr/>
          <p:nvPr/>
        </p:nvSpPr>
        <p:spPr>
          <a:xfrm>
            <a:off x="502920" y="4709160"/>
            <a:ext cx="54864" cy="1325880"/>
          </a:xfrm>
          <a:prstGeom prst="rect">
            <a:avLst/>
          </a:prstGeom>
          <a:solidFill>
            <a:srgbClr val="56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4" name="TextBox 13"/>
          <p:cNvSpPr txBox="1"/>
          <p:nvPr/>
        </p:nvSpPr>
        <p:spPr>
          <a:xfrm>
            <a:off x="649224" y="4818888"/>
            <a:ext cx="3328415" cy="110642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watch &amp; click</a:t>
            </a:r>
          </a:p>
          <a:p>
            <a:pPr algn="l">
              <a:lnSpc>
                <a:spcPct val="118000"/>
              </a:lnSpc>
              <a:spcBef>
                <a:spcPts val="0"/>
              </a:spcBef>
              <a:spcAft>
                <a:spcPts val="600"/>
              </a:spcAft>
            </a:pPr>
            <a:r>
              <a:rPr sz="1250" b="0" dirty="0">
                <a:solidFill>
                  <a:srgbClr val="97A4B4"/>
                </a:solidFill>
                <a:latin typeface="Arial"/>
              </a:rPr>
              <a:t>No victim-side agent, no proxy config. The login runs in a hosted browser; the operator just drives the dashboard.</a:t>
            </a:r>
          </a:p>
        </p:txBody>
      </p:sp>
      <p:sp>
        <p:nvSpPr>
          <p:cNvPr id="15" name="Rounded Rectangle 14"/>
          <p:cNvSpPr/>
          <p:nvPr/>
        </p:nvSpPr>
        <p:spPr>
          <a:xfrm>
            <a:off x="4288536" y="4709160"/>
            <a:ext cx="3584448" cy="132588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6" name="Rectangle 15"/>
          <p:cNvSpPr/>
          <p:nvPr/>
        </p:nvSpPr>
        <p:spPr>
          <a:xfrm>
            <a:off x="4288536" y="4709160"/>
            <a:ext cx="54864" cy="1325880"/>
          </a:xfrm>
          <a:prstGeom prst="rect">
            <a:avLst/>
          </a:prstGeom>
          <a:solidFill>
            <a:srgbClr val="4ED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7" name="TextBox 16"/>
          <p:cNvSpPr txBox="1"/>
          <p:nvPr/>
        </p:nvSpPr>
        <p:spPr>
          <a:xfrm>
            <a:off x="4434840" y="4818888"/>
            <a:ext cx="3328415" cy="737318"/>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scope-enforced</a:t>
            </a:r>
          </a:p>
          <a:p>
            <a:pPr algn="l">
              <a:lnSpc>
                <a:spcPct val="118000"/>
              </a:lnSpc>
              <a:spcBef>
                <a:spcPts val="0"/>
              </a:spcBef>
              <a:spcAft>
                <a:spcPts val="600"/>
              </a:spcAft>
            </a:pPr>
            <a:r>
              <a:rPr sz="1250" b="0" dirty="0">
                <a:solidFill>
                  <a:srgbClr val="97A4B4"/>
                </a:solidFill>
                <a:latin typeface="Arial"/>
              </a:rPr>
              <a:t>Code-level allowlists </a:t>
            </a:r>
            <a:r>
              <a:rPr lang="en-US" sz="1250" b="0" dirty="0">
                <a:solidFill>
                  <a:srgbClr val="97A4B4"/>
                </a:solidFill>
                <a:latin typeface="Arial"/>
              </a:rPr>
              <a:t>-</a:t>
            </a:r>
            <a:r>
              <a:rPr sz="1250" b="0" dirty="0">
                <a:solidFill>
                  <a:srgbClr val="97A4B4"/>
                </a:solidFill>
                <a:latin typeface="Arial"/>
              </a:rPr>
              <a:t> refuses any host / tenant not on the list.</a:t>
            </a:r>
          </a:p>
        </p:txBody>
      </p:sp>
      <p:sp>
        <p:nvSpPr>
          <p:cNvPr id="18" name="Rounded Rectangle 17"/>
          <p:cNvSpPr/>
          <p:nvPr/>
        </p:nvSpPr>
        <p:spPr>
          <a:xfrm>
            <a:off x="8074152" y="4709160"/>
            <a:ext cx="3584448" cy="132588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9" name="Rectangle 18"/>
          <p:cNvSpPr/>
          <p:nvPr/>
        </p:nvSpPr>
        <p:spPr>
          <a:xfrm>
            <a:off x="8074152" y="4709160"/>
            <a:ext cx="54864" cy="132588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20" name="TextBox 19"/>
          <p:cNvSpPr txBox="1"/>
          <p:nvPr/>
        </p:nvSpPr>
        <p:spPr>
          <a:xfrm>
            <a:off x="8220456" y="4818888"/>
            <a:ext cx="3328415" cy="110642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hands the baton</a:t>
            </a:r>
          </a:p>
          <a:p>
            <a:pPr algn="l">
              <a:lnSpc>
                <a:spcPct val="118000"/>
              </a:lnSpc>
              <a:spcBef>
                <a:spcPts val="0"/>
              </a:spcBef>
              <a:spcAft>
                <a:spcPts val="600"/>
              </a:spcAft>
            </a:pPr>
            <a:r>
              <a:rPr sz="1250" b="0" dirty="0">
                <a:solidFill>
                  <a:srgbClr val="97A4B4"/>
                </a:solidFill>
                <a:latin typeface="Arial"/>
              </a:rPr>
              <a:t>The Graph token + ADO PAT it captures are exactly what Beachhead picks up.</a:t>
            </a:r>
          </a:p>
        </p:txBody>
      </p:sp>
      <p:sp>
        <p:nvSpPr>
          <p:cNvPr id="21" name="TextBox 20"/>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22" name="TextBox 21"/>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tool · 06/24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06 · under the hood</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Where the “middle” actually is</a:t>
            </a:r>
          </a:p>
        </p:txBody>
      </p:sp>
      <p:sp>
        <p:nvSpPr>
          <p:cNvPr id="4" name="TextBox 3"/>
          <p:cNvSpPr txBox="1"/>
          <p:nvPr/>
        </p:nvSpPr>
        <p:spPr>
          <a:xfrm>
            <a:off x="502920" y="1536192"/>
            <a:ext cx="11155680" cy="530786"/>
          </a:xfrm>
          <a:prstGeom prst="rect">
            <a:avLst/>
          </a:prstGeom>
          <a:noFill/>
        </p:spPr>
        <p:txBody>
          <a:bodyPr wrap="square" lIns="36576" tIns="18288" rIns="36576" bIns="18288" anchor="t">
            <a:spAutoFit/>
          </a:bodyPr>
          <a:lstStyle/>
          <a:p>
            <a:pPr>
              <a:lnSpc>
                <a:spcPct val="125000"/>
              </a:lnSpc>
              <a:spcAft>
                <a:spcPts val="600"/>
              </a:spcAft>
            </a:pPr>
            <a:r>
              <a:rPr sz="1350" b="0" dirty="0">
                <a:solidFill>
                  <a:srgbClr val="97A4B4"/>
                </a:solidFill>
                <a:latin typeface="Arial"/>
              </a:rPr>
              <a:t>The “middle” is a real browser Grapnel drives </a:t>
            </a:r>
            <a:r>
              <a:rPr sz="1350" b="0" dirty="0">
                <a:solidFill>
                  <a:srgbClr val="56C2FF"/>
                </a:solidFill>
                <a:latin typeface="Arial"/>
              </a:rPr>
              <a:t>server-side</a:t>
            </a:r>
            <a:r>
              <a:rPr sz="1350" b="0" dirty="0">
                <a:solidFill>
                  <a:srgbClr val="97A4B4"/>
                </a:solidFill>
                <a:latin typeface="Arial"/>
              </a:rPr>
              <a:t>. You interact with a picture of it; the real auth traffic to the IdP runs behind that picture and is captured on the way through.</a:t>
            </a:r>
          </a:p>
        </p:txBody>
      </p:sp>
      <p:sp>
        <p:nvSpPr>
          <p:cNvPr id="6" name="TextBox 5"/>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7" name="TextBox 6"/>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bitm · 07/24</a:t>
            </a:r>
          </a:p>
        </p:txBody>
      </p:sp>
      <p:pic>
        <p:nvPicPr>
          <p:cNvPr id="8" name="Picture 7" descr="what_you_see.png">
            <a:extLst>
              <a:ext uri="{FF2B5EF4-FFF2-40B4-BE49-F238E27FC236}">
                <a16:creationId xmlns:a16="http://schemas.microsoft.com/office/drawing/2014/main" id="{D3CFE606-19AF-9C0F-C8FE-606AD1ED4E2D}"/>
              </a:ext>
            </a:extLst>
          </p:cNvPr>
          <p:cNvPicPr>
            <a:picLocks noChangeAspect="1"/>
          </p:cNvPicPr>
          <p:nvPr/>
        </p:nvPicPr>
        <p:blipFill>
          <a:blip r:embed="rId3"/>
          <a:stretch>
            <a:fillRect/>
          </a:stretch>
        </p:blipFill>
        <p:spPr>
          <a:xfrm>
            <a:off x="883767" y="2194560"/>
            <a:ext cx="10424160" cy="413843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07 · the range</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The range: one tenant, one browser</a:t>
            </a:r>
          </a:p>
        </p:txBody>
      </p:sp>
      <p:sp>
        <p:nvSpPr>
          <p:cNvPr id="4" name="TextBox 3"/>
          <p:cNvSpPr txBox="1"/>
          <p:nvPr/>
        </p:nvSpPr>
        <p:spPr>
          <a:xfrm>
            <a:off x="502920" y="1600200"/>
            <a:ext cx="11155680" cy="549061"/>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400" b="0" dirty="0">
                <a:solidFill>
                  <a:srgbClr val="97A4B4"/>
                </a:solidFill>
                <a:latin typeface="Arial"/>
              </a:rPr>
              <a:t>A throwaway Entra tenant + a container you drive from the booth. Nothing here can be pointed at a real org </a:t>
            </a:r>
            <a:r>
              <a:rPr lang="en-US" sz="1400" b="0" dirty="0">
                <a:solidFill>
                  <a:srgbClr val="97A4B4"/>
                </a:solidFill>
                <a:latin typeface="Arial"/>
              </a:rPr>
              <a:t>-</a:t>
            </a:r>
            <a:r>
              <a:rPr sz="1400" b="0" dirty="0">
                <a:solidFill>
                  <a:srgbClr val="97A4B4"/>
                </a:solidFill>
                <a:latin typeface="Arial"/>
              </a:rPr>
              <a:t> that's enforced in code, not on a card.</a:t>
            </a:r>
          </a:p>
        </p:txBody>
      </p:sp>
      <p:sp>
        <p:nvSpPr>
          <p:cNvPr id="5" name="Rounded Rectangle 4"/>
          <p:cNvSpPr/>
          <p:nvPr/>
        </p:nvSpPr>
        <p:spPr>
          <a:xfrm>
            <a:off x="502920" y="2606040"/>
            <a:ext cx="5477255" cy="160020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Rectangle 5"/>
          <p:cNvSpPr/>
          <p:nvPr/>
        </p:nvSpPr>
        <p:spPr>
          <a:xfrm>
            <a:off x="502920" y="2606040"/>
            <a:ext cx="54864" cy="1600200"/>
          </a:xfrm>
          <a:prstGeom prst="rect">
            <a:avLst/>
          </a:prstGeom>
          <a:solidFill>
            <a:srgbClr val="56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7" name="TextBox 6"/>
          <p:cNvSpPr txBox="1"/>
          <p:nvPr/>
        </p:nvSpPr>
        <p:spPr>
          <a:xfrm>
            <a:off x="649224" y="2715768"/>
            <a:ext cx="5221223" cy="138074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the stack</a:t>
            </a:r>
          </a:p>
          <a:p>
            <a:pPr algn="l">
              <a:lnSpc>
                <a:spcPct val="118000"/>
              </a:lnSpc>
              <a:spcBef>
                <a:spcPts val="0"/>
              </a:spcBef>
              <a:spcAft>
                <a:spcPts val="600"/>
              </a:spcAft>
            </a:pPr>
            <a:r>
              <a:rPr sz="1250" b="0" dirty="0">
                <a:solidFill>
                  <a:srgbClr val="97A4B4"/>
                </a:solidFill>
                <a:latin typeface="Arial"/>
              </a:rPr>
              <a:t>docker-compose: the app (hosted session :8091 · dashboard :8092 · BITM :3128) behind nginx. docker compose up and go.</a:t>
            </a:r>
          </a:p>
        </p:txBody>
      </p:sp>
      <p:sp>
        <p:nvSpPr>
          <p:cNvPr id="8" name="Rounded Rectangle 7"/>
          <p:cNvSpPr/>
          <p:nvPr/>
        </p:nvSpPr>
        <p:spPr>
          <a:xfrm>
            <a:off x="6181343" y="2606040"/>
            <a:ext cx="5477255" cy="160020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9" name="Rectangle 8"/>
          <p:cNvSpPr/>
          <p:nvPr/>
        </p:nvSpPr>
        <p:spPr>
          <a:xfrm>
            <a:off x="6181343" y="2606040"/>
            <a:ext cx="54864" cy="160020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0" name="TextBox 9"/>
          <p:cNvSpPr txBox="1"/>
          <p:nvPr/>
        </p:nvSpPr>
        <p:spPr>
          <a:xfrm>
            <a:off x="6327647" y="2715768"/>
            <a:ext cx="5221223" cy="964303"/>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the tenant</a:t>
            </a:r>
          </a:p>
          <a:p>
            <a:pPr algn="l">
              <a:lnSpc>
                <a:spcPct val="118000"/>
              </a:lnSpc>
              <a:spcBef>
                <a:spcPts val="0"/>
              </a:spcBef>
              <a:spcAft>
                <a:spcPts val="600"/>
              </a:spcAft>
            </a:pPr>
            <a:r>
              <a:rPr sz="1250" b="0" dirty="0">
                <a:solidFill>
                  <a:srgbClr val="97A4B4"/>
                </a:solidFill>
                <a:latin typeface="Arial"/>
              </a:rPr>
              <a:t>Dedicated M365 dev tenant: phishing-resistant MFA on the interactive leg, the device-code / DRS grant left relaxed the seam. Wiped after the show.</a:t>
            </a:r>
          </a:p>
        </p:txBody>
      </p:sp>
      <p:sp>
        <p:nvSpPr>
          <p:cNvPr id="11" name="Rounded Rectangle 10"/>
          <p:cNvSpPr/>
          <p:nvPr/>
        </p:nvSpPr>
        <p:spPr>
          <a:xfrm>
            <a:off x="502920" y="4370832"/>
            <a:ext cx="5477255" cy="160020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Rectangle 11"/>
          <p:cNvSpPr/>
          <p:nvPr/>
        </p:nvSpPr>
        <p:spPr>
          <a:xfrm>
            <a:off x="502920" y="4370832"/>
            <a:ext cx="54864" cy="1600200"/>
          </a:xfrm>
          <a:prstGeom prst="rect">
            <a:avLst/>
          </a:prstGeom>
          <a:solidFill>
            <a:srgbClr val="4ED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3" name="TextBox 12"/>
          <p:cNvSpPr txBox="1"/>
          <p:nvPr/>
        </p:nvSpPr>
        <p:spPr>
          <a:xfrm>
            <a:off x="649224" y="4480560"/>
            <a:ext cx="5221223" cy="737318"/>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guardrails</a:t>
            </a:r>
          </a:p>
          <a:p>
            <a:pPr algn="l">
              <a:lnSpc>
                <a:spcPct val="118000"/>
              </a:lnSpc>
              <a:spcBef>
                <a:spcPts val="0"/>
              </a:spcBef>
              <a:spcAft>
                <a:spcPts val="600"/>
              </a:spcAft>
            </a:pPr>
            <a:r>
              <a:rPr sz="1250" b="0" dirty="0">
                <a:solidFill>
                  <a:srgbClr val="97A4B4"/>
                </a:solidFill>
                <a:latin typeface="Arial"/>
              </a:rPr>
              <a:t>proxy_allowed_hosts + phantom_join_allowed_domains the shared instance can only ever hit the lab tenant.</a:t>
            </a:r>
          </a:p>
        </p:txBody>
      </p:sp>
      <p:sp>
        <p:nvSpPr>
          <p:cNvPr id="14" name="Rounded Rectangle 13"/>
          <p:cNvSpPr/>
          <p:nvPr/>
        </p:nvSpPr>
        <p:spPr>
          <a:xfrm>
            <a:off x="6181343" y="4370832"/>
            <a:ext cx="5477255" cy="160020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5" name="Rectangle 14"/>
          <p:cNvSpPr/>
          <p:nvPr/>
        </p:nvSpPr>
        <p:spPr>
          <a:xfrm>
            <a:off x="6181343" y="4370832"/>
            <a:ext cx="54864" cy="160020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6" name="TextBox 15"/>
          <p:cNvSpPr txBox="1"/>
          <p:nvPr/>
        </p:nvSpPr>
        <p:spPr>
          <a:xfrm>
            <a:off x="6327647" y="4480560"/>
            <a:ext cx="5221223" cy="737318"/>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try it yourself</a:t>
            </a:r>
          </a:p>
          <a:p>
            <a:pPr algn="l">
              <a:lnSpc>
                <a:spcPct val="118000"/>
              </a:lnSpc>
              <a:spcBef>
                <a:spcPts val="0"/>
              </a:spcBef>
              <a:spcAft>
                <a:spcPts val="600"/>
              </a:spcAft>
            </a:pPr>
            <a:r>
              <a:rPr sz="1250" b="0" dirty="0">
                <a:solidFill>
                  <a:srgbClr val="97A4B4"/>
                </a:solidFill>
                <a:latin typeface="Arial"/>
              </a:rPr>
              <a:t>Same image runs against your tenant, under your authorization </a:t>
            </a:r>
            <a:r>
              <a:rPr lang="en-US" sz="1250" b="0" dirty="0">
                <a:solidFill>
                  <a:srgbClr val="97A4B4"/>
                </a:solidFill>
                <a:latin typeface="Arial"/>
              </a:rPr>
              <a:t>- </a:t>
            </a:r>
            <a:r>
              <a:rPr sz="1250" b="0" dirty="0">
                <a:solidFill>
                  <a:srgbClr val="97A4B4"/>
                </a:solidFill>
                <a:latin typeface="Arial"/>
              </a:rPr>
              <a:t>not the shared booth box.</a:t>
            </a:r>
          </a:p>
        </p:txBody>
      </p:sp>
      <p:sp>
        <p:nvSpPr>
          <p:cNvPr id="17" name="TextBox 16"/>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18" name="TextBox 17"/>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range · 08/24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assumptions</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What the lab assumes</a:t>
            </a:r>
          </a:p>
        </p:txBody>
      </p:sp>
      <p:sp>
        <p:nvSpPr>
          <p:cNvPr id="4" name="TextBox 3"/>
          <p:cNvSpPr txBox="1"/>
          <p:nvPr/>
        </p:nvSpPr>
        <p:spPr>
          <a:xfrm>
            <a:off x="502920" y="1572768"/>
            <a:ext cx="11155680" cy="549061"/>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400" b="0" dirty="0">
                <a:solidFill>
                  <a:srgbClr val="97A4B4"/>
                </a:solidFill>
                <a:latin typeface="Arial"/>
              </a:rPr>
              <a:t>This isn't a zero-config break. The chain completes because the demo tenant's Conditional Access has an </a:t>
            </a:r>
            <a:r>
              <a:rPr sz="1400" b="0" dirty="0">
                <a:solidFill>
                  <a:srgbClr val="E7B84B"/>
                </a:solidFill>
                <a:latin typeface="Arial"/>
              </a:rPr>
              <a:t>MFA relaxation</a:t>
            </a:r>
            <a:r>
              <a:rPr sz="1400" b="0" dirty="0">
                <a:solidFill>
                  <a:srgbClr val="97A4B4"/>
                </a:solidFill>
                <a:latin typeface="Arial"/>
              </a:rPr>
              <a:t> on the grant it rides </a:t>
            </a:r>
            <a:r>
              <a:rPr lang="en-US" sz="1400" b="0" dirty="0">
                <a:solidFill>
                  <a:srgbClr val="97A4B4"/>
                </a:solidFill>
                <a:latin typeface="Arial"/>
              </a:rPr>
              <a:t>- a </a:t>
            </a:r>
            <a:r>
              <a:rPr sz="1400" b="0" dirty="0">
                <a:solidFill>
                  <a:srgbClr val="97A4B4"/>
                </a:solidFill>
                <a:latin typeface="Arial"/>
              </a:rPr>
              <a:t>gap that shows up in real tenants for mundane, well-meaning reasons.</a:t>
            </a:r>
            <a:endParaRPr lang="en-US" sz="1400" b="0" dirty="0">
              <a:solidFill>
                <a:srgbClr val="97A4B4"/>
              </a:solidFill>
              <a:latin typeface="Arial"/>
            </a:endParaRPr>
          </a:p>
        </p:txBody>
      </p:sp>
      <p:sp>
        <p:nvSpPr>
          <p:cNvPr id="5" name="Rounded Rectangle 4"/>
          <p:cNvSpPr/>
          <p:nvPr/>
        </p:nvSpPr>
        <p:spPr>
          <a:xfrm>
            <a:off x="502920" y="2606040"/>
            <a:ext cx="3584448" cy="178308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Rectangle 5"/>
          <p:cNvSpPr/>
          <p:nvPr/>
        </p:nvSpPr>
        <p:spPr>
          <a:xfrm>
            <a:off x="502920" y="2606040"/>
            <a:ext cx="54864" cy="178308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7" name="TextBox 6"/>
          <p:cNvSpPr txBox="1"/>
          <p:nvPr/>
        </p:nvSpPr>
        <p:spPr>
          <a:xfrm>
            <a:off x="649224" y="2715768"/>
            <a:ext cx="3328415" cy="964303"/>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backwards compatibility</a:t>
            </a:r>
          </a:p>
          <a:p>
            <a:pPr algn="l">
              <a:lnSpc>
                <a:spcPct val="118000"/>
              </a:lnSpc>
              <a:spcBef>
                <a:spcPts val="0"/>
              </a:spcBef>
              <a:spcAft>
                <a:spcPts val="600"/>
              </a:spcAft>
            </a:pPr>
            <a:r>
              <a:rPr sz="1250" b="0" dirty="0">
                <a:solidFill>
                  <a:srgbClr val="97A4B4"/>
                </a:solidFill>
                <a:latin typeface="Arial"/>
              </a:rPr>
              <a:t>Legacy apps / protocols that can't do modern MFA get a CA exclusion </a:t>
            </a:r>
            <a:r>
              <a:rPr lang="en-US" sz="1250" b="0" dirty="0">
                <a:solidFill>
                  <a:srgbClr val="97A4B4"/>
                </a:solidFill>
                <a:latin typeface="Arial"/>
              </a:rPr>
              <a:t>-</a:t>
            </a:r>
            <a:r>
              <a:rPr sz="1250" b="0" dirty="0">
                <a:solidFill>
                  <a:srgbClr val="97A4B4"/>
                </a:solidFill>
                <a:latin typeface="Arial"/>
              </a:rPr>
              <a:t> and that carve-out leaks onto grants it was never meant to cover.</a:t>
            </a:r>
          </a:p>
        </p:txBody>
      </p:sp>
      <p:sp>
        <p:nvSpPr>
          <p:cNvPr id="8" name="Rounded Rectangle 7"/>
          <p:cNvSpPr/>
          <p:nvPr/>
        </p:nvSpPr>
        <p:spPr>
          <a:xfrm>
            <a:off x="4288536" y="2606040"/>
            <a:ext cx="3584448" cy="178308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9" name="Rectangle 8"/>
          <p:cNvSpPr/>
          <p:nvPr/>
        </p:nvSpPr>
        <p:spPr>
          <a:xfrm>
            <a:off x="4288536" y="2606040"/>
            <a:ext cx="54864" cy="178308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0" name="TextBox 9"/>
          <p:cNvSpPr txBox="1"/>
          <p:nvPr/>
        </p:nvSpPr>
        <p:spPr>
          <a:xfrm>
            <a:off x="4434840" y="2715768"/>
            <a:ext cx="3328415" cy="156362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MFA device migration</a:t>
            </a:r>
          </a:p>
          <a:p>
            <a:pPr algn="l">
              <a:lnSpc>
                <a:spcPct val="118000"/>
              </a:lnSpc>
              <a:spcBef>
                <a:spcPts val="0"/>
              </a:spcBef>
              <a:spcAft>
                <a:spcPts val="600"/>
              </a:spcAft>
            </a:pPr>
            <a:r>
              <a:rPr sz="1250" b="0" dirty="0">
                <a:solidFill>
                  <a:srgbClr val="97A4B4"/>
                </a:solidFill>
                <a:latin typeface="Arial"/>
              </a:rPr>
              <a:t>Temporary bypass windows (TAP, exclusion groups) while users re-enroll authenticators. That window is exactly the seam.</a:t>
            </a:r>
          </a:p>
        </p:txBody>
      </p:sp>
      <p:sp>
        <p:nvSpPr>
          <p:cNvPr id="11" name="Rounded Rectangle 10"/>
          <p:cNvSpPr/>
          <p:nvPr/>
        </p:nvSpPr>
        <p:spPr>
          <a:xfrm>
            <a:off x="8074152" y="2606040"/>
            <a:ext cx="3584448" cy="178308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Rectangle 11"/>
          <p:cNvSpPr/>
          <p:nvPr/>
        </p:nvSpPr>
        <p:spPr>
          <a:xfrm>
            <a:off x="8074152" y="2606040"/>
            <a:ext cx="54864" cy="178308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3" name="TextBox 12"/>
          <p:cNvSpPr txBox="1"/>
          <p:nvPr/>
        </p:nvSpPr>
        <p:spPr>
          <a:xfrm>
            <a:off x="8220456" y="2715768"/>
            <a:ext cx="3328415" cy="964367"/>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per-app / per-site rules</a:t>
            </a:r>
          </a:p>
          <a:p>
            <a:pPr algn="l">
              <a:lnSpc>
                <a:spcPct val="118000"/>
              </a:lnSpc>
              <a:spcBef>
                <a:spcPts val="0"/>
              </a:spcBef>
              <a:spcAft>
                <a:spcPts val="600"/>
              </a:spcAft>
            </a:pPr>
            <a:r>
              <a:rPr sz="1250" b="0" dirty="0">
                <a:solidFill>
                  <a:srgbClr val="97A4B4"/>
                </a:solidFill>
                <a:latin typeface="Arial"/>
              </a:rPr>
              <a:t>Different CA policies for different cloud apps. Pick the resource governed by the weakest one </a:t>
            </a:r>
            <a:r>
              <a:rPr lang="en-US" sz="1250" b="0" dirty="0">
                <a:solidFill>
                  <a:srgbClr val="97A4B4"/>
                </a:solidFill>
                <a:latin typeface="Arial"/>
              </a:rPr>
              <a:t>-</a:t>
            </a:r>
            <a:r>
              <a:rPr sz="1250" b="0" dirty="0">
                <a:solidFill>
                  <a:srgbClr val="97A4B4"/>
                </a:solidFill>
                <a:latin typeface="Arial"/>
              </a:rPr>
              <a:t> or by none at all.</a:t>
            </a:r>
          </a:p>
        </p:txBody>
      </p:sp>
      <p:sp>
        <p:nvSpPr>
          <p:cNvPr id="14" name="Rounded Rectangle 13"/>
          <p:cNvSpPr/>
          <p:nvPr/>
        </p:nvSpPr>
        <p:spPr>
          <a:xfrm>
            <a:off x="502920" y="4892040"/>
            <a:ext cx="11155680" cy="658368"/>
          </a:xfrm>
          <a:prstGeom prst="roundRect">
            <a:avLst>
              <a:gd name="adj" fmla="val 6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5" name="TextBox 14"/>
          <p:cNvSpPr txBox="1"/>
          <p:nvPr/>
        </p:nvSpPr>
        <p:spPr>
          <a:xfrm>
            <a:off x="667512" y="4969968"/>
            <a:ext cx="10826496" cy="502510"/>
          </a:xfrm>
          <a:prstGeom prst="rect">
            <a:avLst/>
          </a:prstGeom>
          <a:noFill/>
        </p:spPr>
        <p:txBody>
          <a:bodyPr wrap="square" lIns="36576" tIns="18288" rIns="36576" bIns="18288" anchor="ctr">
            <a:spAutoFit/>
          </a:bodyPr>
          <a:lstStyle/>
          <a:p>
            <a:pPr algn="l">
              <a:lnSpc>
                <a:spcPct val="120000"/>
              </a:lnSpc>
              <a:spcBef>
                <a:spcPts val="0"/>
              </a:spcBef>
              <a:spcAft>
                <a:spcPts val="600"/>
              </a:spcAft>
            </a:pPr>
            <a:r>
              <a:rPr sz="1250" b="0" dirty="0">
                <a:solidFill>
                  <a:srgbClr val="E7B84B"/>
                </a:solidFill>
                <a:latin typeface="Arial"/>
              </a:rPr>
              <a:t>// honest</a:t>
            </a:r>
            <a:r>
              <a:rPr lang="en-US" sz="1250" b="0" dirty="0">
                <a:solidFill>
                  <a:srgbClr val="E7B84B"/>
                </a:solidFill>
                <a:latin typeface="Arial"/>
              </a:rPr>
              <a:t>: </a:t>
            </a:r>
            <a:r>
              <a:rPr sz="1250" b="0" dirty="0">
                <a:solidFill>
                  <a:srgbClr val="97A4B4"/>
                </a:solidFill>
                <a:latin typeface="Arial"/>
              </a:rPr>
              <a:t>where CA truly covers </a:t>
            </a:r>
            <a:r>
              <a:rPr sz="1250" b="0" dirty="0">
                <a:solidFill>
                  <a:srgbClr val="4ED16B"/>
                </a:solidFill>
                <a:latin typeface="Arial"/>
              </a:rPr>
              <a:t>every</a:t>
            </a:r>
            <a:r>
              <a:rPr sz="1250" b="0" dirty="0">
                <a:solidFill>
                  <a:srgbClr val="97A4B4"/>
                </a:solidFill>
                <a:latin typeface="Arial"/>
              </a:rPr>
              <a:t> grant with authentication strength, the chain dead-ends: the PRT→Graph exchange gets an </a:t>
            </a:r>
            <a:r>
              <a:rPr sz="1250" b="0" dirty="0">
                <a:solidFill>
                  <a:srgbClr val="FF5A45"/>
                </a:solidFill>
                <a:latin typeface="Arial"/>
              </a:rPr>
              <a:t>AADSTS50076</a:t>
            </a:r>
            <a:r>
              <a:rPr sz="1250" b="0" dirty="0">
                <a:solidFill>
                  <a:srgbClr val="97A4B4"/>
                </a:solidFill>
                <a:latin typeface="Arial"/>
              </a:rPr>
              <a:t> MFA block. This is a </a:t>
            </a:r>
            <a:r>
              <a:rPr sz="1250" b="0" dirty="0">
                <a:solidFill>
                  <a:srgbClr val="E7B84B"/>
                </a:solidFill>
                <a:latin typeface="Arial"/>
              </a:rPr>
              <a:t>coverage-gap</a:t>
            </a:r>
            <a:r>
              <a:rPr sz="1250" b="0" dirty="0">
                <a:solidFill>
                  <a:srgbClr val="97A4B4"/>
                </a:solidFill>
                <a:latin typeface="Arial"/>
              </a:rPr>
              <a:t> attack, </a:t>
            </a:r>
            <a:r>
              <a:rPr sz="1400" b="0" dirty="0">
                <a:solidFill>
                  <a:srgbClr val="FF0000"/>
                </a:solidFill>
                <a:latin typeface="Arial"/>
              </a:rPr>
              <a:t>not an MFA break.</a:t>
            </a:r>
            <a:endParaRPr sz="1250" b="0" dirty="0">
              <a:solidFill>
                <a:srgbClr val="FF0000"/>
              </a:solidFill>
              <a:latin typeface="Arial"/>
            </a:endParaRPr>
          </a:p>
        </p:txBody>
      </p:sp>
      <p:sp>
        <p:nvSpPr>
          <p:cNvPr id="16" name="TextBox 15"/>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17" name="TextBox 16"/>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assumptions · 09/24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0" tIns="0" rIns="0" bIns="0" anchor="t">
            <a:spAutoFit/>
          </a:bodyPr>
          <a:lstStyle/>
          <a:p>
            <a:pPr algn="l"/>
            <a:r>
              <a:rPr sz="1300" b="0" dirty="0">
                <a:solidFill>
                  <a:srgbClr val="E7B84B"/>
                </a:solidFill>
                <a:latin typeface="Courier New"/>
              </a:rPr>
              <a:t>// the gap · conditional access</a:t>
            </a:r>
          </a:p>
        </p:txBody>
      </p:sp>
      <p:sp>
        <p:nvSpPr>
          <p:cNvPr id="3" name="TextBox 2"/>
          <p:cNvSpPr txBox="1"/>
          <p:nvPr/>
        </p:nvSpPr>
        <p:spPr>
          <a:xfrm>
            <a:off x="502920" y="713232"/>
            <a:ext cx="11155680" cy="1097280"/>
          </a:xfrm>
          <a:prstGeom prst="rect">
            <a:avLst/>
          </a:prstGeom>
          <a:noFill/>
        </p:spPr>
        <p:txBody>
          <a:bodyPr wrap="square" lIns="0" tIns="0" rIns="0" bIns="0" anchor="t">
            <a:spAutoFit/>
          </a:bodyPr>
          <a:lstStyle/>
          <a:p>
            <a:pPr algn="l"/>
            <a:r>
              <a:rPr sz="3000" b="1" dirty="0">
                <a:solidFill>
                  <a:srgbClr val="E6EDF3"/>
                </a:solidFill>
                <a:latin typeface="Arial"/>
              </a:rPr>
              <a:t>iOS / Android skip MFA on My Account</a:t>
            </a:r>
          </a:p>
        </p:txBody>
      </p:sp>
      <p:sp>
        <p:nvSpPr>
          <p:cNvPr id="4" name="TextBox 3"/>
          <p:cNvSpPr txBox="1"/>
          <p:nvPr/>
        </p:nvSpPr>
        <p:spPr>
          <a:xfrm>
            <a:off x="502920" y="1572768"/>
            <a:ext cx="11155680" cy="646331"/>
          </a:xfrm>
          <a:prstGeom prst="rect">
            <a:avLst/>
          </a:prstGeom>
          <a:noFill/>
        </p:spPr>
        <p:txBody>
          <a:bodyPr wrap="square" lIns="0" tIns="0" rIns="0" bIns="0" anchor="t">
            <a:spAutoFit/>
          </a:bodyPr>
          <a:lstStyle/>
          <a:p>
            <a:pPr algn="l"/>
            <a:r>
              <a:rPr sz="1400" b="0" dirty="0">
                <a:solidFill>
                  <a:srgbClr val="E7B84B"/>
                </a:solidFill>
                <a:latin typeface="Arial"/>
              </a:rPr>
              <a:t>myaccount.microsoft.com</a:t>
            </a:r>
            <a:r>
              <a:rPr sz="1400" b="0" dirty="0">
                <a:solidFill>
                  <a:srgbClr val="97A4B4"/>
                </a:solidFill>
                <a:latin typeface="Arial"/>
              </a:rPr>
              <a:t> </a:t>
            </a:r>
            <a:r>
              <a:rPr lang="en-US" sz="1400" b="0" dirty="0">
                <a:solidFill>
                  <a:srgbClr val="97A4B4"/>
                </a:solidFill>
                <a:latin typeface="Arial"/>
              </a:rPr>
              <a:t>-</a:t>
            </a:r>
            <a:r>
              <a:rPr sz="1400" b="0" dirty="0">
                <a:solidFill>
                  <a:srgbClr val="97A4B4"/>
                </a:solidFill>
                <a:latin typeface="Arial"/>
              </a:rPr>
              <a:t> where a user manages passkeys, authenticators, and their own MFA methods </a:t>
            </a:r>
            <a:r>
              <a:rPr lang="en-US" sz="1400" b="0" dirty="0">
                <a:solidFill>
                  <a:srgbClr val="97A4B4"/>
                </a:solidFill>
                <a:latin typeface="Arial"/>
              </a:rPr>
              <a:t>-</a:t>
            </a:r>
            <a:r>
              <a:rPr sz="1400" b="0" dirty="0">
                <a:solidFill>
                  <a:srgbClr val="97A4B4"/>
                </a:solidFill>
                <a:latin typeface="Arial"/>
              </a:rPr>
              <a:t> requires MFA on Windows / macOS / web, but a device-platform condition leaves </a:t>
            </a:r>
            <a:r>
              <a:rPr sz="1400" b="0" dirty="0">
                <a:solidFill>
                  <a:srgbClr val="E7B84B"/>
                </a:solidFill>
                <a:latin typeface="Arial"/>
              </a:rPr>
              <a:t>iOS and Android out of scope</a:t>
            </a:r>
            <a:r>
              <a:rPr sz="1400" b="0" dirty="0">
                <a:solidFill>
                  <a:srgbClr val="97A4B4"/>
                </a:solidFill>
                <a:latin typeface="Arial"/>
              </a:rPr>
              <a:t>. A BYOD carve-out that quietly exposes the MFA-management surface itself.</a:t>
            </a:r>
          </a:p>
        </p:txBody>
      </p:sp>
      <p:sp>
        <p:nvSpPr>
          <p:cNvPr id="5" name="Rounded Rectangle 4"/>
          <p:cNvSpPr/>
          <p:nvPr/>
        </p:nvSpPr>
        <p:spPr>
          <a:xfrm>
            <a:off x="502920" y="2743200"/>
            <a:ext cx="2099462" cy="141732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Rounded Rectangle 5"/>
          <p:cNvSpPr/>
          <p:nvPr/>
        </p:nvSpPr>
        <p:spPr>
          <a:xfrm>
            <a:off x="502920" y="2743200"/>
            <a:ext cx="54864" cy="1417320"/>
          </a:xfrm>
          <a:prstGeom prst="roundRect">
            <a:avLst>
              <a:gd name="adj" fmla="val 5000"/>
            </a:avLst>
          </a:prstGeom>
          <a:solidFill>
            <a:srgbClr val="4ED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630936" y="2880360"/>
            <a:ext cx="1880006" cy="1143000"/>
          </a:xfrm>
          <a:prstGeom prst="rect">
            <a:avLst/>
          </a:prstGeom>
          <a:noFill/>
        </p:spPr>
        <p:txBody>
          <a:bodyPr wrap="square" lIns="0" tIns="0" rIns="0" bIns="0" anchor="ctr">
            <a:spAutoFit/>
          </a:bodyPr>
          <a:lstStyle/>
          <a:p>
            <a:pPr algn="ctr">
              <a:spcAft>
                <a:spcPts val="800"/>
              </a:spcAft>
            </a:pPr>
            <a:r>
              <a:rPr sz="1600" b="1" dirty="0">
                <a:solidFill>
                  <a:srgbClr val="E6EDF3"/>
                </a:solidFill>
                <a:latin typeface="Courier New"/>
              </a:rPr>
              <a:t>Windows</a:t>
            </a:r>
          </a:p>
          <a:p>
            <a:pPr algn="ctr">
              <a:spcAft>
                <a:spcPts val="400"/>
              </a:spcAft>
            </a:pPr>
            <a:r>
              <a:rPr sz="1200" b="0" dirty="0">
                <a:solidFill>
                  <a:srgbClr val="4ED16B"/>
                </a:solidFill>
                <a:latin typeface="Courier New"/>
              </a:rPr>
              <a:t>✓ MFA required</a:t>
            </a:r>
          </a:p>
        </p:txBody>
      </p:sp>
      <p:sp>
        <p:nvSpPr>
          <p:cNvPr id="8" name="Rounded Rectangle 7"/>
          <p:cNvSpPr/>
          <p:nvPr/>
        </p:nvSpPr>
        <p:spPr>
          <a:xfrm>
            <a:off x="2766974" y="2743200"/>
            <a:ext cx="2099462" cy="141732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ounded Rectangle 8"/>
          <p:cNvSpPr/>
          <p:nvPr/>
        </p:nvSpPr>
        <p:spPr>
          <a:xfrm>
            <a:off x="2766974" y="2743200"/>
            <a:ext cx="54864" cy="1417320"/>
          </a:xfrm>
          <a:prstGeom prst="roundRect">
            <a:avLst>
              <a:gd name="adj" fmla="val 5000"/>
            </a:avLst>
          </a:prstGeom>
          <a:solidFill>
            <a:srgbClr val="4ED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2894990" y="2880360"/>
            <a:ext cx="1880006" cy="1143000"/>
          </a:xfrm>
          <a:prstGeom prst="rect">
            <a:avLst/>
          </a:prstGeom>
          <a:noFill/>
        </p:spPr>
        <p:txBody>
          <a:bodyPr wrap="square" lIns="0" tIns="0" rIns="0" bIns="0" anchor="ctr">
            <a:spAutoFit/>
          </a:bodyPr>
          <a:lstStyle/>
          <a:p>
            <a:pPr algn="ctr">
              <a:spcAft>
                <a:spcPts val="800"/>
              </a:spcAft>
            </a:pPr>
            <a:r>
              <a:rPr sz="1600" b="1" dirty="0">
                <a:solidFill>
                  <a:srgbClr val="E6EDF3"/>
                </a:solidFill>
                <a:latin typeface="Courier New"/>
              </a:rPr>
              <a:t>macOS</a:t>
            </a:r>
          </a:p>
          <a:p>
            <a:pPr algn="ctr">
              <a:spcAft>
                <a:spcPts val="400"/>
              </a:spcAft>
            </a:pPr>
            <a:r>
              <a:rPr sz="1200" b="0" dirty="0">
                <a:solidFill>
                  <a:srgbClr val="4ED16B"/>
                </a:solidFill>
                <a:latin typeface="Courier New"/>
              </a:rPr>
              <a:t>✓ MFA required</a:t>
            </a:r>
          </a:p>
        </p:txBody>
      </p:sp>
      <p:sp>
        <p:nvSpPr>
          <p:cNvPr id="11" name="Rounded Rectangle 10"/>
          <p:cNvSpPr/>
          <p:nvPr/>
        </p:nvSpPr>
        <p:spPr>
          <a:xfrm>
            <a:off x="5031028" y="2743200"/>
            <a:ext cx="2099462" cy="141732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ounded Rectangle 11"/>
          <p:cNvSpPr/>
          <p:nvPr/>
        </p:nvSpPr>
        <p:spPr>
          <a:xfrm>
            <a:off x="5031028" y="2743200"/>
            <a:ext cx="54864" cy="1417320"/>
          </a:xfrm>
          <a:prstGeom prst="roundRect">
            <a:avLst>
              <a:gd name="adj" fmla="val 5000"/>
            </a:avLst>
          </a:prstGeom>
          <a:solidFill>
            <a:srgbClr val="4ED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5159044" y="2880360"/>
            <a:ext cx="1880006" cy="1143000"/>
          </a:xfrm>
          <a:prstGeom prst="rect">
            <a:avLst/>
          </a:prstGeom>
          <a:noFill/>
        </p:spPr>
        <p:txBody>
          <a:bodyPr wrap="square" lIns="0" tIns="0" rIns="0" bIns="0" anchor="ctr">
            <a:spAutoFit/>
          </a:bodyPr>
          <a:lstStyle/>
          <a:p>
            <a:pPr algn="ctr">
              <a:spcAft>
                <a:spcPts val="800"/>
              </a:spcAft>
            </a:pPr>
            <a:r>
              <a:rPr sz="1600" b="1" dirty="0">
                <a:solidFill>
                  <a:srgbClr val="E6EDF3"/>
                </a:solidFill>
                <a:latin typeface="Courier New"/>
              </a:rPr>
              <a:t>Web</a:t>
            </a:r>
          </a:p>
          <a:p>
            <a:pPr algn="ctr">
              <a:spcAft>
                <a:spcPts val="400"/>
              </a:spcAft>
            </a:pPr>
            <a:r>
              <a:rPr sz="1200" b="0" dirty="0">
                <a:solidFill>
                  <a:srgbClr val="4ED16B"/>
                </a:solidFill>
                <a:latin typeface="Courier New"/>
              </a:rPr>
              <a:t>✓ MFA required</a:t>
            </a:r>
          </a:p>
        </p:txBody>
      </p:sp>
      <p:sp>
        <p:nvSpPr>
          <p:cNvPr id="14" name="Rounded Rectangle 13"/>
          <p:cNvSpPr/>
          <p:nvPr/>
        </p:nvSpPr>
        <p:spPr>
          <a:xfrm>
            <a:off x="7295083" y="2743200"/>
            <a:ext cx="2099462" cy="141732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Rounded Rectangle 14"/>
          <p:cNvSpPr/>
          <p:nvPr/>
        </p:nvSpPr>
        <p:spPr>
          <a:xfrm>
            <a:off x="7295083" y="2743200"/>
            <a:ext cx="54864" cy="1417320"/>
          </a:xfrm>
          <a:prstGeom prst="roundRect">
            <a:avLst>
              <a:gd name="adj" fmla="val 5000"/>
            </a:avLst>
          </a:prstGeom>
          <a:solidFill>
            <a:srgbClr val="FF5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TextBox 15"/>
          <p:cNvSpPr txBox="1"/>
          <p:nvPr/>
        </p:nvSpPr>
        <p:spPr>
          <a:xfrm>
            <a:off x="7423099" y="2880360"/>
            <a:ext cx="1880006" cy="1143000"/>
          </a:xfrm>
          <a:prstGeom prst="rect">
            <a:avLst/>
          </a:prstGeom>
          <a:noFill/>
        </p:spPr>
        <p:txBody>
          <a:bodyPr wrap="square" lIns="0" tIns="0" rIns="0" bIns="0" anchor="ctr">
            <a:spAutoFit/>
          </a:bodyPr>
          <a:lstStyle/>
          <a:p>
            <a:pPr algn="ctr">
              <a:spcAft>
                <a:spcPts val="800"/>
              </a:spcAft>
            </a:pPr>
            <a:r>
              <a:rPr sz="1600" b="1" dirty="0">
                <a:solidFill>
                  <a:srgbClr val="E6EDF3"/>
                </a:solidFill>
                <a:latin typeface="Courier New"/>
              </a:rPr>
              <a:t>iOS</a:t>
            </a:r>
          </a:p>
          <a:p>
            <a:pPr algn="ctr">
              <a:spcAft>
                <a:spcPts val="400"/>
              </a:spcAft>
            </a:pPr>
            <a:r>
              <a:rPr sz="1200" b="0" dirty="0">
                <a:solidFill>
                  <a:srgbClr val="FF5A45"/>
                </a:solidFill>
                <a:latin typeface="Courier New"/>
              </a:rPr>
              <a:t>✗ MFA skipped</a:t>
            </a:r>
          </a:p>
          <a:p>
            <a:pPr algn="ctr"/>
            <a:r>
              <a:rPr sz="1000" b="1" dirty="0">
                <a:solidFill>
                  <a:srgbClr val="FF5A45"/>
                </a:solidFill>
                <a:latin typeface="Courier New"/>
              </a:rPr>
              <a:t>← the gap</a:t>
            </a:r>
          </a:p>
        </p:txBody>
      </p:sp>
      <p:sp>
        <p:nvSpPr>
          <p:cNvPr id="17" name="Rounded Rectangle 16"/>
          <p:cNvSpPr/>
          <p:nvPr/>
        </p:nvSpPr>
        <p:spPr>
          <a:xfrm>
            <a:off x="9559137" y="2743200"/>
            <a:ext cx="2099462" cy="141732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Rounded Rectangle 17"/>
          <p:cNvSpPr/>
          <p:nvPr/>
        </p:nvSpPr>
        <p:spPr>
          <a:xfrm>
            <a:off x="9559137" y="2743200"/>
            <a:ext cx="54864" cy="1417320"/>
          </a:xfrm>
          <a:prstGeom prst="roundRect">
            <a:avLst>
              <a:gd name="adj" fmla="val 5000"/>
            </a:avLst>
          </a:prstGeom>
          <a:solidFill>
            <a:srgbClr val="FF5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TextBox 18"/>
          <p:cNvSpPr txBox="1"/>
          <p:nvPr/>
        </p:nvSpPr>
        <p:spPr>
          <a:xfrm>
            <a:off x="9687153" y="2880360"/>
            <a:ext cx="1880006" cy="1143000"/>
          </a:xfrm>
          <a:prstGeom prst="rect">
            <a:avLst/>
          </a:prstGeom>
          <a:noFill/>
        </p:spPr>
        <p:txBody>
          <a:bodyPr wrap="square" lIns="0" tIns="0" rIns="0" bIns="0" anchor="ctr">
            <a:spAutoFit/>
          </a:bodyPr>
          <a:lstStyle/>
          <a:p>
            <a:pPr algn="ctr">
              <a:spcAft>
                <a:spcPts val="800"/>
              </a:spcAft>
            </a:pPr>
            <a:r>
              <a:rPr sz="1600" b="1" dirty="0">
                <a:solidFill>
                  <a:srgbClr val="E6EDF3"/>
                </a:solidFill>
                <a:latin typeface="Courier New"/>
              </a:rPr>
              <a:t>Android</a:t>
            </a:r>
          </a:p>
          <a:p>
            <a:pPr algn="ctr">
              <a:spcAft>
                <a:spcPts val="400"/>
              </a:spcAft>
            </a:pPr>
            <a:r>
              <a:rPr sz="1200" b="0" dirty="0">
                <a:solidFill>
                  <a:srgbClr val="FF5A45"/>
                </a:solidFill>
                <a:latin typeface="Courier New"/>
              </a:rPr>
              <a:t>✗ MFA skipped</a:t>
            </a:r>
          </a:p>
          <a:p>
            <a:pPr algn="ctr"/>
            <a:r>
              <a:rPr sz="1000" b="1" dirty="0">
                <a:solidFill>
                  <a:srgbClr val="FF5A45"/>
                </a:solidFill>
                <a:latin typeface="Courier New"/>
              </a:rPr>
              <a:t>← the gap</a:t>
            </a:r>
          </a:p>
        </p:txBody>
      </p:sp>
      <p:sp>
        <p:nvSpPr>
          <p:cNvPr id="20" name="TextBox 19"/>
          <p:cNvSpPr txBox="1"/>
          <p:nvPr/>
        </p:nvSpPr>
        <p:spPr>
          <a:xfrm>
            <a:off x="502920" y="4402668"/>
            <a:ext cx="11155680" cy="192360"/>
          </a:xfrm>
          <a:prstGeom prst="rect">
            <a:avLst/>
          </a:prstGeom>
          <a:noFill/>
        </p:spPr>
        <p:txBody>
          <a:bodyPr wrap="square" lIns="0" tIns="0" rIns="0" bIns="0" anchor="ctr">
            <a:spAutoFit/>
          </a:bodyPr>
          <a:lstStyle/>
          <a:p>
            <a:pPr algn="ctr"/>
            <a:r>
              <a:rPr sz="1250" b="0" dirty="0">
                <a:solidFill>
                  <a:srgbClr val="97A4B4"/>
                </a:solidFill>
                <a:latin typeface="Arial"/>
              </a:rPr>
              <a:t>One Conditional Access condition </a:t>
            </a:r>
            <a:r>
              <a:rPr lang="en-US" sz="1250" b="0" dirty="0">
                <a:solidFill>
                  <a:srgbClr val="97A4B4"/>
                </a:solidFill>
                <a:latin typeface="Arial"/>
              </a:rPr>
              <a:t>-</a:t>
            </a:r>
            <a:r>
              <a:rPr sz="1250" b="0" dirty="0">
                <a:solidFill>
                  <a:srgbClr val="97A4B4"/>
                </a:solidFill>
                <a:latin typeface="Arial"/>
              </a:rPr>
              <a:t> </a:t>
            </a:r>
            <a:r>
              <a:rPr sz="1250" b="0" dirty="0">
                <a:solidFill>
                  <a:srgbClr val="E6EDF3"/>
                </a:solidFill>
                <a:latin typeface="Arial"/>
              </a:rPr>
              <a:t>device platform</a:t>
            </a:r>
            <a:r>
              <a:rPr sz="1250" b="0" dirty="0">
                <a:solidFill>
                  <a:srgbClr val="97A4B4"/>
                </a:solidFill>
                <a:latin typeface="Arial"/>
              </a:rPr>
              <a:t> </a:t>
            </a:r>
            <a:r>
              <a:rPr lang="en-US" sz="1250" b="0" dirty="0">
                <a:solidFill>
                  <a:srgbClr val="97A4B4"/>
                </a:solidFill>
                <a:latin typeface="Arial"/>
              </a:rPr>
              <a:t>-</a:t>
            </a:r>
            <a:r>
              <a:rPr sz="1250" b="0" dirty="0">
                <a:solidFill>
                  <a:srgbClr val="97A4B4"/>
                </a:solidFill>
                <a:latin typeface="Arial"/>
              </a:rPr>
              <a:t> and two platforms fall out of MFA scope.</a:t>
            </a:r>
          </a:p>
        </p:txBody>
      </p:sp>
      <p:sp>
        <p:nvSpPr>
          <p:cNvPr id="21" name="Rounded Rectangle 20"/>
          <p:cNvSpPr/>
          <p:nvPr/>
        </p:nvSpPr>
        <p:spPr>
          <a:xfrm>
            <a:off x="502920" y="4892040"/>
            <a:ext cx="11155680" cy="822960"/>
          </a:xfrm>
          <a:prstGeom prst="roundRect">
            <a:avLst>
              <a:gd name="adj" fmla="val 3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TextBox 21"/>
          <p:cNvSpPr txBox="1"/>
          <p:nvPr/>
        </p:nvSpPr>
        <p:spPr>
          <a:xfrm>
            <a:off x="667512" y="5137142"/>
            <a:ext cx="10826496" cy="369332"/>
          </a:xfrm>
          <a:prstGeom prst="rect">
            <a:avLst/>
          </a:prstGeom>
          <a:noFill/>
        </p:spPr>
        <p:txBody>
          <a:bodyPr wrap="square" lIns="0" tIns="0" rIns="0" bIns="0" anchor="ctr">
            <a:spAutoFit/>
          </a:bodyPr>
          <a:lstStyle/>
          <a:p>
            <a:pPr algn="l"/>
            <a:r>
              <a:rPr sz="1200" b="0" dirty="0">
                <a:solidFill>
                  <a:srgbClr val="E7B84B"/>
                </a:solidFill>
                <a:latin typeface="Arial"/>
              </a:rPr>
              <a:t>// exploit</a:t>
            </a:r>
            <a:r>
              <a:rPr lang="en-US" sz="1200" b="0" dirty="0">
                <a:solidFill>
                  <a:srgbClr val="E7B84B"/>
                </a:solidFill>
                <a:latin typeface="Arial"/>
              </a:rPr>
              <a:t>: </a:t>
            </a:r>
            <a:r>
              <a:rPr sz="1200" b="0" dirty="0">
                <a:solidFill>
                  <a:srgbClr val="97A4B4"/>
                </a:solidFill>
                <a:latin typeface="Arial"/>
              </a:rPr>
              <a:t>present as an iOS / Android device (the tool's iPhone / Pixel device profiles, or a phantom device registered </a:t>
            </a:r>
            <a:r>
              <a:rPr sz="1200" b="0" dirty="0">
                <a:solidFill>
                  <a:srgbClr val="E6EDF3"/>
                </a:solidFill>
                <a:latin typeface="Arial"/>
              </a:rPr>
              <a:t>--device-type iOS</a:t>
            </a:r>
            <a:r>
              <a:rPr sz="1200" b="0" dirty="0">
                <a:solidFill>
                  <a:srgbClr val="97A4B4"/>
                </a:solidFill>
                <a:latin typeface="Arial"/>
              </a:rPr>
              <a:t>) and reach My Account MFA-free: read or rewrite the victim's </a:t>
            </a:r>
            <a:r>
              <a:rPr sz="1200" b="0" dirty="0">
                <a:solidFill>
                  <a:srgbClr val="FF5A45"/>
                </a:solidFill>
                <a:latin typeface="Arial"/>
              </a:rPr>
              <a:t>security info</a:t>
            </a:r>
            <a:r>
              <a:rPr sz="1200" b="0" dirty="0">
                <a:solidFill>
                  <a:srgbClr val="97A4B4"/>
                </a:solidFill>
                <a:latin typeface="Arial"/>
              </a:rPr>
              <a:t>, enroll your own authenticator, or register your own </a:t>
            </a:r>
            <a:r>
              <a:rPr sz="1200" b="0" dirty="0">
                <a:solidFill>
                  <a:srgbClr val="FF5A45"/>
                </a:solidFill>
                <a:latin typeface="Arial"/>
              </a:rPr>
              <a:t>passkey</a:t>
            </a:r>
            <a:r>
              <a:rPr sz="1200" b="0" dirty="0">
                <a:solidFill>
                  <a:srgbClr val="97A4B4"/>
                </a:solidFill>
                <a:latin typeface="Arial"/>
              </a:rPr>
              <a:t>. The gap sits on the portal that governs MFA itself.</a:t>
            </a:r>
          </a:p>
        </p:txBody>
      </p:sp>
      <p:sp>
        <p:nvSpPr>
          <p:cNvPr id="23" name="TextBox 22"/>
          <p:cNvSpPr txBox="1"/>
          <p:nvPr/>
        </p:nvSpPr>
        <p:spPr>
          <a:xfrm>
            <a:off x="502920" y="6419088"/>
            <a:ext cx="11155680" cy="320040"/>
          </a:xfrm>
          <a:prstGeom prst="rect">
            <a:avLst/>
          </a:prstGeom>
          <a:noFill/>
        </p:spPr>
        <p:txBody>
          <a:bodyPr wrap="square" lIns="0" tIns="0" rIns="0" bIns="0" anchor="t">
            <a:spAutoFit/>
          </a:bodyPr>
          <a:lstStyle/>
          <a:p>
            <a:pPr algn="l"/>
            <a:r>
              <a:rPr sz="1000" b="0" dirty="0">
                <a:solidFill>
                  <a:srgbClr val="5A6472"/>
                </a:solidFill>
                <a:latin typeface="Courier New"/>
              </a:rPr>
              <a:t>YOUR PASSKEYS WON'T SAVE YOU</a:t>
            </a:r>
          </a:p>
        </p:txBody>
      </p:sp>
      <p:sp>
        <p:nvSpPr>
          <p:cNvPr id="24" name="TextBox 23"/>
          <p:cNvSpPr txBox="1"/>
          <p:nvPr/>
        </p:nvSpPr>
        <p:spPr>
          <a:xfrm>
            <a:off x="502920" y="6419088"/>
            <a:ext cx="11155680" cy="320040"/>
          </a:xfrm>
          <a:prstGeom prst="rect">
            <a:avLst/>
          </a:prstGeom>
          <a:noFill/>
        </p:spPr>
        <p:txBody>
          <a:bodyPr wrap="square" lIns="0" tIns="0" rIns="0" bIns="0" anchor="t">
            <a:spAutoFit/>
          </a:bodyPr>
          <a:lstStyle/>
          <a:p>
            <a:pPr algn="r"/>
            <a:r>
              <a:rPr sz="1000" b="0" dirty="0">
                <a:solidFill>
                  <a:srgbClr val="5A6472"/>
                </a:solidFill>
                <a:latin typeface="Courier New"/>
              </a:rPr>
              <a:t>the gap · 10/24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9144000" cy="365760"/>
          </a:xfrm>
          <a:prstGeom prst="rect">
            <a:avLst/>
          </a:prstGeom>
          <a:noFill/>
        </p:spPr>
        <p:txBody>
          <a:bodyPr wrap="square" lIns="0" tIns="0" rIns="0" bIns="0" anchor="t">
            <a:spAutoFit/>
          </a:bodyPr>
          <a:lstStyle/>
          <a:p>
            <a:pPr algn="l"/>
            <a:r>
              <a:rPr sz="1300" b="0" dirty="0">
                <a:solidFill>
                  <a:srgbClr val="E7B84B"/>
                </a:solidFill>
                <a:latin typeface="Courier New"/>
              </a:rPr>
              <a:t>// arsenal · tokens &amp; grants</a:t>
            </a:r>
          </a:p>
        </p:txBody>
      </p:sp>
      <p:sp>
        <p:nvSpPr>
          <p:cNvPr id="3" name="TextBox 2"/>
          <p:cNvSpPr txBox="1"/>
          <p:nvPr/>
        </p:nvSpPr>
        <p:spPr>
          <a:xfrm>
            <a:off x="502920" y="713232"/>
            <a:ext cx="11155680" cy="914400"/>
          </a:xfrm>
          <a:prstGeom prst="rect">
            <a:avLst/>
          </a:prstGeom>
          <a:noFill/>
        </p:spPr>
        <p:txBody>
          <a:bodyPr wrap="square" lIns="0" tIns="0" rIns="0" bIns="0" anchor="t">
            <a:spAutoFit/>
          </a:bodyPr>
          <a:lstStyle/>
          <a:p>
            <a:pPr algn="l"/>
            <a:r>
              <a:rPr sz="3000" b="1" dirty="0">
                <a:solidFill>
                  <a:srgbClr val="E6EDF3"/>
                </a:solidFill>
                <a:latin typeface="Arial"/>
              </a:rPr>
              <a:t>Getting &amp; using tokens</a:t>
            </a:r>
          </a:p>
        </p:txBody>
      </p:sp>
      <p:sp>
        <p:nvSpPr>
          <p:cNvPr id="4" name="TextBox 3"/>
          <p:cNvSpPr txBox="1"/>
          <p:nvPr/>
        </p:nvSpPr>
        <p:spPr>
          <a:xfrm>
            <a:off x="502920" y="1572768"/>
            <a:ext cx="11155680" cy="430887"/>
          </a:xfrm>
          <a:prstGeom prst="rect">
            <a:avLst/>
          </a:prstGeom>
          <a:noFill/>
        </p:spPr>
        <p:txBody>
          <a:bodyPr wrap="square" lIns="0" tIns="0" rIns="0" bIns="0" anchor="t">
            <a:spAutoFit/>
          </a:bodyPr>
          <a:lstStyle/>
          <a:p>
            <a:pPr algn="l"/>
            <a:r>
              <a:rPr sz="1400" b="0" dirty="0">
                <a:solidFill>
                  <a:srgbClr val="97A4B4"/>
                </a:solidFill>
                <a:latin typeface="Arial"/>
              </a:rPr>
              <a:t>Beyond the browser-in-the-middle capture, the dashboard drives token-level attacks straight at the </a:t>
            </a:r>
            <a:r>
              <a:rPr sz="1400" b="0">
                <a:solidFill>
                  <a:srgbClr val="97A4B4"/>
                </a:solidFill>
                <a:latin typeface="Arial"/>
              </a:rPr>
              <a:t>tenant each </a:t>
            </a:r>
            <a:r>
              <a:rPr sz="1400" b="0" dirty="0">
                <a:solidFill>
                  <a:srgbClr val="97A4B4"/>
                </a:solidFill>
                <a:latin typeface="Arial"/>
              </a:rPr>
              <a:t>records a </a:t>
            </a:r>
            <a:r>
              <a:rPr sz="1400" b="0" dirty="0">
                <a:solidFill>
                  <a:srgbClr val="E7B84B"/>
                </a:solidFill>
                <a:latin typeface="Arial"/>
              </a:rPr>
              <a:t>🧪 flow trace</a:t>
            </a:r>
            <a:r>
              <a:rPr sz="1400" b="0" dirty="0">
                <a:solidFill>
                  <a:srgbClr val="97A4B4"/>
                </a:solidFill>
                <a:latin typeface="Arial"/>
              </a:rPr>
              <a:t> you can send to the local LLM.</a:t>
            </a:r>
          </a:p>
        </p:txBody>
      </p:sp>
      <p:sp>
        <p:nvSpPr>
          <p:cNvPr id="5" name="Rounded Rectangle 4"/>
          <p:cNvSpPr/>
          <p:nvPr/>
        </p:nvSpPr>
        <p:spPr>
          <a:xfrm>
            <a:off x="502920" y="2487168"/>
            <a:ext cx="3590543" cy="2487168"/>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Rounded Rectangle 5"/>
          <p:cNvSpPr/>
          <p:nvPr/>
        </p:nvSpPr>
        <p:spPr>
          <a:xfrm>
            <a:off x="502920" y="2487168"/>
            <a:ext cx="54864" cy="2487168"/>
          </a:xfrm>
          <a:prstGeom prst="roundRect">
            <a:avLst>
              <a:gd name="adj" fmla="val 5000"/>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685800" y="2633472"/>
            <a:ext cx="3261360" cy="2212848"/>
          </a:xfrm>
          <a:prstGeom prst="rect">
            <a:avLst/>
          </a:prstGeom>
          <a:noFill/>
        </p:spPr>
        <p:txBody>
          <a:bodyPr wrap="square" lIns="0" tIns="0" rIns="0" bIns="0" anchor="t">
            <a:spAutoFit/>
          </a:bodyPr>
          <a:lstStyle/>
          <a:p>
            <a:pPr algn="l">
              <a:spcAft>
                <a:spcPts val="700"/>
              </a:spcAft>
            </a:pPr>
            <a:r>
              <a:rPr sz="1400" b="1" dirty="0">
                <a:solidFill>
                  <a:srgbClr val="E6EDF3"/>
                </a:solidFill>
                <a:latin typeface="Courier New"/>
              </a:rPr>
              <a:t>ROPC · password grant</a:t>
            </a:r>
          </a:p>
          <a:p>
            <a:pPr algn="l"/>
            <a:r>
              <a:rPr sz="1250" b="0" dirty="0">
                <a:solidFill>
                  <a:srgbClr val="97A4B4"/>
                </a:solidFill>
                <a:latin typeface="Arial"/>
              </a:rPr>
              <a:t>POST user + password straight to /token (grant_type=password), skipping the interactive leg that CA often only guards. A 200 + access_token on an MFA-required account is an uncovered bypass; AADSTS50076 means the legacy grant was blocked.</a:t>
            </a:r>
          </a:p>
        </p:txBody>
      </p:sp>
      <p:sp>
        <p:nvSpPr>
          <p:cNvPr id="8" name="Rounded Rectangle 7"/>
          <p:cNvSpPr/>
          <p:nvPr/>
        </p:nvSpPr>
        <p:spPr>
          <a:xfrm>
            <a:off x="4285488" y="2487168"/>
            <a:ext cx="3590543" cy="2487168"/>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ounded Rectangle 8"/>
          <p:cNvSpPr/>
          <p:nvPr/>
        </p:nvSpPr>
        <p:spPr>
          <a:xfrm>
            <a:off x="4285488" y="2487168"/>
            <a:ext cx="54864" cy="2487168"/>
          </a:xfrm>
          <a:prstGeom prst="roundRect">
            <a:avLst>
              <a:gd name="adj" fmla="val 5000"/>
            </a:avLst>
          </a:prstGeom>
          <a:solidFill>
            <a:srgbClr val="56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4468368" y="2633472"/>
            <a:ext cx="3261360" cy="1267014"/>
          </a:xfrm>
          <a:prstGeom prst="rect">
            <a:avLst/>
          </a:prstGeom>
          <a:noFill/>
        </p:spPr>
        <p:txBody>
          <a:bodyPr wrap="square" lIns="0" tIns="0" rIns="0" bIns="0" anchor="t">
            <a:spAutoFit/>
          </a:bodyPr>
          <a:lstStyle/>
          <a:p>
            <a:pPr algn="l">
              <a:spcAft>
                <a:spcPts val="700"/>
              </a:spcAft>
            </a:pPr>
            <a:r>
              <a:rPr sz="1400" b="1" dirty="0">
                <a:solidFill>
                  <a:srgbClr val="E6EDF3"/>
                </a:solidFill>
                <a:latin typeface="Courier New"/>
              </a:rPr>
              <a:t>ADO PAT · persistence</a:t>
            </a:r>
          </a:p>
          <a:p>
            <a:pPr algn="l"/>
            <a:r>
              <a:rPr sz="1250" b="0" dirty="0">
                <a:solidFill>
                  <a:srgbClr val="97A4B4"/>
                </a:solidFill>
                <a:latin typeface="Arial"/>
              </a:rPr>
              <a:t>Trade an Azure DevOps-scoped token (from ROPC or device-code) for a long-lived Personal Access Token. Outlives the session, scopes to repos / pipelines, and often dodges MFA re-prompts </a:t>
            </a:r>
            <a:r>
              <a:rPr lang="en-US" sz="1250" b="0" dirty="0">
                <a:solidFill>
                  <a:srgbClr val="97A4B4"/>
                </a:solidFill>
                <a:latin typeface="Arial"/>
              </a:rPr>
              <a:t>-</a:t>
            </a:r>
            <a:r>
              <a:rPr sz="1250" b="0" dirty="0">
                <a:solidFill>
                  <a:srgbClr val="97A4B4"/>
                </a:solidFill>
                <a:latin typeface="Arial"/>
              </a:rPr>
              <a:t> quiet CI/CD persistence.</a:t>
            </a:r>
          </a:p>
        </p:txBody>
      </p:sp>
      <p:sp>
        <p:nvSpPr>
          <p:cNvPr id="11" name="Rounded Rectangle 10"/>
          <p:cNvSpPr/>
          <p:nvPr/>
        </p:nvSpPr>
        <p:spPr>
          <a:xfrm>
            <a:off x="8068056" y="2487168"/>
            <a:ext cx="3590543" cy="2487168"/>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ounded Rectangle 11"/>
          <p:cNvSpPr/>
          <p:nvPr/>
        </p:nvSpPr>
        <p:spPr>
          <a:xfrm>
            <a:off x="8068056" y="2487168"/>
            <a:ext cx="54864" cy="2487168"/>
          </a:xfrm>
          <a:prstGeom prst="roundRect">
            <a:avLst>
              <a:gd name="adj" fmla="val 5000"/>
            </a:avLst>
          </a:prstGeom>
          <a:solidFill>
            <a:srgbClr val="4ED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8250936" y="2633472"/>
            <a:ext cx="3261360" cy="1267014"/>
          </a:xfrm>
          <a:prstGeom prst="rect">
            <a:avLst/>
          </a:prstGeom>
          <a:noFill/>
        </p:spPr>
        <p:txBody>
          <a:bodyPr wrap="square" lIns="0" tIns="0" rIns="0" bIns="0" anchor="t">
            <a:spAutoFit/>
          </a:bodyPr>
          <a:lstStyle/>
          <a:p>
            <a:pPr algn="l">
              <a:spcAft>
                <a:spcPts val="700"/>
              </a:spcAft>
            </a:pPr>
            <a:r>
              <a:rPr sz="1400" b="1" dirty="0">
                <a:solidFill>
                  <a:srgbClr val="E6EDF3"/>
                </a:solidFill>
                <a:latin typeface="Courier New"/>
              </a:rPr>
              <a:t>MS Graph · enumerate</a:t>
            </a:r>
          </a:p>
          <a:p>
            <a:pPr algn="l"/>
            <a:r>
              <a:rPr sz="1250" b="0" dirty="0">
                <a:solidFill>
                  <a:srgbClr val="97A4B4"/>
                </a:solidFill>
                <a:latin typeface="Arial"/>
              </a:rPr>
              <a:t>Replay any captured or minted token against graph.microsoft.com </a:t>
            </a:r>
            <a:r>
              <a:rPr lang="en-US" sz="1250" b="0" dirty="0">
                <a:solidFill>
                  <a:srgbClr val="97A4B4"/>
                </a:solidFill>
                <a:latin typeface="Arial"/>
              </a:rPr>
              <a:t>-</a:t>
            </a:r>
            <a:r>
              <a:rPr sz="1250" b="0" dirty="0">
                <a:solidFill>
                  <a:srgbClr val="97A4B4"/>
                </a:solidFill>
                <a:latin typeface="Arial"/>
              </a:rPr>
              <a:t> /me, users, groups, devices, managed devices </a:t>
            </a:r>
            <a:r>
              <a:rPr lang="en-US" sz="1250" b="0" dirty="0">
                <a:solidFill>
                  <a:srgbClr val="97A4B4"/>
                </a:solidFill>
                <a:latin typeface="Arial"/>
              </a:rPr>
              <a:t>-</a:t>
            </a:r>
            <a:r>
              <a:rPr sz="1250" b="0" dirty="0">
                <a:solidFill>
                  <a:srgbClr val="97A4B4"/>
                </a:solidFill>
                <a:latin typeface="Arial"/>
              </a:rPr>
              <a:t> to prove what it can actually reach. Turns a token into tenant recon.</a:t>
            </a:r>
          </a:p>
        </p:txBody>
      </p:sp>
      <p:sp>
        <p:nvSpPr>
          <p:cNvPr id="14" name="Rounded Rectangle 13"/>
          <p:cNvSpPr/>
          <p:nvPr/>
        </p:nvSpPr>
        <p:spPr>
          <a:xfrm>
            <a:off x="502920" y="5230368"/>
            <a:ext cx="11155680" cy="658368"/>
          </a:xfrm>
          <a:prstGeom prst="roundRect">
            <a:avLst>
              <a:gd name="adj" fmla="val 4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TextBox 14"/>
          <p:cNvSpPr txBox="1"/>
          <p:nvPr/>
        </p:nvSpPr>
        <p:spPr>
          <a:xfrm>
            <a:off x="667512" y="5467219"/>
            <a:ext cx="10826496" cy="184666"/>
          </a:xfrm>
          <a:prstGeom prst="rect">
            <a:avLst/>
          </a:prstGeom>
          <a:noFill/>
        </p:spPr>
        <p:txBody>
          <a:bodyPr wrap="square" lIns="0" tIns="0" rIns="0" bIns="0" anchor="ctr">
            <a:spAutoFit/>
          </a:bodyPr>
          <a:lstStyle/>
          <a:p>
            <a:pPr algn="l"/>
            <a:r>
              <a:rPr sz="1200" b="0" dirty="0">
                <a:solidFill>
                  <a:srgbClr val="E7B84B"/>
                </a:solidFill>
                <a:latin typeface="Arial"/>
              </a:rPr>
              <a:t>// dashboard</a:t>
            </a:r>
            <a:r>
              <a:rPr lang="en-US" sz="1200" b="0" dirty="0">
                <a:solidFill>
                  <a:srgbClr val="E7B84B"/>
                </a:solidFill>
                <a:latin typeface="Arial"/>
              </a:rPr>
              <a:t>:</a:t>
            </a:r>
            <a:r>
              <a:rPr sz="1200" b="0" dirty="0">
                <a:solidFill>
                  <a:srgbClr val="E7B84B"/>
                </a:solidFill>
                <a:latin typeface="Arial"/>
              </a:rPr>
              <a:t>  </a:t>
            </a:r>
            <a:r>
              <a:rPr sz="1200" b="0" dirty="0">
                <a:solidFill>
                  <a:srgbClr val="97A4B4"/>
                </a:solidFill>
                <a:latin typeface="Arial"/>
              </a:rPr>
              <a:t>Test ROPC · v1+v2 token · ADO PAT · Test Graph </a:t>
            </a:r>
            <a:r>
              <a:rPr lang="en-US" sz="1200" b="0" dirty="0">
                <a:solidFill>
                  <a:srgbClr val="97A4B4"/>
                </a:solidFill>
                <a:latin typeface="Arial"/>
              </a:rPr>
              <a:t>-</a:t>
            </a:r>
            <a:r>
              <a:rPr sz="1200" b="0" dirty="0">
                <a:solidFill>
                  <a:srgbClr val="97A4B4"/>
                </a:solidFill>
                <a:latin typeface="Arial"/>
              </a:rPr>
              <a:t> one click each, full request/response captured for analysis.</a:t>
            </a:r>
          </a:p>
        </p:txBody>
      </p:sp>
      <p:sp>
        <p:nvSpPr>
          <p:cNvPr id="16" name="TextBox 15"/>
          <p:cNvSpPr txBox="1"/>
          <p:nvPr/>
        </p:nvSpPr>
        <p:spPr>
          <a:xfrm>
            <a:off x="502920" y="6419088"/>
            <a:ext cx="11155680" cy="320040"/>
          </a:xfrm>
          <a:prstGeom prst="rect">
            <a:avLst/>
          </a:prstGeom>
          <a:noFill/>
        </p:spPr>
        <p:txBody>
          <a:bodyPr wrap="square" lIns="0" tIns="0" rIns="0" bIns="0" anchor="t">
            <a:spAutoFit/>
          </a:bodyPr>
          <a:lstStyle/>
          <a:p>
            <a:pPr algn="l"/>
            <a:r>
              <a:rPr sz="1000" b="0" dirty="0">
                <a:solidFill>
                  <a:srgbClr val="5A6472"/>
                </a:solidFill>
                <a:latin typeface="Courier New"/>
              </a:rPr>
              <a:t>YOUR PASSKEYS WON'T SAVE YOU</a:t>
            </a:r>
          </a:p>
        </p:txBody>
      </p:sp>
      <p:sp>
        <p:nvSpPr>
          <p:cNvPr id="17" name="TextBox 16"/>
          <p:cNvSpPr txBox="1"/>
          <p:nvPr/>
        </p:nvSpPr>
        <p:spPr>
          <a:xfrm>
            <a:off x="502920" y="6419088"/>
            <a:ext cx="11155680" cy="320040"/>
          </a:xfrm>
          <a:prstGeom prst="rect">
            <a:avLst/>
          </a:prstGeom>
          <a:noFill/>
        </p:spPr>
        <p:txBody>
          <a:bodyPr wrap="square" lIns="0" tIns="0" rIns="0" bIns="0" anchor="t">
            <a:spAutoFit/>
          </a:bodyPr>
          <a:lstStyle/>
          <a:p>
            <a:pPr algn="r"/>
            <a:r>
              <a:rPr sz="1000" b="0" dirty="0">
                <a:solidFill>
                  <a:srgbClr val="5A6472"/>
                </a:solidFill>
                <a:latin typeface="Courier New"/>
              </a:rPr>
              <a:t>arsenal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9144000" cy="365760"/>
          </a:xfrm>
          <a:prstGeom prst="rect">
            <a:avLst/>
          </a:prstGeom>
          <a:noFill/>
        </p:spPr>
        <p:txBody>
          <a:bodyPr wrap="square" lIns="0" tIns="0" rIns="0" bIns="0" anchor="t">
            <a:spAutoFit/>
          </a:bodyPr>
          <a:lstStyle/>
          <a:p>
            <a:pPr algn="l"/>
            <a:r>
              <a:rPr sz="1300" b="0" dirty="0">
                <a:solidFill>
                  <a:srgbClr val="E7B84B"/>
                </a:solidFill>
                <a:latin typeface="Courier New"/>
              </a:rPr>
              <a:t>// arsenal · escalation &amp; device trust</a:t>
            </a:r>
          </a:p>
        </p:txBody>
      </p:sp>
      <p:sp>
        <p:nvSpPr>
          <p:cNvPr id="3" name="TextBox 2"/>
          <p:cNvSpPr txBox="1"/>
          <p:nvPr/>
        </p:nvSpPr>
        <p:spPr>
          <a:xfrm>
            <a:off x="502920" y="713232"/>
            <a:ext cx="11155680" cy="914400"/>
          </a:xfrm>
          <a:prstGeom prst="rect">
            <a:avLst/>
          </a:prstGeom>
          <a:noFill/>
        </p:spPr>
        <p:txBody>
          <a:bodyPr wrap="square" lIns="0" tIns="0" rIns="0" bIns="0" anchor="t">
            <a:spAutoFit/>
          </a:bodyPr>
          <a:lstStyle/>
          <a:p>
            <a:pPr algn="l"/>
            <a:r>
              <a:rPr sz="3000" b="1" dirty="0">
                <a:solidFill>
                  <a:srgbClr val="E6EDF3"/>
                </a:solidFill>
                <a:latin typeface="Arial"/>
              </a:rPr>
              <a:t>Escalating &amp; forging device trust</a:t>
            </a:r>
          </a:p>
        </p:txBody>
      </p:sp>
      <p:sp>
        <p:nvSpPr>
          <p:cNvPr id="4" name="TextBox 3"/>
          <p:cNvSpPr txBox="1"/>
          <p:nvPr/>
        </p:nvSpPr>
        <p:spPr>
          <a:xfrm>
            <a:off x="502920" y="1572768"/>
            <a:ext cx="11155680" cy="430887"/>
          </a:xfrm>
          <a:prstGeom prst="rect">
            <a:avLst/>
          </a:prstGeom>
          <a:noFill/>
        </p:spPr>
        <p:txBody>
          <a:bodyPr wrap="square" lIns="0" tIns="0" rIns="0" bIns="0" anchor="t">
            <a:spAutoFit/>
          </a:bodyPr>
          <a:lstStyle/>
          <a:p>
            <a:pPr algn="l"/>
            <a:r>
              <a:rPr sz="1400" b="0" dirty="0">
                <a:solidFill>
                  <a:srgbClr val="97A4B4"/>
                </a:solidFill>
                <a:latin typeface="Arial"/>
              </a:rPr>
              <a:t>With a token in hand, two heavier techniques turn access into </a:t>
            </a:r>
            <a:r>
              <a:rPr sz="1400" b="0" dirty="0">
                <a:solidFill>
                  <a:srgbClr val="E7B84B"/>
                </a:solidFill>
                <a:latin typeface="Arial"/>
              </a:rPr>
              <a:t>privilege</a:t>
            </a:r>
            <a:r>
              <a:rPr sz="1400" b="0" dirty="0">
                <a:solidFill>
                  <a:srgbClr val="97A4B4"/>
                </a:solidFill>
                <a:latin typeface="Arial"/>
              </a:rPr>
              <a:t> and </a:t>
            </a:r>
            <a:r>
              <a:rPr sz="1400" b="0" dirty="0">
                <a:solidFill>
                  <a:srgbClr val="E7B84B"/>
                </a:solidFill>
                <a:latin typeface="Arial"/>
              </a:rPr>
              <a:t>trusted-device</a:t>
            </a:r>
            <a:r>
              <a:rPr sz="1400" b="0" dirty="0">
                <a:solidFill>
                  <a:srgbClr val="97A4B4"/>
                </a:solidFill>
                <a:latin typeface="Arial"/>
              </a:rPr>
              <a:t> posture </a:t>
            </a:r>
            <a:r>
              <a:rPr lang="en-US" sz="1400" b="0" dirty="0">
                <a:solidFill>
                  <a:srgbClr val="97A4B4"/>
                </a:solidFill>
                <a:latin typeface="Arial"/>
              </a:rPr>
              <a:t>-</a:t>
            </a:r>
            <a:r>
              <a:rPr sz="1400" b="0" dirty="0">
                <a:solidFill>
                  <a:srgbClr val="97A4B4"/>
                </a:solidFill>
                <a:latin typeface="Arial"/>
              </a:rPr>
              <a:t> the latter is the chain the live demo builds end-to-end.</a:t>
            </a:r>
          </a:p>
        </p:txBody>
      </p:sp>
      <p:sp>
        <p:nvSpPr>
          <p:cNvPr id="5" name="Rounded Rectangle 4"/>
          <p:cNvSpPr/>
          <p:nvPr/>
        </p:nvSpPr>
        <p:spPr>
          <a:xfrm>
            <a:off x="502920" y="2487168"/>
            <a:ext cx="5440679" cy="2487168"/>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Rounded Rectangle 5"/>
          <p:cNvSpPr/>
          <p:nvPr/>
        </p:nvSpPr>
        <p:spPr>
          <a:xfrm>
            <a:off x="502920" y="2487168"/>
            <a:ext cx="54864" cy="2487168"/>
          </a:xfrm>
          <a:prstGeom prst="roundRect">
            <a:avLst>
              <a:gd name="adj" fmla="val 5000"/>
            </a:avLst>
          </a:prstGeom>
          <a:solidFill>
            <a:srgbClr val="FF5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685800" y="2633472"/>
            <a:ext cx="5111495" cy="1267014"/>
          </a:xfrm>
          <a:prstGeom prst="rect">
            <a:avLst/>
          </a:prstGeom>
          <a:noFill/>
        </p:spPr>
        <p:txBody>
          <a:bodyPr wrap="square" lIns="0" tIns="0" rIns="0" bIns="0" anchor="t">
            <a:spAutoFit/>
          </a:bodyPr>
          <a:lstStyle/>
          <a:p>
            <a:pPr algn="l">
              <a:spcAft>
                <a:spcPts val="700"/>
              </a:spcAft>
            </a:pPr>
            <a:r>
              <a:rPr sz="1400" b="1" dirty="0">
                <a:solidFill>
                  <a:srgbClr val="E6EDF3"/>
                </a:solidFill>
                <a:latin typeface="Courier New"/>
              </a:rPr>
              <a:t>AAA · abuse API permissions</a:t>
            </a:r>
          </a:p>
          <a:p>
            <a:pPr algn="l"/>
            <a:r>
              <a:rPr sz="1250" b="0" dirty="0">
                <a:solidFill>
                  <a:srgbClr val="97A4B4"/>
                </a:solidFill>
                <a:latin typeface="Arial"/>
              </a:rPr>
              <a:t>Get-AAATokenFromAzLogin + the AbuseAzureAPIPermissions toolkit: take an Az / Graph token and exercise over-privileged app or service-principal permissions </a:t>
            </a:r>
            <a:r>
              <a:rPr lang="en-US" sz="1250" b="0" dirty="0">
                <a:solidFill>
                  <a:srgbClr val="97A4B4"/>
                </a:solidFill>
                <a:latin typeface="Arial"/>
              </a:rPr>
              <a:t>-</a:t>
            </a:r>
            <a:r>
              <a:rPr sz="1250" b="0" dirty="0">
                <a:solidFill>
                  <a:srgbClr val="97A4B4"/>
                </a:solidFill>
                <a:latin typeface="Arial"/>
              </a:rPr>
              <a:t> add SP credentials, grant app roles, reset passwords </a:t>
            </a:r>
            <a:r>
              <a:rPr lang="en-US" sz="1250" b="0" dirty="0">
                <a:solidFill>
                  <a:srgbClr val="97A4B4"/>
                </a:solidFill>
                <a:latin typeface="Arial"/>
              </a:rPr>
              <a:t>-</a:t>
            </a:r>
            <a:r>
              <a:rPr sz="1250" b="0" dirty="0">
                <a:solidFill>
                  <a:srgbClr val="97A4B4"/>
                </a:solidFill>
                <a:latin typeface="Arial"/>
              </a:rPr>
              <a:t> to escalate inside the tenant. Runs pwsh + Az.Accounts in-container.</a:t>
            </a:r>
          </a:p>
        </p:txBody>
      </p:sp>
      <p:sp>
        <p:nvSpPr>
          <p:cNvPr id="8" name="Rounded Rectangle 7"/>
          <p:cNvSpPr/>
          <p:nvPr/>
        </p:nvSpPr>
        <p:spPr>
          <a:xfrm>
            <a:off x="6217919" y="2487168"/>
            <a:ext cx="5440679" cy="2487168"/>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ounded Rectangle 8"/>
          <p:cNvSpPr/>
          <p:nvPr/>
        </p:nvSpPr>
        <p:spPr>
          <a:xfrm>
            <a:off x="6217919" y="2487168"/>
            <a:ext cx="54864" cy="2487168"/>
          </a:xfrm>
          <a:prstGeom prst="roundRect">
            <a:avLst>
              <a:gd name="adj" fmla="val 5000"/>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6400799" y="2633472"/>
            <a:ext cx="5111495" cy="1074653"/>
          </a:xfrm>
          <a:prstGeom prst="rect">
            <a:avLst/>
          </a:prstGeom>
          <a:noFill/>
        </p:spPr>
        <p:txBody>
          <a:bodyPr wrap="square" lIns="0" tIns="0" rIns="0" bIns="0" anchor="t">
            <a:spAutoFit/>
          </a:bodyPr>
          <a:lstStyle/>
          <a:p>
            <a:pPr algn="l">
              <a:spcAft>
                <a:spcPts val="700"/>
              </a:spcAft>
            </a:pPr>
            <a:r>
              <a:rPr sz="1400" b="1" dirty="0">
                <a:solidFill>
                  <a:srgbClr val="E6EDF3"/>
                </a:solidFill>
                <a:latin typeface="Courier New"/>
              </a:rPr>
              <a:t>Phantom Join · device + PRT</a:t>
            </a:r>
          </a:p>
          <a:p>
            <a:pPr algn="l"/>
            <a:r>
              <a:rPr sz="1250" b="0" dirty="0">
                <a:solidFill>
                  <a:srgbClr val="97A4B4"/>
                </a:solidFill>
                <a:latin typeface="Arial"/>
              </a:rPr>
              <a:t>Register a fake (“phantom”) device into Entra via the Device Registration Service using a device-code token, then mint a Primary Refresh Token. The PRT yields tokens that look like a compliant, joined device </a:t>
            </a:r>
            <a:r>
              <a:rPr lang="en-US" sz="1250" b="0" dirty="0">
                <a:solidFill>
                  <a:srgbClr val="97A4B4"/>
                </a:solidFill>
                <a:latin typeface="Arial"/>
              </a:rPr>
              <a:t>-</a:t>
            </a:r>
            <a:r>
              <a:rPr sz="1250" b="0" dirty="0">
                <a:solidFill>
                  <a:srgbClr val="97A4B4"/>
                </a:solidFill>
                <a:latin typeface="Arial"/>
              </a:rPr>
              <a:t> satisfying device-based Conditional Access.</a:t>
            </a:r>
          </a:p>
        </p:txBody>
      </p:sp>
      <p:sp>
        <p:nvSpPr>
          <p:cNvPr id="11" name="Rounded Rectangle 10"/>
          <p:cNvSpPr/>
          <p:nvPr/>
        </p:nvSpPr>
        <p:spPr>
          <a:xfrm>
            <a:off x="502920" y="5230368"/>
            <a:ext cx="11155680" cy="658368"/>
          </a:xfrm>
          <a:prstGeom prst="roundRect">
            <a:avLst>
              <a:gd name="adj" fmla="val 4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667512" y="5467219"/>
            <a:ext cx="10826496" cy="184666"/>
          </a:xfrm>
          <a:prstGeom prst="rect">
            <a:avLst/>
          </a:prstGeom>
          <a:noFill/>
        </p:spPr>
        <p:txBody>
          <a:bodyPr wrap="square" lIns="0" tIns="0" rIns="0" bIns="0" anchor="ctr">
            <a:spAutoFit/>
          </a:bodyPr>
          <a:lstStyle/>
          <a:p>
            <a:pPr algn="l"/>
            <a:r>
              <a:rPr sz="1200" b="0" dirty="0">
                <a:solidFill>
                  <a:srgbClr val="E7B84B"/>
                </a:solidFill>
                <a:latin typeface="Arial"/>
              </a:rPr>
              <a:t>// demo</a:t>
            </a:r>
            <a:r>
              <a:rPr lang="en-US" sz="1200" b="0" dirty="0">
                <a:solidFill>
                  <a:srgbClr val="E7B84B"/>
                </a:solidFill>
                <a:latin typeface="Arial"/>
              </a:rPr>
              <a:t>:</a:t>
            </a:r>
            <a:r>
              <a:rPr sz="1200" b="0" dirty="0">
                <a:solidFill>
                  <a:srgbClr val="E7B84B"/>
                </a:solidFill>
                <a:latin typeface="Arial"/>
              </a:rPr>
              <a:t>  </a:t>
            </a:r>
            <a:r>
              <a:rPr sz="1200" b="0" dirty="0">
                <a:solidFill>
                  <a:srgbClr val="97A4B4"/>
                </a:solidFill>
                <a:latin typeface="Arial"/>
              </a:rPr>
              <a:t>Phantom Join is stages 3–5 of the live walkthrough: device-code → DRS → phantom join → PRT → Graph token.</a:t>
            </a:r>
          </a:p>
        </p:txBody>
      </p:sp>
      <p:sp>
        <p:nvSpPr>
          <p:cNvPr id="13" name="TextBox 12"/>
          <p:cNvSpPr txBox="1"/>
          <p:nvPr/>
        </p:nvSpPr>
        <p:spPr>
          <a:xfrm>
            <a:off x="502920" y="6419088"/>
            <a:ext cx="11155680" cy="320040"/>
          </a:xfrm>
          <a:prstGeom prst="rect">
            <a:avLst/>
          </a:prstGeom>
          <a:noFill/>
        </p:spPr>
        <p:txBody>
          <a:bodyPr wrap="square" lIns="0" tIns="0" rIns="0" bIns="0" anchor="t">
            <a:spAutoFit/>
          </a:bodyPr>
          <a:lstStyle/>
          <a:p>
            <a:pPr algn="l"/>
            <a:r>
              <a:rPr sz="1000" b="0" dirty="0">
                <a:solidFill>
                  <a:srgbClr val="5A6472"/>
                </a:solidFill>
                <a:latin typeface="Courier New"/>
              </a:rPr>
              <a:t>YOUR PASSKEYS WON'T SAVE YOU</a:t>
            </a:r>
          </a:p>
        </p:txBody>
      </p:sp>
      <p:sp>
        <p:nvSpPr>
          <p:cNvPr id="14" name="TextBox 13"/>
          <p:cNvSpPr txBox="1"/>
          <p:nvPr/>
        </p:nvSpPr>
        <p:spPr>
          <a:xfrm>
            <a:off x="502920" y="6419088"/>
            <a:ext cx="11155680" cy="320040"/>
          </a:xfrm>
          <a:prstGeom prst="rect">
            <a:avLst/>
          </a:prstGeom>
          <a:noFill/>
        </p:spPr>
        <p:txBody>
          <a:bodyPr wrap="square" lIns="0" tIns="0" rIns="0" bIns="0" anchor="t">
            <a:spAutoFit/>
          </a:bodyPr>
          <a:lstStyle/>
          <a:p>
            <a:pPr algn="r"/>
            <a:r>
              <a:rPr sz="1000" b="0" dirty="0">
                <a:solidFill>
                  <a:srgbClr val="5A6472"/>
                </a:solidFill>
                <a:latin typeface="Courier New"/>
              </a:rPr>
              <a:t>arsenal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3" name="Picture 2">
            <a:extLst>
              <a:ext uri="{FF2B5EF4-FFF2-40B4-BE49-F238E27FC236}">
                <a16:creationId xmlns:a16="http://schemas.microsoft.com/office/drawing/2014/main" id="{8F8E2B00-71F2-2DF0-D589-4FBD4878D907}"/>
              </a:ext>
            </a:extLst>
          </p:cNvPr>
          <p:cNvPicPr>
            <a:picLocks noChangeAspect="1"/>
          </p:cNvPicPr>
          <p:nvPr/>
        </p:nvPicPr>
        <p:blipFill>
          <a:blip r:embed="rId3"/>
          <a:srcRect t="5624" b="19390"/>
          <a:stretch>
            <a:fillRect/>
          </a:stretch>
        </p:blipFill>
        <p:spPr>
          <a:xfrm>
            <a:off x="20" y="1282"/>
            <a:ext cx="12191980" cy="6856718"/>
          </a:xfrm>
          <a:prstGeom prst="rect">
            <a:avLst/>
          </a:prstGeom>
        </p:spPr>
      </p:pic>
    </p:spTree>
    <p:extLst>
      <p:ext uri="{BB962C8B-B14F-4D97-AF65-F5344CB8AC3E}">
        <p14:creationId xmlns:p14="http://schemas.microsoft.com/office/powerpoint/2010/main" val="2278859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stage 1 · capture</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The session is already ours</a:t>
            </a:r>
          </a:p>
        </p:txBody>
      </p:sp>
      <p:sp>
        <p:nvSpPr>
          <p:cNvPr id="4" name="TextBox 3"/>
          <p:cNvSpPr txBox="1"/>
          <p:nvPr/>
        </p:nvSpPr>
        <p:spPr>
          <a:xfrm>
            <a:off x="502920" y="1572768"/>
            <a:ext cx="11155680" cy="822960"/>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400" b="0" dirty="0">
                <a:solidFill>
                  <a:srgbClr val="97A4B4"/>
                </a:solidFill>
                <a:latin typeface="Arial"/>
              </a:rPr>
              <a:t>The victim logs in normally. Grapnel's dashboard shows the captured tokens, headers, and the one-click tools built on top of them.</a:t>
            </a:r>
          </a:p>
        </p:txBody>
      </p:sp>
      <p:sp>
        <p:nvSpPr>
          <p:cNvPr id="6" name="TextBox 5"/>
          <p:cNvSpPr txBox="1"/>
          <p:nvPr/>
        </p:nvSpPr>
        <p:spPr>
          <a:xfrm>
            <a:off x="731520" y="5806440"/>
            <a:ext cx="10698480" cy="470898"/>
          </a:xfrm>
          <a:prstGeom prst="rect">
            <a:avLst/>
          </a:prstGeom>
          <a:noFill/>
        </p:spPr>
        <p:txBody>
          <a:bodyPr wrap="square" lIns="36576" tIns="18288" rIns="36576" bIns="18288" anchor="t">
            <a:spAutoFit/>
          </a:bodyPr>
          <a:lstStyle/>
          <a:p>
            <a:pPr algn="ctr">
              <a:lnSpc>
                <a:spcPct val="120000"/>
              </a:lnSpc>
              <a:spcBef>
                <a:spcPts val="0"/>
              </a:spcBef>
              <a:spcAft>
                <a:spcPts val="600"/>
              </a:spcAft>
            </a:pPr>
            <a:r>
              <a:rPr sz="1200" b="0" dirty="0">
                <a:solidFill>
                  <a:srgbClr val="7A8899"/>
                </a:solidFill>
                <a:latin typeface="Courier New"/>
              </a:rPr>
              <a:t>Captured Data </a:t>
            </a:r>
            <a:r>
              <a:rPr lang="en-US" sz="1200" b="0" dirty="0">
                <a:solidFill>
                  <a:srgbClr val="7A8899"/>
                </a:solidFill>
                <a:latin typeface="Courier New"/>
              </a:rPr>
              <a:t>-</a:t>
            </a:r>
            <a:r>
              <a:rPr sz="1200" b="0" dirty="0">
                <a:solidFill>
                  <a:srgbClr val="7A8899"/>
                </a:solidFill>
                <a:latin typeface="Courier New"/>
              </a:rPr>
              <a:t> access/refresh tokens captured in-flight, with ROPC / ADO-PAT / AAA tooling ready (lab tenant, identifiers redacted)</a:t>
            </a:r>
          </a:p>
        </p:txBody>
      </p:sp>
      <p:sp>
        <p:nvSpPr>
          <p:cNvPr id="7" name="TextBox 6"/>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8" name="TextBox 7"/>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capture · 12/24</a:t>
            </a:r>
          </a:p>
        </p:txBody>
      </p:sp>
      <p:pic>
        <p:nvPicPr>
          <p:cNvPr id="5" name="Picture 4">
            <a:extLst>
              <a:ext uri="{FF2B5EF4-FFF2-40B4-BE49-F238E27FC236}">
                <a16:creationId xmlns:a16="http://schemas.microsoft.com/office/drawing/2014/main" id="{9A9DDE41-57BD-502D-57CB-618A34826FE3}"/>
              </a:ext>
            </a:extLst>
          </p:cNvPr>
          <p:cNvPicPr>
            <a:picLocks noChangeAspect="1"/>
          </p:cNvPicPr>
          <p:nvPr/>
        </p:nvPicPr>
        <p:blipFill>
          <a:blip r:embed="rId3"/>
          <a:stretch>
            <a:fillRect/>
          </a:stretch>
        </p:blipFill>
        <p:spPr>
          <a:xfrm>
            <a:off x="731520" y="1874520"/>
            <a:ext cx="9866526" cy="37130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stage 2 · the picker</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Weakest method wins</a:t>
            </a:r>
          </a:p>
        </p:txBody>
      </p:sp>
      <p:sp>
        <p:nvSpPr>
          <p:cNvPr id="4" name="TextBox 3"/>
          <p:cNvSpPr txBox="1"/>
          <p:nvPr/>
        </p:nvSpPr>
        <p:spPr>
          <a:xfrm>
            <a:off x="502920" y="1572768"/>
            <a:ext cx="11155680" cy="822960"/>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400" b="0" dirty="0">
                <a:solidFill>
                  <a:srgbClr val="97A4B4"/>
                </a:solidFill>
                <a:latin typeface="Arial"/>
              </a:rPr>
              <a:t>When the method picker appears, Grapnel makes the call the policy hoped a human wouldn't.</a:t>
            </a:r>
          </a:p>
        </p:txBody>
      </p:sp>
      <p:sp>
        <p:nvSpPr>
          <p:cNvPr id="5" name="Rounded Rectangle 4"/>
          <p:cNvSpPr/>
          <p:nvPr/>
        </p:nvSpPr>
        <p:spPr>
          <a:xfrm>
            <a:off x="502920" y="2514600"/>
            <a:ext cx="5477255" cy="192024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Rectangle 5"/>
          <p:cNvSpPr/>
          <p:nvPr/>
        </p:nvSpPr>
        <p:spPr>
          <a:xfrm>
            <a:off x="502920" y="2514600"/>
            <a:ext cx="54864" cy="1920240"/>
          </a:xfrm>
          <a:prstGeom prst="rect">
            <a:avLst/>
          </a:prstGeom>
          <a:solidFill>
            <a:srgbClr val="4ED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7" name="TextBox 6"/>
          <p:cNvSpPr txBox="1"/>
          <p:nvPr/>
        </p:nvSpPr>
        <p:spPr>
          <a:xfrm>
            <a:off x="649224" y="2624328"/>
            <a:ext cx="5221223" cy="170078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push offered → auto-approve</a:t>
            </a:r>
          </a:p>
          <a:p>
            <a:pPr algn="l">
              <a:lnSpc>
                <a:spcPct val="118000"/>
              </a:lnSpc>
              <a:spcBef>
                <a:spcPts val="0"/>
              </a:spcBef>
              <a:spcAft>
                <a:spcPts val="600"/>
              </a:spcAft>
            </a:pPr>
            <a:r>
              <a:rPr sz="1250" b="0" dirty="0">
                <a:solidFill>
                  <a:srgbClr val="97A4B4"/>
                </a:solidFill>
                <a:latin typeface="Arial"/>
              </a:rPr>
              <a:t>Clicks the Microsoft Authenticator push tile before the user reaches for anything stronger. Number-match shows on the phone; one tap and we're through.</a:t>
            </a:r>
          </a:p>
        </p:txBody>
      </p:sp>
      <p:sp>
        <p:nvSpPr>
          <p:cNvPr id="8" name="Rounded Rectangle 7"/>
          <p:cNvSpPr/>
          <p:nvPr/>
        </p:nvSpPr>
        <p:spPr>
          <a:xfrm>
            <a:off x="6181343" y="2514600"/>
            <a:ext cx="5477255" cy="192024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9" name="Rectangle 8"/>
          <p:cNvSpPr/>
          <p:nvPr/>
        </p:nvSpPr>
        <p:spPr>
          <a:xfrm>
            <a:off x="6181343" y="2514600"/>
            <a:ext cx="54864" cy="1920240"/>
          </a:xfrm>
          <a:prstGeom prst="rect">
            <a:avLst/>
          </a:prstGeom>
          <a:solidFill>
            <a:srgbClr val="FF5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0" name="TextBox 9"/>
          <p:cNvSpPr txBox="1"/>
          <p:nvPr/>
        </p:nvSpPr>
        <p:spPr>
          <a:xfrm>
            <a:off x="6327647" y="2624328"/>
            <a:ext cx="5221223" cy="737381"/>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passkey-only → dead-end</a:t>
            </a:r>
          </a:p>
          <a:p>
            <a:pPr algn="l">
              <a:lnSpc>
                <a:spcPct val="118000"/>
              </a:lnSpc>
              <a:spcBef>
                <a:spcPts val="0"/>
              </a:spcBef>
              <a:spcAft>
                <a:spcPts val="600"/>
              </a:spcAft>
            </a:pPr>
            <a:r>
              <a:rPr sz="1250" b="0" dirty="0">
                <a:solidFill>
                  <a:srgbClr val="97A4B4"/>
                </a:solidFill>
                <a:latin typeface="Arial"/>
              </a:rPr>
              <a:t>If FIDO2 is the only completable method, Grapnel stops rather than guessing </a:t>
            </a:r>
            <a:r>
              <a:rPr lang="en-US" sz="1250" b="0" dirty="0">
                <a:solidFill>
                  <a:srgbClr val="97A4B4"/>
                </a:solidFill>
                <a:latin typeface="Arial"/>
              </a:rPr>
              <a:t>-</a:t>
            </a:r>
            <a:r>
              <a:rPr sz="1250" b="0" dirty="0">
                <a:solidFill>
                  <a:srgbClr val="97A4B4"/>
                </a:solidFill>
                <a:latin typeface="Arial"/>
              </a:rPr>
              <a:t> then takes the other road: device-code.</a:t>
            </a:r>
          </a:p>
        </p:txBody>
      </p:sp>
      <p:sp>
        <p:nvSpPr>
          <p:cNvPr id="11" name="Rounded Rectangle 10"/>
          <p:cNvSpPr/>
          <p:nvPr/>
        </p:nvSpPr>
        <p:spPr>
          <a:xfrm>
            <a:off x="502920" y="4892040"/>
            <a:ext cx="11155680" cy="658368"/>
          </a:xfrm>
          <a:prstGeom prst="roundRect">
            <a:avLst>
              <a:gd name="adj" fmla="val 6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TextBox 11"/>
          <p:cNvSpPr txBox="1"/>
          <p:nvPr/>
        </p:nvSpPr>
        <p:spPr>
          <a:xfrm>
            <a:off x="667512" y="5097984"/>
            <a:ext cx="10826496" cy="246478"/>
          </a:xfrm>
          <a:prstGeom prst="rect">
            <a:avLst/>
          </a:prstGeom>
          <a:noFill/>
        </p:spPr>
        <p:txBody>
          <a:bodyPr wrap="square" lIns="36576" tIns="18288" rIns="36576" bIns="18288" anchor="ctr">
            <a:spAutoFit/>
          </a:bodyPr>
          <a:lstStyle/>
          <a:p>
            <a:pPr algn="l">
              <a:lnSpc>
                <a:spcPct val="120000"/>
              </a:lnSpc>
              <a:spcBef>
                <a:spcPts val="0"/>
              </a:spcBef>
              <a:spcAft>
                <a:spcPts val="600"/>
              </a:spcAft>
            </a:pPr>
            <a:r>
              <a:rPr sz="1250" b="0" dirty="0">
                <a:solidFill>
                  <a:srgbClr val="E7B84B"/>
                </a:solidFill>
                <a:latin typeface="Arial"/>
              </a:rPr>
              <a:t>// the point</a:t>
            </a:r>
            <a:r>
              <a:rPr lang="en-US" sz="1250" b="0" dirty="0">
                <a:solidFill>
                  <a:srgbClr val="E7B84B"/>
                </a:solidFill>
                <a:latin typeface="Arial"/>
              </a:rPr>
              <a:t>: </a:t>
            </a:r>
            <a:r>
              <a:rPr sz="1250" b="0" dirty="0">
                <a:solidFill>
                  <a:srgbClr val="97A4B4"/>
                </a:solidFill>
                <a:latin typeface="Arial"/>
              </a:rPr>
              <a:t>a passkey alongside push is only as strong as the push.</a:t>
            </a:r>
          </a:p>
        </p:txBody>
      </p:sp>
      <p:sp>
        <p:nvSpPr>
          <p:cNvPr id="13" name="TextBox 12"/>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14" name="TextBox 13"/>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picker · 13/24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stage 3 · device-code → DRS</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2600" b="1" dirty="0">
                <a:solidFill>
                  <a:srgbClr val="E6EDF3"/>
                </a:solidFill>
                <a:latin typeface="Arial"/>
              </a:rPr>
              <a:t>Blocked at the front door, in through the side</a:t>
            </a:r>
          </a:p>
        </p:txBody>
      </p:sp>
      <p:sp>
        <p:nvSpPr>
          <p:cNvPr id="4" name="TextBox 3"/>
          <p:cNvSpPr txBox="1"/>
          <p:nvPr/>
        </p:nvSpPr>
        <p:spPr>
          <a:xfrm>
            <a:off x="502920" y="1481328"/>
            <a:ext cx="11155680" cy="279757"/>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400" b="0" dirty="0">
                <a:solidFill>
                  <a:srgbClr val="97A4B4"/>
                </a:solidFill>
                <a:latin typeface="Arial"/>
              </a:rPr>
              <a:t>Interactive auth is gated. The device-code grant to the Device Registration Service is not</a:t>
            </a:r>
            <a:r>
              <a:rPr lang="en-US" sz="1400" b="0" dirty="0">
                <a:solidFill>
                  <a:srgbClr val="97A4B4"/>
                </a:solidFill>
                <a:latin typeface="Arial"/>
              </a:rPr>
              <a:t> - </a:t>
            </a:r>
            <a:r>
              <a:rPr sz="1400" b="0" dirty="0">
                <a:solidFill>
                  <a:srgbClr val="97A4B4"/>
                </a:solidFill>
                <a:latin typeface="Arial"/>
              </a:rPr>
              <a:t>so we take a DRS token instead.</a:t>
            </a:r>
          </a:p>
        </p:txBody>
      </p:sp>
      <p:sp>
        <p:nvSpPr>
          <p:cNvPr id="6" name="TextBox 5"/>
          <p:cNvSpPr txBox="1"/>
          <p:nvPr/>
        </p:nvSpPr>
        <p:spPr>
          <a:xfrm>
            <a:off x="731520" y="5760720"/>
            <a:ext cx="10698480" cy="470898"/>
          </a:xfrm>
          <a:prstGeom prst="rect">
            <a:avLst/>
          </a:prstGeom>
          <a:noFill/>
        </p:spPr>
        <p:txBody>
          <a:bodyPr wrap="square" lIns="36576" tIns="18288" rIns="36576" bIns="18288" anchor="t">
            <a:spAutoFit/>
          </a:bodyPr>
          <a:lstStyle/>
          <a:p>
            <a:pPr algn="ctr">
              <a:lnSpc>
                <a:spcPct val="120000"/>
              </a:lnSpc>
              <a:spcBef>
                <a:spcPts val="0"/>
              </a:spcBef>
              <a:spcAft>
                <a:spcPts val="600"/>
              </a:spcAft>
            </a:pPr>
            <a:r>
              <a:rPr sz="1200" b="0" dirty="0">
                <a:solidFill>
                  <a:srgbClr val="7A8899"/>
                </a:solidFill>
                <a:latin typeface="Courier New"/>
              </a:rPr>
              <a:t>Phantom Join phase 2 </a:t>
            </a:r>
            <a:r>
              <a:rPr lang="en-US" sz="1200" b="0" dirty="0">
                <a:solidFill>
                  <a:srgbClr val="7A8899"/>
                </a:solidFill>
                <a:latin typeface="Courier New"/>
              </a:rPr>
              <a:t>-</a:t>
            </a:r>
            <a:r>
              <a:rPr sz="1200" b="0" dirty="0">
                <a:solidFill>
                  <a:srgbClr val="7A8899"/>
                </a:solidFill>
                <a:latin typeface="Courier New"/>
              </a:rPr>
              <a:t> a DRS-scoped token obtained via device code, bypassing the CA policy that blocked interactive sign-in</a:t>
            </a:r>
          </a:p>
        </p:txBody>
      </p:sp>
      <p:sp>
        <p:nvSpPr>
          <p:cNvPr id="7" name="TextBox 6"/>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8" name="TextBox 7"/>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devicecode · 14/24</a:t>
            </a:r>
          </a:p>
        </p:txBody>
      </p:sp>
      <p:pic>
        <p:nvPicPr>
          <p:cNvPr id="9" name="Picture 8" descr="phantom-phase2-drs-token.png">
            <a:extLst>
              <a:ext uri="{FF2B5EF4-FFF2-40B4-BE49-F238E27FC236}">
                <a16:creationId xmlns:a16="http://schemas.microsoft.com/office/drawing/2014/main" id="{AC3F6F35-D318-B066-2674-B06B8CCC5DEB}"/>
              </a:ext>
            </a:extLst>
          </p:cNvPr>
          <p:cNvPicPr>
            <a:picLocks noChangeAspect="1"/>
          </p:cNvPicPr>
          <p:nvPr/>
        </p:nvPicPr>
        <p:blipFill>
          <a:blip r:embed="rId3"/>
          <a:stretch>
            <a:fillRect/>
          </a:stretch>
        </p:blipFill>
        <p:spPr>
          <a:xfrm>
            <a:off x="1709530" y="2286000"/>
            <a:ext cx="8309113" cy="3383280"/>
          </a:xfrm>
          <a:prstGeom prst="rect">
            <a:avLst/>
          </a:prstGeom>
          <a:ln w="9525">
            <a:solidFill>
              <a:srgbClr val="222C3A"/>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stage 4 · phantom join</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A device that never existed</a:t>
            </a:r>
          </a:p>
        </p:txBody>
      </p:sp>
      <p:sp>
        <p:nvSpPr>
          <p:cNvPr id="4" name="TextBox 3"/>
          <p:cNvSpPr txBox="1"/>
          <p:nvPr/>
        </p:nvSpPr>
        <p:spPr>
          <a:xfrm>
            <a:off x="502920" y="1572768"/>
            <a:ext cx="11155680" cy="549061"/>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400" b="0" dirty="0">
                <a:solidFill>
                  <a:srgbClr val="97A4B4"/>
                </a:solidFill>
                <a:latin typeface="Arial"/>
              </a:rPr>
              <a:t>The DRS token registers a phantom device </a:t>
            </a:r>
            <a:r>
              <a:rPr lang="en-US" sz="1400" dirty="0">
                <a:solidFill>
                  <a:srgbClr val="97A4B4"/>
                </a:solidFill>
                <a:latin typeface="Arial"/>
              </a:rPr>
              <a:t>-</a:t>
            </a:r>
            <a:r>
              <a:rPr lang="en-US" sz="1400" b="0" dirty="0">
                <a:solidFill>
                  <a:srgbClr val="97A4B4"/>
                </a:solidFill>
                <a:latin typeface="Arial"/>
              </a:rPr>
              <a:t> </a:t>
            </a:r>
            <a:r>
              <a:rPr sz="1400" b="0" dirty="0">
                <a:solidFill>
                  <a:srgbClr val="97A4B4"/>
                </a:solidFill>
                <a:latin typeface="Arial"/>
              </a:rPr>
              <a:t>no TPM, no hardware attestation, no admin approval </a:t>
            </a:r>
            <a:r>
              <a:rPr lang="en-US" sz="1400" dirty="0">
                <a:solidFill>
                  <a:srgbClr val="97A4B4"/>
                </a:solidFill>
                <a:latin typeface="Arial"/>
              </a:rPr>
              <a:t>-</a:t>
            </a:r>
            <a:r>
              <a:rPr lang="en-US" sz="1400" b="0" dirty="0">
                <a:solidFill>
                  <a:srgbClr val="97A4B4"/>
                </a:solidFill>
                <a:latin typeface="Arial"/>
              </a:rPr>
              <a:t> t</a:t>
            </a:r>
            <a:r>
              <a:rPr sz="1400" b="0" dirty="0">
                <a:solidFill>
                  <a:srgbClr val="97A4B4"/>
                </a:solidFill>
                <a:latin typeface="Arial"/>
              </a:rPr>
              <a:t>hen mints a Primary Refresh Token from it.</a:t>
            </a:r>
          </a:p>
        </p:txBody>
      </p:sp>
      <p:sp>
        <p:nvSpPr>
          <p:cNvPr id="7" name="TextBox 6"/>
          <p:cNvSpPr txBox="1"/>
          <p:nvPr/>
        </p:nvSpPr>
        <p:spPr>
          <a:xfrm>
            <a:off x="731520" y="5532120"/>
            <a:ext cx="10698480" cy="249299"/>
          </a:xfrm>
          <a:prstGeom prst="rect">
            <a:avLst/>
          </a:prstGeom>
          <a:noFill/>
        </p:spPr>
        <p:txBody>
          <a:bodyPr wrap="square" lIns="36576" tIns="18288" rIns="36576" bIns="18288" anchor="t">
            <a:spAutoFit/>
          </a:bodyPr>
          <a:lstStyle/>
          <a:p>
            <a:pPr algn="ctr">
              <a:lnSpc>
                <a:spcPct val="120000"/>
              </a:lnSpc>
              <a:spcBef>
                <a:spcPts val="0"/>
              </a:spcBef>
              <a:spcAft>
                <a:spcPts val="600"/>
              </a:spcAft>
            </a:pPr>
            <a:r>
              <a:rPr sz="1200" b="0" dirty="0">
                <a:solidFill>
                  <a:srgbClr val="7A8899"/>
                </a:solidFill>
                <a:latin typeface="Courier New"/>
              </a:rPr>
              <a:t>Phases 3–4 </a:t>
            </a:r>
            <a:r>
              <a:rPr lang="en-US" sz="1200" b="0" dirty="0">
                <a:solidFill>
                  <a:srgbClr val="7A8899"/>
                </a:solidFill>
                <a:latin typeface="Courier New"/>
              </a:rPr>
              <a:t>-</a:t>
            </a:r>
            <a:r>
              <a:rPr sz="1200" b="0" dirty="0">
                <a:solidFill>
                  <a:srgbClr val="7A8899"/>
                </a:solidFill>
                <a:latin typeface="Courier New"/>
              </a:rPr>
              <a:t> Entra issues a real Device ID for a device that doesn't exist, then a PRT carrying device claims</a:t>
            </a:r>
          </a:p>
        </p:txBody>
      </p:sp>
      <p:sp>
        <p:nvSpPr>
          <p:cNvPr id="8" name="TextBox 7"/>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9" name="TextBox 8"/>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phantom · 15/24</a:t>
            </a:r>
          </a:p>
        </p:txBody>
      </p:sp>
      <p:pic>
        <p:nvPicPr>
          <p:cNvPr id="5" name="Picture 4">
            <a:extLst>
              <a:ext uri="{FF2B5EF4-FFF2-40B4-BE49-F238E27FC236}">
                <a16:creationId xmlns:a16="http://schemas.microsoft.com/office/drawing/2014/main" id="{5F986CBB-C2FE-C4D8-BB72-29E0C2ACF53B}"/>
              </a:ext>
            </a:extLst>
          </p:cNvPr>
          <p:cNvPicPr>
            <a:picLocks noChangeAspect="1"/>
          </p:cNvPicPr>
          <p:nvPr/>
        </p:nvPicPr>
        <p:blipFill>
          <a:blip r:embed="rId3"/>
          <a:stretch>
            <a:fillRect/>
          </a:stretch>
        </p:blipFill>
        <p:spPr>
          <a:xfrm>
            <a:off x="929391" y="2519172"/>
            <a:ext cx="9436308" cy="288950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stage 5 · the payoff</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The beachhead ☠</a:t>
            </a:r>
          </a:p>
        </p:txBody>
      </p:sp>
      <p:sp>
        <p:nvSpPr>
          <p:cNvPr id="4" name="TextBox 3"/>
          <p:cNvSpPr txBox="1"/>
          <p:nvPr/>
        </p:nvSpPr>
        <p:spPr>
          <a:xfrm>
            <a:off x="502920" y="1572768"/>
            <a:ext cx="11155680" cy="279757"/>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400" b="0" dirty="0">
                <a:solidFill>
                  <a:srgbClr val="97A4B4"/>
                </a:solidFill>
                <a:latin typeface="Arial"/>
              </a:rPr>
              <a:t>The PRT exchanges for a Graph token with device claims </a:t>
            </a:r>
            <a:r>
              <a:rPr lang="en-US" sz="1400" b="0" dirty="0">
                <a:solidFill>
                  <a:srgbClr val="97A4B4"/>
                </a:solidFill>
                <a:latin typeface="Arial"/>
              </a:rPr>
              <a:t>-</a:t>
            </a:r>
            <a:r>
              <a:rPr sz="1400" b="0" dirty="0">
                <a:solidFill>
                  <a:srgbClr val="97A4B4"/>
                </a:solidFill>
                <a:latin typeface="Arial"/>
              </a:rPr>
              <a:t> and ROPC hands us a durable ADO PAT. CA policy intent: defeated.</a:t>
            </a:r>
          </a:p>
        </p:txBody>
      </p:sp>
      <p:sp>
        <p:nvSpPr>
          <p:cNvPr id="6" name="TextBox 5"/>
          <p:cNvSpPr txBox="1"/>
          <p:nvPr/>
        </p:nvSpPr>
        <p:spPr>
          <a:xfrm>
            <a:off x="731520" y="5715000"/>
            <a:ext cx="10698480" cy="470898"/>
          </a:xfrm>
          <a:prstGeom prst="rect">
            <a:avLst/>
          </a:prstGeom>
          <a:noFill/>
        </p:spPr>
        <p:txBody>
          <a:bodyPr wrap="square" lIns="36576" tIns="18288" rIns="36576" bIns="18288" anchor="t">
            <a:spAutoFit/>
          </a:bodyPr>
          <a:lstStyle/>
          <a:p>
            <a:pPr algn="ctr">
              <a:lnSpc>
                <a:spcPct val="120000"/>
              </a:lnSpc>
              <a:spcBef>
                <a:spcPts val="0"/>
              </a:spcBef>
              <a:spcAft>
                <a:spcPts val="600"/>
              </a:spcAft>
            </a:pPr>
            <a:r>
              <a:rPr sz="1200" b="0" dirty="0">
                <a:solidFill>
                  <a:srgbClr val="7A8899"/>
                </a:solidFill>
                <a:latin typeface="Courier New"/>
              </a:rPr>
              <a:t>Chain complete </a:t>
            </a:r>
            <a:r>
              <a:rPr lang="en-US" sz="1200" b="0" dirty="0">
                <a:solidFill>
                  <a:srgbClr val="7A8899"/>
                </a:solidFill>
                <a:latin typeface="Courier New"/>
              </a:rPr>
              <a:t>-</a:t>
            </a:r>
            <a:r>
              <a:rPr sz="1200" b="0" dirty="0">
                <a:solidFill>
                  <a:srgbClr val="7A8899"/>
                </a:solidFill>
                <a:latin typeface="Courier New"/>
              </a:rPr>
              <a:t> Graph token with amr=rsa + a listable Azure DevOps PAT. This is the foothold Beachhead starts from.</a:t>
            </a:r>
          </a:p>
        </p:txBody>
      </p:sp>
      <p:sp>
        <p:nvSpPr>
          <p:cNvPr id="7" name="TextBox 6"/>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8" name="TextBox 7"/>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payoff · 16/24</a:t>
            </a:r>
          </a:p>
        </p:txBody>
      </p:sp>
      <p:pic>
        <p:nvPicPr>
          <p:cNvPr id="9" name="Picture 8" descr="phantom-bypass-complete-findings.png">
            <a:extLst>
              <a:ext uri="{FF2B5EF4-FFF2-40B4-BE49-F238E27FC236}">
                <a16:creationId xmlns:a16="http://schemas.microsoft.com/office/drawing/2014/main" id="{B4C6CB92-E76D-3A18-4563-85B89B5E39C0}"/>
              </a:ext>
            </a:extLst>
          </p:cNvPr>
          <p:cNvPicPr>
            <a:picLocks noChangeAspect="1"/>
          </p:cNvPicPr>
          <p:nvPr/>
        </p:nvPicPr>
        <p:blipFill>
          <a:blip r:embed="rId3"/>
          <a:stretch>
            <a:fillRect/>
          </a:stretch>
        </p:blipFill>
        <p:spPr>
          <a:xfrm>
            <a:off x="1371600" y="2331720"/>
            <a:ext cx="8110330" cy="3291840"/>
          </a:xfrm>
          <a:prstGeom prst="rect">
            <a:avLst/>
          </a:prstGeom>
          <a:ln w="9525">
            <a:solidFill>
              <a:srgbClr val="222C3A"/>
            </a:solid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recap · the chain</a:t>
            </a:r>
          </a:p>
        </p:txBody>
      </p:sp>
      <p:sp>
        <p:nvSpPr>
          <p:cNvPr id="3" name="TextBox 2"/>
          <p:cNvSpPr txBox="1"/>
          <p:nvPr/>
        </p:nvSpPr>
        <p:spPr>
          <a:xfrm>
            <a:off x="502920" y="713232"/>
            <a:ext cx="11155680" cy="477631"/>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None of it needed a </a:t>
            </a:r>
            <a:r>
              <a:rPr sz="3000" b="1" dirty="0">
                <a:solidFill>
                  <a:srgbClr val="FF5A45"/>
                </a:solidFill>
                <a:latin typeface="Arial"/>
              </a:rPr>
              <a:t>passkey</a:t>
            </a:r>
            <a:r>
              <a:rPr lang="en-US" sz="3000" b="1" dirty="0">
                <a:solidFill>
                  <a:srgbClr val="FF5A45"/>
                </a:solidFill>
                <a:latin typeface="Arial"/>
              </a:rPr>
              <a:t> (Beachhead)</a:t>
            </a:r>
            <a:endParaRPr sz="3000" b="1" dirty="0">
              <a:solidFill>
                <a:srgbClr val="FF5A45"/>
              </a:solidFill>
              <a:latin typeface="Arial"/>
            </a:endParaRPr>
          </a:p>
        </p:txBody>
      </p:sp>
      <p:sp>
        <p:nvSpPr>
          <p:cNvPr id="4" name="Rounded Rectangle 3"/>
          <p:cNvSpPr/>
          <p:nvPr/>
        </p:nvSpPr>
        <p:spPr>
          <a:xfrm>
            <a:off x="502920" y="1828800"/>
            <a:ext cx="11155680" cy="1287780"/>
          </a:xfrm>
          <a:prstGeom prst="roundRect">
            <a:avLst>
              <a:gd name="adj" fmla="val 4000"/>
            </a:avLst>
          </a:prstGeom>
          <a:solidFill>
            <a:srgbClr val="0B1017"/>
          </a:solidFill>
          <a:ln w="9525">
            <a:solidFill>
              <a:srgbClr val="1C27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5" name="Rectangle 4"/>
          <p:cNvSpPr/>
          <p:nvPr/>
        </p:nvSpPr>
        <p:spPr>
          <a:xfrm>
            <a:off x="502920" y="1828800"/>
            <a:ext cx="11155680" cy="384048"/>
          </a:xfrm>
          <a:prstGeom prst="rect">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Oval 5"/>
          <p:cNvSpPr/>
          <p:nvPr/>
        </p:nvSpPr>
        <p:spPr>
          <a:xfrm>
            <a:off x="649224" y="1965960"/>
            <a:ext cx="109728" cy="109728"/>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Oval 6"/>
          <p:cNvSpPr/>
          <p:nvPr/>
        </p:nvSpPr>
        <p:spPr>
          <a:xfrm>
            <a:off x="850392" y="1965960"/>
            <a:ext cx="109728" cy="109728"/>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Oval 7"/>
          <p:cNvSpPr/>
          <p:nvPr/>
        </p:nvSpPr>
        <p:spPr>
          <a:xfrm>
            <a:off x="1051560" y="1965960"/>
            <a:ext cx="109728" cy="109728"/>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1325880" y="1828800"/>
            <a:ext cx="10241280" cy="384048"/>
          </a:xfrm>
          <a:prstGeom prst="rect">
            <a:avLst/>
          </a:prstGeom>
          <a:noFill/>
        </p:spPr>
        <p:txBody>
          <a:bodyPr wrap="square" lIns="36576" tIns="18288" rIns="36576" bIns="18288" anchor="ctr">
            <a:spAutoFit/>
          </a:bodyPr>
          <a:lstStyle/>
          <a:p>
            <a:pPr algn="l">
              <a:spcBef>
                <a:spcPts val="0"/>
              </a:spcBef>
              <a:spcAft>
                <a:spcPts val="600"/>
              </a:spcAft>
            </a:pPr>
            <a:r>
              <a:rPr sz="1150" b="0" dirty="0">
                <a:solidFill>
                  <a:srgbClr val="7A8899"/>
                </a:solidFill>
                <a:latin typeface="Courier New"/>
              </a:rPr>
              <a:t>the chain</a:t>
            </a:r>
          </a:p>
        </p:txBody>
      </p:sp>
      <p:sp>
        <p:nvSpPr>
          <p:cNvPr id="10" name="TextBox 9"/>
          <p:cNvSpPr txBox="1"/>
          <p:nvPr/>
        </p:nvSpPr>
        <p:spPr>
          <a:xfrm>
            <a:off x="704088" y="2286000"/>
            <a:ext cx="10753344" cy="1678408"/>
          </a:xfrm>
          <a:prstGeom prst="rect">
            <a:avLst/>
          </a:prstGeom>
          <a:noFill/>
        </p:spPr>
        <p:txBody>
          <a:bodyPr wrap="square" lIns="36576" tIns="18288" rIns="36576" bIns="18288" anchor="t">
            <a:spAutoFit/>
          </a:bodyPr>
          <a:lstStyle/>
          <a:p>
            <a:pPr algn="l">
              <a:lnSpc>
                <a:spcPct val="150000"/>
              </a:lnSpc>
              <a:spcBef>
                <a:spcPts val="0"/>
              </a:spcBef>
              <a:spcAft>
                <a:spcPts val="200"/>
              </a:spcAft>
            </a:pPr>
            <a:r>
              <a:rPr sz="2400" b="0" dirty="0">
                <a:solidFill>
                  <a:srgbClr val="E6EDF3"/>
                </a:solidFill>
                <a:latin typeface="Courier New"/>
              </a:rPr>
              <a:t>browser control</a:t>
            </a:r>
            <a:r>
              <a:rPr sz="2400" b="0" dirty="0">
                <a:solidFill>
                  <a:srgbClr val="5A6472"/>
                </a:solidFill>
                <a:latin typeface="Courier New"/>
              </a:rPr>
              <a:t>  →  </a:t>
            </a:r>
            <a:r>
              <a:rPr sz="2400" b="0" dirty="0">
                <a:solidFill>
                  <a:srgbClr val="E6EDF3"/>
                </a:solidFill>
                <a:latin typeface="Courier New"/>
              </a:rPr>
              <a:t>downgrade / device-code</a:t>
            </a:r>
            <a:r>
              <a:rPr sz="2400" b="0" dirty="0">
                <a:solidFill>
                  <a:srgbClr val="5A6472"/>
                </a:solidFill>
                <a:latin typeface="Courier New"/>
              </a:rPr>
              <a:t>  →  </a:t>
            </a:r>
            <a:r>
              <a:rPr sz="2400" b="0" dirty="0">
                <a:solidFill>
                  <a:srgbClr val="E6EDF3"/>
                </a:solidFill>
                <a:latin typeface="Courier New"/>
              </a:rPr>
              <a:t>phantom device</a:t>
            </a:r>
          </a:p>
          <a:p>
            <a:pPr algn="l">
              <a:lnSpc>
                <a:spcPct val="150000"/>
              </a:lnSpc>
              <a:spcBef>
                <a:spcPts val="0"/>
              </a:spcBef>
              <a:spcAft>
                <a:spcPts val="200"/>
              </a:spcAft>
            </a:pPr>
            <a:r>
              <a:rPr sz="2400" b="0" dirty="0">
                <a:solidFill>
                  <a:srgbClr val="5A6472"/>
                </a:solidFill>
                <a:latin typeface="Courier New"/>
              </a:rPr>
              <a:t>      →  </a:t>
            </a:r>
            <a:r>
              <a:rPr sz="2400" b="0" dirty="0">
                <a:solidFill>
                  <a:srgbClr val="E6EDF3"/>
                </a:solidFill>
                <a:latin typeface="Courier New"/>
              </a:rPr>
              <a:t>PRT</a:t>
            </a:r>
            <a:r>
              <a:rPr sz="2400" b="0" dirty="0">
                <a:solidFill>
                  <a:srgbClr val="5A6472"/>
                </a:solidFill>
                <a:latin typeface="Courier New"/>
              </a:rPr>
              <a:t>  →  </a:t>
            </a:r>
            <a:r>
              <a:rPr sz="2400" b="0" dirty="0">
                <a:solidFill>
                  <a:srgbClr val="4ED16B"/>
                </a:solidFill>
                <a:latin typeface="Courier New"/>
              </a:rPr>
              <a:t>Graph token + ADO PAT</a:t>
            </a:r>
          </a:p>
        </p:txBody>
      </p:sp>
      <p:sp>
        <p:nvSpPr>
          <p:cNvPr id="11" name="TextBox 10"/>
          <p:cNvSpPr txBox="1"/>
          <p:nvPr/>
        </p:nvSpPr>
        <p:spPr>
          <a:xfrm>
            <a:off x="649224" y="4667528"/>
            <a:ext cx="11009376" cy="1314271"/>
          </a:xfrm>
          <a:prstGeom prst="rect">
            <a:avLst/>
          </a:prstGeom>
          <a:noFill/>
        </p:spPr>
        <p:txBody>
          <a:bodyPr wrap="square" lIns="36576" tIns="18288" rIns="36576" bIns="18288" anchor="t">
            <a:spAutoFit/>
          </a:bodyPr>
          <a:lstStyle/>
          <a:p>
            <a:pPr algn="l">
              <a:lnSpc>
                <a:spcPct val="135000"/>
              </a:lnSpc>
              <a:spcBef>
                <a:spcPts val="0"/>
              </a:spcBef>
              <a:spcAft>
                <a:spcPts val="1000"/>
              </a:spcAft>
            </a:pPr>
            <a:r>
              <a:rPr sz="1700" b="0" dirty="0">
                <a:solidFill>
                  <a:srgbClr val="E7B84B"/>
                </a:solidFill>
                <a:latin typeface="Arial"/>
              </a:rPr>
              <a:t>›  </a:t>
            </a:r>
            <a:r>
              <a:rPr sz="1700" b="0" dirty="0">
                <a:solidFill>
                  <a:srgbClr val="E6EDF3"/>
                </a:solidFill>
                <a:latin typeface="Arial"/>
              </a:rPr>
              <a:t>The passkey guarded the interactive leg. We never used that leg.</a:t>
            </a:r>
          </a:p>
          <a:p>
            <a:pPr algn="l">
              <a:lnSpc>
                <a:spcPct val="135000"/>
              </a:lnSpc>
              <a:spcBef>
                <a:spcPts val="0"/>
              </a:spcBef>
              <a:spcAft>
                <a:spcPts val="1000"/>
              </a:spcAft>
            </a:pPr>
            <a:r>
              <a:rPr sz="1700" b="0" dirty="0">
                <a:solidFill>
                  <a:srgbClr val="E7B84B"/>
                </a:solidFill>
                <a:latin typeface="Arial"/>
              </a:rPr>
              <a:t>›  </a:t>
            </a:r>
            <a:r>
              <a:rPr sz="1700" b="0" dirty="0">
                <a:solidFill>
                  <a:srgbClr val="E6EDF3"/>
                </a:solidFill>
                <a:latin typeface="Arial"/>
              </a:rPr>
              <a:t>The device-code + DRS grant was uncovered by Conditional Access.</a:t>
            </a:r>
          </a:p>
          <a:p>
            <a:pPr algn="l">
              <a:lnSpc>
                <a:spcPct val="135000"/>
              </a:lnSpc>
              <a:spcBef>
                <a:spcPts val="0"/>
              </a:spcBef>
              <a:spcAft>
                <a:spcPts val="1000"/>
              </a:spcAft>
            </a:pPr>
            <a:r>
              <a:rPr sz="1700" b="0" dirty="0">
                <a:solidFill>
                  <a:srgbClr val="E7B84B"/>
                </a:solidFill>
                <a:latin typeface="Arial"/>
              </a:rPr>
              <a:t>›  </a:t>
            </a:r>
            <a:r>
              <a:rPr sz="1700" b="0" dirty="0">
                <a:solidFill>
                  <a:srgbClr val="E6EDF3"/>
                </a:solidFill>
                <a:latin typeface="Arial"/>
              </a:rPr>
              <a:t>The phantom device satisfied every "compliant/joined device" check</a:t>
            </a:r>
          </a:p>
        </p:txBody>
      </p:sp>
      <p:sp>
        <p:nvSpPr>
          <p:cNvPr id="12" name="TextBox 11"/>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13" name="TextBox 12"/>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recap · 17/24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detection</a:t>
            </a:r>
          </a:p>
        </p:txBody>
      </p:sp>
      <p:sp>
        <p:nvSpPr>
          <p:cNvPr id="3" name="TextBox 2"/>
          <p:cNvSpPr txBox="1"/>
          <p:nvPr/>
        </p:nvSpPr>
        <p:spPr>
          <a:xfrm>
            <a:off x="502920" y="713232"/>
            <a:ext cx="3637280" cy="477631"/>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How </a:t>
            </a:r>
            <a:r>
              <a:rPr lang="en-US" sz="3000" b="1" dirty="0">
                <a:solidFill>
                  <a:srgbClr val="E6EDF3"/>
                </a:solidFill>
                <a:latin typeface="Arial"/>
              </a:rPr>
              <a:t>to</a:t>
            </a:r>
            <a:r>
              <a:rPr sz="3000" b="1" dirty="0">
                <a:solidFill>
                  <a:srgbClr val="E6EDF3"/>
                </a:solidFill>
                <a:latin typeface="Arial"/>
              </a:rPr>
              <a:t> catch this</a:t>
            </a:r>
          </a:p>
        </p:txBody>
      </p:sp>
      <p:sp>
        <p:nvSpPr>
          <p:cNvPr id="4" name="Rounded Rectangle 3"/>
          <p:cNvSpPr/>
          <p:nvPr/>
        </p:nvSpPr>
        <p:spPr>
          <a:xfrm>
            <a:off x="502920" y="1783080"/>
            <a:ext cx="5477255" cy="146304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5" name="Rectangle 4"/>
          <p:cNvSpPr/>
          <p:nvPr/>
        </p:nvSpPr>
        <p:spPr>
          <a:xfrm>
            <a:off x="502920" y="1783080"/>
            <a:ext cx="54864" cy="146304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TextBox 5"/>
          <p:cNvSpPr txBox="1"/>
          <p:nvPr/>
        </p:nvSpPr>
        <p:spPr>
          <a:xfrm>
            <a:off x="649224" y="1892807"/>
            <a:ext cx="5221223" cy="737318"/>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device-code sign-ins</a:t>
            </a:r>
          </a:p>
          <a:p>
            <a:pPr algn="l">
              <a:lnSpc>
                <a:spcPct val="118000"/>
              </a:lnSpc>
              <a:spcBef>
                <a:spcPts val="0"/>
              </a:spcBef>
              <a:spcAft>
                <a:spcPts val="600"/>
              </a:spcAft>
            </a:pPr>
            <a:r>
              <a:rPr sz="1250" b="0" dirty="0">
                <a:solidFill>
                  <a:srgbClr val="97A4B4"/>
                </a:solidFill>
                <a:latin typeface="Arial"/>
              </a:rPr>
              <a:t>Interactive sign-in logs flag authenticationProtocol = deviceCode. Rare for real users </a:t>
            </a:r>
            <a:r>
              <a:rPr lang="en-US" sz="1250" b="0" dirty="0">
                <a:solidFill>
                  <a:srgbClr val="97A4B4"/>
                </a:solidFill>
                <a:latin typeface="Arial"/>
              </a:rPr>
              <a:t>-</a:t>
            </a:r>
            <a:r>
              <a:rPr sz="1250" b="0" dirty="0">
                <a:solidFill>
                  <a:srgbClr val="97A4B4"/>
                </a:solidFill>
                <a:latin typeface="Arial"/>
              </a:rPr>
              <a:t> alert on it.</a:t>
            </a:r>
          </a:p>
        </p:txBody>
      </p:sp>
      <p:sp>
        <p:nvSpPr>
          <p:cNvPr id="7" name="Rounded Rectangle 6"/>
          <p:cNvSpPr/>
          <p:nvPr/>
        </p:nvSpPr>
        <p:spPr>
          <a:xfrm>
            <a:off x="6181343" y="1783080"/>
            <a:ext cx="5477255" cy="146304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8" name="Rectangle 7"/>
          <p:cNvSpPr/>
          <p:nvPr/>
        </p:nvSpPr>
        <p:spPr>
          <a:xfrm>
            <a:off x="6181343" y="1783080"/>
            <a:ext cx="54864" cy="146304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9" name="TextBox 8"/>
          <p:cNvSpPr txBox="1"/>
          <p:nvPr/>
        </p:nvSpPr>
        <p:spPr>
          <a:xfrm>
            <a:off x="6327647" y="1892807"/>
            <a:ext cx="5221223" cy="124358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new device registration</a:t>
            </a:r>
          </a:p>
          <a:p>
            <a:pPr algn="l">
              <a:lnSpc>
                <a:spcPct val="118000"/>
              </a:lnSpc>
              <a:spcBef>
                <a:spcPts val="0"/>
              </a:spcBef>
              <a:spcAft>
                <a:spcPts val="600"/>
              </a:spcAft>
            </a:pPr>
            <a:r>
              <a:rPr sz="1250" b="0" dirty="0">
                <a:solidFill>
                  <a:srgbClr val="97A4B4"/>
                </a:solidFill>
                <a:latin typeface="Arial"/>
              </a:rPr>
              <a:t>A DRS join with no TPM / no enrollment context, right after a device-code auth, is the tell.</a:t>
            </a:r>
          </a:p>
        </p:txBody>
      </p:sp>
      <p:sp>
        <p:nvSpPr>
          <p:cNvPr id="10" name="Rounded Rectangle 9"/>
          <p:cNvSpPr/>
          <p:nvPr/>
        </p:nvSpPr>
        <p:spPr>
          <a:xfrm>
            <a:off x="502920" y="3410712"/>
            <a:ext cx="5477255" cy="146304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1" name="Rectangle 10"/>
          <p:cNvSpPr/>
          <p:nvPr/>
        </p:nvSpPr>
        <p:spPr>
          <a:xfrm>
            <a:off x="502920" y="3410712"/>
            <a:ext cx="54864" cy="146304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TextBox 11"/>
          <p:cNvSpPr txBox="1"/>
          <p:nvPr/>
        </p:nvSpPr>
        <p:spPr>
          <a:xfrm>
            <a:off x="649224" y="3520440"/>
            <a:ext cx="5221223" cy="124358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legacy / ROPC auth</a:t>
            </a:r>
          </a:p>
          <a:p>
            <a:pPr algn="l">
              <a:lnSpc>
                <a:spcPct val="118000"/>
              </a:lnSpc>
              <a:spcBef>
                <a:spcPts val="0"/>
              </a:spcBef>
              <a:spcAft>
                <a:spcPts val="600"/>
              </a:spcAft>
            </a:pPr>
            <a:r>
              <a:rPr sz="1250" b="0" dirty="0">
                <a:solidFill>
                  <a:srgbClr val="97A4B4"/>
                </a:solidFill>
                <a:latin typeface="Arial"/>
              </a:rPr>
              <a:t>Password-grant sign-ins are distinctly flagged. They should be near-zero.</a:t>
            </a:r>
          </a:p>
        </p:txBody>
      </p:sp>
      <p:sp>
        <p:nvSpPr>
          <p:cNvPr id="13" name="Rounded Rectangle 12"/>
          <p:cNvSpPr/>
          <p:nvPr/>
        </p:nvSpPr>
        <p:spPr>
          <a:xfrm>
            <a:off x="6181343" y="3410712"/>
            <a:ext cx="5477255" cy="146304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4" name="Rectangle 13"/>
          <p:cNvSpPr/>
          <p:nvPr/>
        </p:nvSpPr>
        <p:spPr>
          <a:xfrm>
            <a:off x="6181343" y="3410712"/>
            <a:ext cx="54864" cy="146304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5" name="TextBox 14"/>
          <p:cNvSpPr txBox="1"/>
          <p:nvPr/>
        </p:nvSpPr>
        <p:spPr>
          <a:xfrm>
            <a:off x="6327647" y="3520440"/>
            <a:ext cx="5221223" cy="737318"/>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PAT creation</a:t>
            </a:r>
          </a:p>
          <a:p>
            <a:pPr algn="l">
              <a:lnSpc>
                <a:spcPct val="118000"/>
              </a:lnSpc>
              <a:spcBef>
                <a:spcPts val="0"/>
              </a:spcBef>
              <a:spcAft>
                <a:spcPts val="600"/>
              </a:spcAft>
            </a:pPr>
            <a:r>
              <a:rPr sz="1250" b="0" dirty="0">
                <a:solidFill>
                  <a:srgbClr val="97A4B4"/>
                </a:solidFill>
                <a:latin typeface="Arial"/>
              </a:rPr>
              <a:t>Azure DevOps PAT lifecycle events </a:t>
            </a:r>
            <a:r>
              <a:rPr lang="en-US" sz="1250" b="0" dirty="0">
                <a:solidFill>
                  <a:srgbClr val="97A4B4"/>
                </a:solidFill>
                <a:latin typeface="Arial"/>
              </a:rPr>
              <a:t>-</a:t>
            </a:r>
            <a:r>
              <a:rPr sz="1250" b="0" dirty="0">
                <a:solidFill>
                  <a:srgbClr val="97A4B4"/>
                </a:solidFill>
                <a:latin typeface="Arial"/>
              </a:rPr>
              <a:t> especially app_token / all-orgs </a:t>
            </a:r>
            <a:r>
              <a:rPr lang="en-US" sz="1250" b="0" dirty="0">
                <a:solidFill>
                  <a:srgbClr val="97A4B4"/>
                </a:solidFill>
                <a:latin typeface="Arial"/>
              </a:rPr>
              <a:t>-</a:t>
            </a:r>
            <a:r>
              <a:rPr sz="1250" b="0" dirty="0">
                <a:solidFill>
                  <a:srgbClr val="97A4B4"/>
                </a:solidFill>
                <a:latin typeface="Arial"/>
              </a:rPr>
              <a:t> are auditable and durable.</a:t>
            </a:r>
          </a:p>
        </p:txBody>
      </p:sp>
      <p:sp>
        <p:nvSpPr>
          <p:cNvPr id="16" name="Rounded Rectangle 15"/>
          <p:cNvSpPr/>
          <p:nvPr/>
        </p:nvSpPr>
        <p:spPr>
          <a:xfrm>
            <a:off x="502920" y="5029200"/>
            <a:ext cx="11155680" cy="658368"/>
          </a:xfrm>
          <a:prstGeom prst="roundRect">
            <a:avLst>
              <a:gd name="adj" fmla="val 6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7" name="TextBox 16"/>
          <p:cNvSpPr txBox="1"/>
          <p:nvPr/>
        </p:nvSpPr>
        <p:spPr>
          <a:xfrm>
            <a:off x="667512" y="5235145"/>
            <a:ext cx="10826496" cy="246478"/>
          </a:xfrm>
          <a:prstGeom prst="rect">
            <a:avLst/>
          </a:prstGeom>
          <a:noFill/>
        </p:spPr>
        <p:txBody>
          <a:bodyPr wrap="square" lIns="36576" tIns="18288" rIns="36576" bIns="18288" anchor="ctr">
            <a:spAutoFit/>
          </a:bodyPr>
          <a:lstStyle/>
          <a:p>
            <a:pPr algn="l">
              <a:lnSpc>
                <a:spcPct val="120000"/>
              </a:lnSpc>
              <a:spcBef>
                <a:spcPts val="0"/>
              </a:spcBef>
              <a:spcAft>
                <a:spcPts val="600"/>
              </a:spcAft>
            </a:pPr>
            <a:r>
              <a:rPr sz="1250" b="0" dirty="0">
                <a:solidFill>
                  <a:srgbClr val="E7B84B"/>
                </a:solidFill>
                <a:latin typeface="Arial"/>
              </a:rPr>
              <a:t>// fix</a:t>
            </a:r>
            <a:r>
              <a:rPr lang="en-US" sz="1250" b="0" dirty="0">
                <a:solidFill>
                  <a:srgbClr val="E7B84B"/>
                </a:solidFill>
                <a:latin typeface="Arial"/>
              </a:rPr>
              <a:t>: </a:t>
            </a:r>
            <a:r>
              <a:rPr sz="1250" b="0" dirty="0">
                <a:solidFill>
                  <a:srgbClr val="97A4B4"/>
                </a:solidFill>
                <a:latin typeface="Arial"/>
              </a:rPr>
              <a:t>require </a:t>
            </a:r>
            <a:r>
              <a:rPr sz="1250" b="0" dirty="0">
                <a:solidFill>
                  <a:srgbClr val="E7B84B"/>
                </a:solidFill>
                <a:latin typeface="Arial"/>
              </a:rPr>
              <a:t>authentication strength</a:t>
            </a:r>
            <a:r>
              <a:rPr sz="1250" b="0" dirty="0">
                <a:solidFill>
                  <a:srgbClr val="97A4B4"/>
                </a:solidFill>
                <a:latin typeface="Arial"/>
              </a:rPr>
              <a:t> (not just "MFA"</a:t>
            </a:r>
            <a:r>
              <a:rPr lang="en-US" sz="1250" b="0" dirty="0">
                <a:solidFill>
                  <a:srgbClr val="97A4B4"/>
                </a:solidFill>
                <a:latin typeface="Arial"/>
              </a:rPr>
              <a:t>) and</a:t>
            </a:r>
            <a:r>
              <a:rPr sz="1250" b="0" dirty="0">
                <a:solidFill>
                  <a:srgbClr val="97A4B4"/>
                </a:solidFill>
                <a:latin typeface="Arial"/>
              </a:rPr>
              <a:t> put CA on the device-code and DRS grants, not only interactive.</a:t>
            </a:r>
          </a:p>
        </p:txBody>
      </p:sp>
      <p:sp>
        <p:nvSpPr>
          <p:cNvPr id="18" name="TextBox 17"/>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19" name="TextBox 18"/>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detect · 18/24</a:t>
            </a:r>
          </a:p>
        </p:txBody>
      </p:sp>
      <p:pic>
        <p:nvPicPr>
          <p:cNvPr id="20" name="Picture 19" descr="Security guard with shield and beacon">
            <a:extLst>
              <a:ext uri="{FF2B5EF4-FFF2-40B4-BE49-F238E27FC236}">
                <a16:creationId xmlns:a16="http://schemas.microsoft.com/office/drawing/2014/main" id="{907C75A8-5EBE-931A-5F0B-080A6396431D}"/>
              </a:ext>
            </a:extLst>
          </p:cNvPr>
          <p:cNvPicPr>
            <a:picLocks noChangeAspect="1"/>
          </p:cNvPicPr>
          <p:nvPr/>
        </p:nvPicPr>
        <p:blipFill>
          <a:blip r:embed="rId3"/>
          <a:stretch>
            <a:fillRect/>
          </a:stretch>
        </p:blipFill>
        <p:spPr>
          <a:xfrm>
            <a:off x="5542090" y="379152"/>
            <a:ext cx="1107820" cy="11078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detection · from the sign-in logs</a:t>
            </a:r>
          </a:p>
        </p:txBody>
      </p:sp>
      <p:sp>
        <p:nvSpPr>
          <p:cNvPr id="3" name="TextBox 2"/>
          <p:cNvSpPr txBox="1"/>
          <p:nvPr/>
        </p:nvSpPr>
        <p:spPr>
          <a:xfrm>
            <a:off x="502920" y="713232"/>
            <a:ext cx="11155680" cy="448328"/>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2800" b="1" dirty="0">
                <a:solidFill>
                  <a:srgbClr val="E6EDF3"/>
                </a:solidFill>
                <a:latin typeface="Arial"/>
              </a:rPr>
              <a:t>Detections </a:t>
            </a:r>
            <a:r>
              <a:rPr lang="en-US" sz="2800" b="1" dirty="0">
                <a:solidFill>
                  <a:srgbClr val="E6EDF3"/>
                </a:solidFill>
                <a:latin typeface="Arial"/>
              </a:rPr>
              <a:t>that might be missed</a:t>
            </a:r>
            <a:endParaRPr sz="2800" b="1" dirty="0">
              <a:solidFill>
                <a:srgbClr val="E6EDF3"/>
              </a:solidFill>
              <a:latin typeface="Arial"/>
            </a:endParaRPr>
          </a:p>
        </p:txBody>
      </p:sp>
      <p:sp>
        <p:nvSpPr>
          <p:cNvPr id="4" name="TextBox 3"/>
          <p:cNvSpPr txBox="1"/>
          <p:nvPr/>
        </p:nvSpPr>
        <p:spPr>
          <a:xfrm>
            <a:off x="502920" y="1463040"/>
            <a:ext cx="11155680" cy="279757"/>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400" b="0" dirty="0">
                <a:solidFill>
                  <a:srgbClr val="97A4B4"/>
                </a:solidFill>
                <a:latin typeface="Arial"/>
              </a:rPr>
              <a:t>What the engagement's Entra sign-in telemetry </a:t>
            </a:r>
            <a:r>
              <a:rPr lang="en-US" sz="1400" b="0" dirty="0">
                <a:solidFill>
                  <a:srgbClr val="97A4B4"/>
                </a:solidFill>
                <a:latin typeface="Arial"/>
              </a:rPr>
              <a:t>lit</a:t>
            </a:r>
            <a:r>
              <a:rPr sz="1400" b="0" dirty="0">
                <a:solidFill>
                  <a:srgbClr val="97A4B4"/>
                </a:solidFill>
                <a:latin typeface="Arial"/>
              </a:rPr>
              <a:t> up </a:t>
            </a:r>
            <a:r>
              <a:rPr lang="en-US" sz="1400" b="0" dirty="0">
                <a:solidFill>
                  <a:srgbClr val="97A4B4"/>
                </a:solidFill>
                <a:latin typeface="Arial"/>
              </a:rPr>
              <a:t>-</a:t>
            </a:r>
            <a:r>
              <a:rPr sz="1400" b="0" dirty="0">
                <a:solidFill>
                  <a:srgbClr val="97A4B4"/>
                </a:solidFill>
                <a:latin typeface="Arial"/>
              </a:rPr>
              <a:t> build these analytics; risk scoring missed the whole chain</a:t>
            </a:r>
            <a:r>
              <a:rPr sz="1200" b="0" dirty="0">
                <a:solidFill>
                  <a:srgbClr val="97A4B4"/>
                </a:solidFill>
                <a:latin typeface="Arial"/>
              </a:rPr>
              <a:t>.</a:t>
            </a:r>
          </a:p>
        </p:txBody>
      </p:sp>
      <p:graphicFrame>
        <p:nvGraphicFramePr>
          <p:cNvPr id="5" name="Table 4"/>
          <p:cNvGraphicFramePr>
            <a:graphicFrameLocks noGrp="1"/>
          </p:cNvGraphicFramePr>
          <p:nvPr>
            <p:extLst>
              <p:ext uri="{D42A27DB-BD31-4B8C-83A1-F6EECF244321}">
                <p14:modId xmlns:p14="http://schemas.microsoft.com/office/powerpoint/2010/main" val="2636513251"/>
              </p:ext>
            </p:extLst>
          </p:nvPr>
        </p:nvGraphicFramePr>
        <p:xfrm>
          <a:off x="564204" y="1964894"/>
          <a:ext cx="11155680" cy="4334256"/>
        </p:xfrm>
        <a:graphic>
          <a:graphicData uri="http://schemas.openxmlformats.org/drawingml/2006/table">
            <a:tbl>
              <a:tblPr/>
              <a:tblGrid>
                <a:gridCol w="3346315">
                  <a:extLst>
                    <a:ext uri="{9D8B030D-6E8A-4147-A177-3AD203B41FA5}">
                      <a16:colId xmlns:a16="http://schemas.microsoft.com/office/drawing/2014/main" val="20000"/>
                    </a:ext>
                  </a:extLst>
                </a:gridCol>
                <a:gridCol w="7809365">
                  <a:extLst>
                    <a:ext uri="{9D8B030D-6E8A-4147-A177-3AD203B41FA5}">
                      <a16:colId xmlns:a16="http://schemas.microsoft.com/office/drawing/2014/main" val="20001"/>
                    </a:ext>
                  </a:extLst>
                </a:gridCol>
              </a:tblGrid>
              <a:tr h="483866">
                <a:tc>
                  <a:txBody>
                    <a:bodyPr/>
                    <a:lstStyle/>
                    <a:p>
                      <a:pPr algn="l"/>
                      <a:r>
                        <a:rPr sz="1400" b="1" dirty="0">
                          <a:solidFill>
                            <a:schemeClr val="tx2">
                              <a:lumMod val="50000"/>
                            </a:schemeClr>
                          </a:solidFill>
                          <a:latin typeface="Arial"/>
                        </a:rPr>
                        <a:t>Detection</a:t>
                      </a:r>
                    </a:p>
                  </a:txBody>
                  <a:tcPr marL="73152" marR="54864" marT="9144" marB="9144" anchor="ctr">
                    <a:solidFill>
                      <a:schemeClr val="tx2">
                        <a:lumMod val="40000"/>
                        <a:lumOff val="60000"/>
                      </a:schemeClr>
                    </a:solidFill>
                  </a:tcPr>
                </a:tc>
                <a:tc>
                  <a:txBody>
                    <a:bodyPr/>
                    <a:lstStyle/>
                    <a:p>
                      <a:pPr algn="l"/>
                      <a:r>
                        <a:rPr sz="1400" b="1" dirty="0">
                          <a:solidFill>
                            <a:schemeClr val="tx2">
                              <a:lumMod val="50000"/>
                            </a:schemeClr>
                          </a:solidFill>
                          <a:latin typeface="Courier New"/>
                        </a:rPr>
                        <a:t>Signal </a:t>
                      </a:r>
                      <a:r>
                        <a:rPr lang="en-US" sz="1400" b="1" dirty="0">
                          <a:solidFill>
                            <a:schemeClr val="tx2">
                              <a:lumMod val="50000"/>
                            </a:schemeClr>
                          </a:solidFill>
                          <a:latin typeface="Courier New"/>
                        </a:rPr>
                        <a:t>-</a:t>
                      </a:r>
                      <a:r>
                        <a:rPr sz="1400" b="1" dirty="0">
                          <a:solidFill>
                            <a:schemeClr val="tx2">
                              <a:lumMod val="50000"/>
                            </a:schemeClr>
                          </a:solidFill>
                          <a:latin typeface="Courier New"/>
                        </a:rPr>
                        <a:t> Entra sign-in log</a:t>
                      </a:r>
                    </a:p>
                  </a:txBody>
                  <a:tcPr marL="73152" marR="54864" marT="9144" marB="9144" anchor="ctr">
                    <a:solidFill>
                      <a:schemeClr val="tx2">
                        <a:lumMod val="40000"/>
                        <a:lumOff val="60000"/>
                      </a:schemeClr>
                    </a:solidFill>
                  </a:tcPr>
                </a:tc>
                <a:extLst>
                  <a:ext uri="{0D108BD9-81ED-4DB2-BD59-A6C34878D82A}">
                    <a16:rowId xmlns:a16="http://schemas.microsoft.com/office/drawing/2014/main" val="10000"/>
                  </a:ext>
                </a:extLst>
              </a:tr>
              <a:tr h="385039">
                <a:tc>
                  <a:txBody>
                    <a:bodyPr/>
                    <a:lstStyle/>
                    <a:p>
                      <a:pPr algn="l"/>
                      <a:r>
                        <a:rPr sz="1400" b="1" dirty="0">
                          <a:solidFill>
                            <a:schemeClr val="tx1"/>
                          </a:solidFill>
                          <a:latin typeface="Arial"/>
                        </a:rPr>
                        <a:t>Scripting user agents</a:t>
                      </a:r>
                    </a:p>
                  </a:txBody>
                  <a:tcPr marL="73152" marR="54864" marT="9144" marB="9144" anchor="ctr">
                    <a:solidFill>
                      <a:schemeClr val="bg1"/>
                    </a:solidFill>
                  </a:tcPr>
                </a:tc>
                <a:tc>
                  <a:txBody>
                    <a:bodyPr/>
                    <a:lstStyle/>
                    <a:p>
                      <a:pPr algn="l"/>
                      <a:r>
                        <a:rPr sz="1400" dirty="0">
                          <a:solidFill>
                            <a:schemeClr val="tx1"/>
                          </a:solidFill>
                          <a:latin typeface="Courier New"/>
                        </a:rPr>
                        <a:t>userAgent = python-* / curl / not a real browser, to Graph/token</a:t>
                      </a:r>
                    </a:p>
                  </a:txBody>
                  <a:tcPr marL="73152" marR="54864" marT="9144" marB="9144" anchor="ctr">
                    <a:solidFill>
                      <a:schemeClr val="bg1"/>
                    </a:solidFill>
                  </a:tcPr>
                </a:tc>
                <a:extLst>
                  <a:ext uri="{0D108BD9-81ED-4DB2-BD59-A6C34878D82A}">
                    <a16:rowId xmlns:a16="http://schemas.microsoft.com/office/drawing/2014/main" val="10001"/>
                  </a:ext>
                </a:extLst>
              </a:tr>
              <a:tr h="385039">
                <a:tc>
                  <a:txBody>
                    <a:bodyPr/>
                    <a:lstStyle/>
                    <a:p>
                      <a:pPr algn="l"/>
                      <a:r>
                        <a:rPr sz="1400" b="1" dirty="0">
                          <a:solidFill>
                            <a:schemeClr val="tx1"/>
                          </a:solidFill>
                          <a:latin typeface="Arial"/>
                        </a:rPr>
                        <a:t>PRT → legacy AAD Graph</a:t>
                      </a:r>
                    </a:p>
                  </a:txBody>
                  <a:tcPr marL="73152" marR="54864" marT="9144" marB="9144" anchor="ctr">
                    <a:solidFill>
                      <a:schemeClr val="bg1"/>
                    </a:solidFill>
                  </a:tcPr>
                </a:tc>
                <a:tc>
                  <a:txBody>
                    <a:bodyPr/>
                    <a:lstStyle/>
                    <a:p>
                      <a:pPr algn="l"/>
                      <a:r>
                        <a:rPr sz="1400" dirty="0">
                          <a:solidFill>
                            <a:schemeClr val="tx1"/>
                          </a:solidFill>
                          <a:latin typeface="Courier New"/>
                        </a:rPr>
                        <a:t>incomingTokenType=primaryRefreshToken + resource Windows Azure AD</a:t>
                      </a:r>
                    </a:p>
                  </a:txBody>
                  <a:tcPr marL="73152" marR="54864" marT="9144" marB="9144" anchor="ctr">
                    <a:solidFill>
                      <a:schemeClr val="bg1"/>
                    </a:solidFill>
                  </a:tcPr>
                </a:tc>
                <a:extLst>
                  <a:ext uri="{0D108BD9-81ED-4DB2-BD59-A6C34878D82A}">
                    <a16:rowId xmlns:a16="http://schemas.microsoft.com/office/drawing/2014/main" val="10002"/>
                  </a:ext>
                </a:extLst>
              </a:tr>
              <a:tr h="385039">
                <a:tc>
                  <a:txBody>
                    <a:bodyPr/>
                    <a:lstStyle/>
                    <a:p>
                      <a:pPr algn="l"/>
                      <a:r>
                        <a:rPr sz="1400" b="1" dirty="0">
                          <a:solidFill>
                            <a:schemeClr val="tx1"/>
                          </a:solidFill>
                          <a:latin typeface="Arial"/>
                        </a:rPr>
                        <a:t>First-party client abuse</a:t>
                      </a:r>
                    </a:p>
                  </a:txBody>
                  <a:tcPr marL="73152" marR="54864" marT="9144" marB="9144" anchor="ctr">
                    <a:solidFill>
                      <a:schemeClr val="bg1"/>
                    </a:solidFill>
                  </a:tcPr>
                </a:tc>
                <a:tc>
                  <a:txBody>
                    <a:bodyPr/>
                    <a:lstStyle/>
                    <a:p>
                      <a:pPr algn="l"/>
                      <a:r>
                        <a:rPr sz="1400" dirty="0">
                          <a:solidFill>
                            <a:schemeClr val="tx1"/>
                          </a:solidFill>
                          <a:latin typeface="Courier New"/>
                        </a:rPr>
                        <a:t>Auth Broker → Device Registration Service; Azure CLI + ropc</a:t>
                      </a:r>
                    </a:p>
                  </a:txBody>
                  <a:tcPr marL="73152" marR="54864" marT="9144" marB="9144" anchor="ctr">
                    <a:solidFill>
                      <a:schemeClr val="bg1"/>
                    </a:solidFill>
                  </a:tcPr>
                </a:tc>
                <a:extLst>
                  <a:ext uri="{0D108BD9-81ED-4DB2-BD59-A6C34878D82A}">
                    <a16:rowId xmlns:a16="http://schemas.microsoft.com/office/drawing/2014/main" val="10003"/>
                  </a:ext>
                </a:extLst>
              </a:tr>
              <a:tr h="385039">
                <a:tc>
                  <a:txBody>
                    <a:bodyPr/>
                    <a:lstStyle/>
                    <a:p>
                      <a:pPr algn="l"/>
                      <a:r>
                        <a:rPr sz="1400" b="1" dirty="0">
                          <a:solidFill>
                            <a:schemeClr val="tx1"/>
                          </a:solidFill>
                          <a:latin typeface="Arial"/>
                        </a:rPr>
                        <a:t>Legacy AAD Graph access</a:t>
                      </a:r>
                    </a:p>
                  </a:txBody>
                  <a:tcPr marL="73152" marR="54864" marT="9144" marB="9144" anchor="ctr">
                    <a:solidFill>
                      <a:schemeClr val="bg1"/>
                    </a:solidFill>
                  </a:tcPr>
                </a:tc>
                <a:tc>
                  <a:txBody>
                    <a:bodyPr/>
                    <a:lstStyle/>
                    <a:p>
                      <a:pPr algn="l"/>
                      <a:r>
                        <a:rPr sz="1400" dirty="0">
                          <a:solidFill>
                            <a:schemeClr val="tx1"/>
                          </a:solidFill>
                          <a:latin typeface="Courier New"/>
                        </a:rPr>
                        <a:t>resource = Windows Azure Active Directory (graph.windows.net)</a:t>
                      </a:r>
                    </a:p>
                  </a:txBody>
                  <a:tcPr marL="73152" marR="54864" marT="9144" marB="9144" anchor="ctr">
                    <a:solidFill>
                      <a:schemeClr val="bg1"/>
                    </a:solidFill>
                  </a:tcPr>
                </a:tc>
                <a:extLst>
                  <a:ext uri="{0D108BD9-81ED-4DB2-BD59-A6C34878D82A}">
                    <a16:rowId xmlns:a16="http://schemas.microsoft.com/office/drawing/2014/main" val="10004"/>
                  </a:ext>
                </a:extLst>
              </a:tr>
              <a:tr h="385039">
                <a:tc>
                  <a:txBody>
                    <a:bodyPr/>
                    <a:lstStyle/>
                    <a:p>
                      <a:pPr algn="l"/>
                      <a:r>
                        <a:rPr sz="1400" b="1" dirty="0">
                          <a:solidFill>
                            <a:schemeClr val="tx1"/>
                          </a:solidFill>
                          <a:latin typeface="Arial"/>
                        </a:rPr>
                        <a:t>Single origin, full chain</a:t>
                      </a:r>
                    </a:p>
                  </a:txBody>
                  <a:tcPr marL="73152" marR="54864" marT="9144" marB="9144" anchor="ctr">
                    <a:solidFill>
                      <a:schemeClr val="bg1"/>
                    </a:solidFill>
                  </a:tcPr>
                </a:tc>
                <a:tc>
                  <a:txBody>
                    <a:bodyPr/>
                    <a:lstStyle/>
                    <a:p>
                      <a:pPr algn="l"/>
                      <a:r>
                        <a:rPr sz="1400" dirty="0">
                          <a:solidFill>
                            <a:schemeClr val="tx1"/>
                          </a:solidFill>
                          <a:latin typeface="Courier New"/>
                        </a:rPr>
                        <a:t>one IP/ASN: device-code + ROPC + PRT + DRS across users</a:t>
                      </a:r>
                    </a:p>
                  </a:txBody>
                  <a:tcPr marL="73152" marR="54864" marT="9144" marB="9144" anchor="ctr">
                    <a:solidFill>
                      <a:schemeClr val="bg1"/>
                    </a:solidFill>
                  </a:tcPr>
                </a:tc>
                <a:extLst>
                  <a:ext uri="{0D108BD9-81ED-4DB2-BD59-A6C34878D82A}">
                    <a16:rowId xmlns:a16="http://schemas.microsoft.com/office/drawing/2014/main" val="10005"/>
                  </a:ext>
                </a:extLst>
              </a:tr>
              <a:tr h="385039">
                <a:tc>
                  <a:txBody>
                    <a:bodyPr/>
                    <a:lstStyle/>
                    <a:p>
                      <a:pPr algn="l"/>
                      <a:r>
                        <a:rPr sz="1400" b="1" dirty="0">
                          <a:solidFill>
                            <a:schemeClr val="tx1"/>
                          </a:solidFill>
                          <a:latin typeface="Arial"/>
                        </a:rPr>
                        <a:t>MFA-required burst</a:t>
                      </a:r>
                    </a:p>
                  </a:txBody>
                  <a:tcPr marL="73152" marR="54864" marT="9144" marB="9144" anchor="ctr">
                    <a:solidFill>
                      <a:schemeClr val="bg1"/>
                    </a:solidFill>
                  </a:tcPr>
                </a:tc>
                <a:tc>
                  <a:txBody>
                    <a:bodyPr/>
                    <a:lstStyle/>
                    <a:p>
                      <a:pPr algn="l"/>
                      <a:r>
                        <a:rPr sz="1400" dirty="0">
                          <a:solidFill>
                            <a:schemeClr val="tx1"/>
                          </a:solidFill>
                          <a:latin typeface="Courier New"/>
                        </a:rPr>
                        <a:t>errorCode=50076 on ropc / deviceCode / PRT grants</a:t>
                      </a:r>
                    </a:p>
                  </a:txBody>
                  <a:tcPr marL="73152" marR="54864" marT="9144" marB="9144" anchor="ctr">
                    <a:solidFill>
                      <a:schemeClr val="bg1"/>
                    </a:solidFill>
                  </a:tcPr>
                </a:tc>
                <a:extLst>
                  <a:ext uri="{0D108BD9-81ED-4DB2-BD59-A6C34878D82A}">
                    <a16:rowId xmlns:a16="http://schemas.microsoft.com/office/drawing/2014/main" val="10006"/>
                  </a:ext>
                </a:extLst>
              </a:tr>
              <a:tr h="385039">
                <a:tc>
                  <a:txBody>
                    <a:bodyPr/>
                    <a:lstStyle/>
                    <a:p>
                      <a:pPr algn="l"/>
                      <a:r>
                        <a:rPr sz="1400" b="1" dirty="0">
                          <a:solidFill>
                            <a:schemeClr val="tx1"/>
                          </a:solidFill>
                          <a:latin typeface="Arial"/>
                        </a:rPr>
                        <a:t>Unmanaged AAD-joined device</a:t>
                      </a:r>
                    </a:p>
                  </a:txBody>
                  <a:tcPr marL="73152" marR="54864" marT="9144" marB="9144" anchor="ctr">
                    <a:solidFill>
                      <a:schemeClr val="bg1"/>
                    </a:solidFill>
                  </a:tcPr>
                </a:tc>
                <a:tc>
                  <a:txBody>
                    <a:bodyPr/>
                    <a:lstStyle/>
                    <a:p>
                      <a:pPr algn="l"/>
                      <a:r>
                        <a:rPr sz="1400" dirty="0">
                          <a:solidFill>
                            <a:schemeClr val="tx1"/>
                          </a:solidFill>
                          <a:latin typeface="Courier New"/>
                        </a:rPr>
                        <a:t>trustType=Azure AD joined, isCompliant=false, isManaged=false</a:t>
                      </a:r>
                    </a:p>
                  </a:txBody>
                  <a:tcPr marL="73152" marR="54864" marT="9144" marB="9144" anchor="ctr">
                    <a:solidFill>
                      <a:schemeClr val="bg1"/>
                    </a:solidFill>
                  </a:tcPr>
                </a:tc>
                <a:extLst>
                  <a:ext uri="{0D108BD9-81ED-4DB2-BD59-A6C34878D82A}">
                    <a16:rowId xmlns:a16="http://schemas.microsoft.com/office/drawing/2014/main" val="10007"/>
                  </a:ext>
                </a:extLst>
              </a:tr>
              <a:tr h="385039">
                <a:tc>
                  <a:txBody>
                    <a:bodyPr/>
                    <a:lstStyle/>
                    <a:p>
                      <a:pPr algn="l"/>
                      <a:r>
                        <a:rPr sz="1400" b="1" dirty="0">
                          <a:solidFill>
                            <a:schemeClr val="tx1"/>
                          </a:solidFill>
                          <a:latin typeface="Arial"/>
                        </a:rPr>
                        <a:t>CA not applied on key resource</a:t>
                      </a:r>
                    </a:p>
                  </a:txBody>
                  <a:tcPr marL="73152" marR="54864" marT="9144" marB="9144" anchor="ctr">
                    <a:solidFill>
                      <a:schemeClr val="bg1"/>
                    </a:solidFill>
                  </a:tcPr>
                </a:tc>
                <a:tc>
                  <a:txBody>
                    <a:bodyPr/>
                    <a:lstStyle/>
                    <a:p>
                      <a:pPr algn="l"/>
                      <a:r>
                        <a:rPr sz="1400" dirty="0">
                          <a:solidFill>
                            <a:schemeClr val="tx1"/>
                          </a:solidFill>
                          <a:latin typeface="Courier New"/>
                        </a:rPr>
                        <a:t>conditionalAccessStatus=notApplied on DRS / AAD-Graph / ADO</a:t>
                      </a:r>
                    </a:p>
                  </a:txBody>
                  <a:tcPr marL="73152" marR="54864" marT="9144" marB="9144" anchor="ctr">
                    <a:solidFill>
                      <a:schemeClr val="bg1"/>
                    </a:solidFill>
                  </a:tcPr>
                </a:tc>
                <a:extLst>
                  <a:ext uri="{0D108BD9-81ED-4DB2-BD59-A6C34878D82A}">
                    <a16:rowId xmlns:a16="http://schemas.microsoft.com/office/drawing/2014/main" val="10008"/>
                  </a:ext>
                </a:extLst>
              </a:tr>
              <a:tr h="385039">
                <a:tc>
                  <a:txBody>
                    <a:bodyPr/>
                    <a:lstStyle/>
                    <a:p>
                      <a:pPr algn="l"/>
                      <a:r>
                        <a:rPr sz="1400" b="1" dirty="0">
                          <a:solidFill>
                            <a:schemeClr val="tx1"/>
                          </a:solidFill>
                          <a:latin typeface="Arial"/>
                        </a:rPr>
                        <a:t>ADO token → PAT</a:t>
                      </a:r>
                    </a:p>
                  </a:txBody>
                  <a:tcPr marL="73152" marR="54864" marT="9144" marB="9144" anchor="ctr">
                    <a:solidFill>
                      <a:schemeClr val="bg1"/>
                    </a:solidFill>
                  </a:tcPr>
                </a:tc>
                <a:tc>
                  <a:txBody>
                    <a:bodyPr/>
                    <a:lstStyle/>
                    <a:p>
                      <a:pPr algn="l"/>
                      <a:r>
                        <a:rPr sz="1400" dirty="0">
                          <a:solidFill>
                            <a:schemeClr val="tx1"/>
                          </a:solidFill>
                          <a:latin typeface="Courier New"/>
                        </a:rPr>
                        <a:t>Azure DevOps token via ROPC/CLI (python UA) → PAT event</a:t>
                      </a:r>
                    </a:p>
                  </a:txBody>
                  <a:tcPr marL="73152" marR="54864" marT="9144" marB="9144" anchor="ctr">
                    <a:solidFill>
                      <a:schemeClr val="bg1"/>
                    </a:solidFill>
                  </a:tcPr>
                </a:tc>
                <a:extLst>
                  <a:ext uri="{0D108BD9-81ED-4DB2-BD59-A6C34878D82A}">
                    <a16:rowId xmlns:a16="http://schemas.microsoft.com/office/drawing/2014/main" val="10009"/>
                  </a:ext>
                </a:extLst>
              </a:tr>
              <a:tr h="385039">
                <a:tc>
                  <a:txBody>
                    <a:bodyPr/>
                    <a:lstStyle/>
                    <a:p>
                      <a:pPr algn="l"/>
                      <a:r>
                        <a:rPr sz="1400" b="1" dirty="0">
                          <a:solidFill>
                            <a:schemeClr val="tx1"/>
                          </a:solidFill>
                          <a:latin typeface="Arial"/>
                        </a:rPr>
                        <a:t>Risk scoring blind</a:t>
                      </a:r>
                    </a:p>
                  </a:txBody>
                  <a:tcPr marL="73152" marR="54864" marT="9144" marB="9144" anchor="ctr">
                    <a:solidFill>
                      <a:schemeClr val="bg1"/>
                    </a:solidFill>
                  </a:tcPr>
                </a:tc>
                <a:tc>
                  <a:txBody>
                    <a:bodyPr/>
                    <a:lstStyle/>
                    <a:p>
                      <a:pPr algn="l"/>
                      <a:r>
                        <a:rPr sz="1400" dirty="0">
                          <a:solidFill>
                            <a:schemeClr val="tx1"/>
                          </a:solidFill>
                          <a:latin typeface="Courier New"/>
                        </a:rPr>
                        <a:t>riskState=none across the whole chain</a:t>
                      </a:r>
                    </a:p>
                  </a:txBody>
                  <a:tcPr marL="73152" marR="54864" marT="9144" marB="9144" anchor="ctr">
                    <a:solidFill>
                      <a:schemeClr val="bg1"/>
                    </a:solidFill>
                  </a:tcPr>
                </a:tc>
                <a:extLst>
                  <a:ext uri="{0D108BD9-81ED-4DB2-BD59-A6C34878D82A}">
                    <a16:rowId xmlns:a16="http://schemas.microsoft.com/office/drawing/2014/main" val="10010"/>
                  </a:ext>
                </a:extLst>
              </a:tr>
            </a:tbl>
          </a:graphicData>
        </a:graphic>
      </p:graphicFrame>
      <p:sp>
        <p:nvSpPr>
          <p:cNvPr id="6" name="TextBox 5"/>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7" name="TextBox 6"/>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detect · telemetry · 19/24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4C23"/>
        </a:solidFill>
        <a:effectLst/>
      </p:bgPr>
    </p:bg>
    <p:spTree>
      <p:nvGrpSpPr>
        <p:cNvPr id="1" name="">
          <a:extLst>
            <a:ext uri="{FF2B5EF4-FFF2-40B4-BE49-F238E27FC236}">
              <a16:creationId xmlns:a16="http://schemas.microsoft.com/office/drawing/2014/main" id="{3F40D944-F3A8-A730-C4DA-7179D06160B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DF0138-39DB-7F69-515F-234DD76F53FC}"/>
              </a:ext>
            </a:extLst>
          </p:cNvPr>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takeaways</a:t>
            </a:r>
          </a:p>
        </p:txBody>
      </p:sp>
      <p:sp>
        <p:nvSpPr>
          <p:cNvPr id="3" name="TextBox 2">
            <a:extLst>
              <a:ext uri="{FF2B5EF4-FFF2-40B4-BE49-F238E27FC236}">
                <a16:creationId xmlns:a16="http://schemas.microsoft.com/office/drawing/2014/main" id="{7741BFFF-7049-91F5-93C1-74681300862F}"/>
              </a:ext>
            </a:extLst>
          </p:cNvPr>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If you remember three things</a:t>
            </a:r>
          </a:p>
        </p:txBody>
      </p:sp>
      <p:sp>
        <p:nvSpPr>
          <p:cNvPr id="5" name="Rounded Rectangle 4">
            <a:extLst>
              <a:ext uri="{FF2B5EF4-FFF2-40B4-BE49-F238E27FC236}">
                <a16:creationId xmlns:a16="http://schemas.microsoft.com/office/drawing/2014/main" id="{EC9732CC-42E0-F703-0FF8-2A3A0848EB27}"/>
              </a:ext>
            </a:extLst>
          </p:cNvPr>
          <p:cNvSpPr/>
          <p:nvPr/>
        </p:nvSpPr>
        <p:spPr>
          <a:xfrm>
            <a:off x="502920" y="5573062"/>
            <a:ext cx="11155680" cy="571705"/>
          </a:xfrm>
          <a:prstGeom prst="roundRect">
            <a:avLst>
              <a:gd name="adj" fmla="val 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TextBox 5">
            <a:extLst>
              <a:ext uri="{FF2B5EF4-FFF2-40B4-BE49-F238E27FC236}">
                <a16:creationId xmlns:a16="http://schemas.microsoft.com/office/drawing/2014/main" id="{CD03DB98-B383-36C3-B17B-F237018A64D0}"/>
              </a:ext>
            </a:extLst>
          </p:cNvPr>
          <p:cNvSpPr txBox="1"/>
          <p:nvPr/>
        </p:nvSpPr>
        <p:spPr>
          <a:xfrm>
            <a:off x="807720" y="5709336"/>
            <a:ext cx="10850880" cy="246478"/>
          </a:xfrm>
          <a:prstGeom prst="rect">
            <a:avLst/>
          </a:prstGeom>
          <a:noFill/>
        </p:spPr>
        <p:txBody>
          <a:bodyPr wrap="square" lIns="36576" tIns="18288" rIns="36576" bIns="18288" anchor="ctr">
            <a:spAutoFit/>
          </a:bodyPr>
          <a:lstStyle/>
          <a:p>
            <a:pPr algn="l">
              <a:lnSpc>
                <a:spcPct val="120000"/>
              </a:lnSpc>
              <a:spcBef>
                <a:spcPts val="0"/>
              </a:spcBef>
              <a:spcAft>
                <a:spcPts val="600"/>
              </a:spcAft>
            </a:pPr>
            <a:r>
              <a:rPr sz="1250" b="0" dirty="0">
                <a:solidFill>
                  <a:srgbClr val="E7B84B"/>
                </a:solidFill>
                <a:latin typeface="Arial"/>
              </a:rPr>
              <a:t>// and</a:t>
            </a:r>
            <a:r>
              <a:rPr lang="en-US" sz="1250" dirty="0">
                <a:solidFill>
                  <a:srgbClr val="E7B84B"/>
                </a:solidFill>
                <a:latin typeface="Arial"/>
              </a:rPr>
              <a:t>: </a:t>
            </a:r>
            <a:r>
              <a:rPr sz="1250" b="0" dirty="0">
                <a:solidFill>
                  <a:srgbClr val="97A4B4"/>
                </a:solidFill>
                <a:latin typeface="Arial"/>
              </a:rPr>
              <a:t>Grapnel makes landfall; </a:t>
            </a:r>
            <a:r>
              <a:rPr sz="1250" b="0" dirty="0">
                <a:solidFill>
                  <a:srgbClr val="4ED16B"/>
                </a:solidFill>
                <a:latin typeface="Arial"/>
              </a:rPr>
              <a:t>Beachhead</a:t>
            </a:r>
            <a:r>
              <a:rPr sz="1250" b="0" dirty="0">
                <a:solidFill>
                  <a:srgbClr val="97A4B4"/>
                </a:solidFill>
                <a:latin typeface="Arial"/>
              </a:rPr>
              <a:t> is what happens next. See the sequel.</a:t>
            </a:r>
          </a:p>
        </p:txBody>
      </p:sp>
      <p:sp>
        <p:nvSpPr>
          <p:cNvPr id="7" name="TextBox 6">
            <a:extLst>
              <a:ext uri="{FF2B5EF4-FFF2-40B4-BE49-F238E27FC236}">
                <a16:creationId xmlns:a16="http://schemas.microsoft.com/office/drawing/2014/main" id="{40776770-8F68-EDB7-8E46-2C124EDCF892}"/>
              </a:ext>
            </a:extLst>
          </p:cNvPr>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8" name="TextBox 7">
            <a:extLst>
              <a:ext uri="{FF2B5EF4-FFF2-40B4-BE49-F238E27FC236}">
                <a16:creationId xmlns:a16="http://schemas.microsoft.com/office/drawing/2014/main" id="{140A1C54-80A9-9D01-DD82-90EF0F6437F6}"/>
              </a:ext>
            </a:extLst>
          </p:cNvPr>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takeaways · 20/24</a:t>
            </a:r>
          </a:p>
        </p:txBody>
      </p:sp>
      <p:pic>
        <p:nvPicPr>
          <p:cNvPr id="4" name="Picture 3" descr="Generated image: Security access infographic with stool metaphor">
            <a:extLst>
              <a:ext uri="{FF2B5EF4-FFF2-40B4-BE49-F238E27FC236}">
                <a16:creationId xmlns:a16="http://schemas.microsoft.com/office/drawing/2014/main" id="{F19A21A0-FD09-433F-05B8-33CCB28D8720}"/>
              </a:ext>
            </a:extLst>
          </p:cNvPr>
          <p:cNvPicPr>
            <a:picLocks noChangeAspect="1"/>
          </p:cNvPicPr>
          <p:nvPr/>
        </p:nvPicPr>
        <p:blipFill>
          <a:blip r:embed="rId3"/>
          <a:stretch>
            <a:fillRect/>
          </a:stretch>
        </p:blipFill>
        <p:spPr>
          <a:xfrm>
            <a:off x="1471100" y="1409539"/>
            <a:ext cx="9524119" cy="3974570"/>
          </a:xfrm>
          <a:prstGeom prst="rect">
            <a:avLst/>
          </a:prstGeom>
        </p:spPr>
      </p:pic>
    </p:spTree>
    <p:extLst>
      <p:ext uri="{BB962C8B-B14F-4D97-AF65-F5344CB8AC3E}">
        <p14:creationId xmlns:p14="http://schemas.microsoft.com/office/powerpoint/2010/main" val="2198724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appendix</a:t>
            </a:r>
          </a:p>
        </p:txBody>
      </p:sp>
      <p:sp>
        <p:nvSpPr>
          <p:cNvPr id="3" name="TextBox 2"/>
          <p:cNvSpPr txBox="1"/>
          <p:nvPr/>
        </p:nvSpPr>
        <p:spPr>
          <a:xfrm>
            <a:off x="502920" y="713232"/>
            <a:ext cx="11155680" cy="448328"/>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2800" b="1" dirty="0">
                <a:solidFill>
                  <a:srgbClr val="E6EDF3"/>
                </a:solidFill>
                <a:latin typeface="Arial"/>
              </a:rPr>
              <a:t>Appendix </a:t>
            </a:r>
            <a:r>
              <a:rPr lang="en-US" sz="2800" b="1" dirty="0">
                <a:solidFill>
                  <a:srgbClr val="E6EDF3"/>
                </a:solidFill>
                <a:latin typeface="Arial"/>
              </a:rPr>
              <a:t>-</a:t>
            </a:r>
            <a:r>
              <a:rPr sz="2800" b="1" dirty="0">
                <a:solidFill>
                  <a:srgbClr val="E6EDF3"/>
                </a:solidFill>
                <a:latin typeface="Arial"/>
              </a:rPr>
              <a:t> the Entra sign-in surface</a:t>
            </a:r>
          </a:p>
        </p:txBody>
      </p:sp>
      <p:sp>
        <p:nvSpPr>
          <p:cNvPr id="4" name="TextBox 3"/>
          <p:cNvSpPr txBox="1"/>
          <p:nvPr/>
        </p:nvSpPr>
        <p:spPr>
          <a:xfrm>
            <a:off x="502920" y="1517904"/>
            <a:ext cx="11155680" cy="512448"/>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300" b="0" dirty="0">
                <a:solidFill>
                  <a:srgbClr val="97A4B4"/>
                </a:solidFill>
                <a:latin typeface="Arial"/>
              </a:rPr>
              <a:t>One identity plane, dozens of front doors </a:t>
            </a:r>
            <a:r>
              <a:rPr lang="en-US" sz="1300" b="0" dirty="0">
                <a:solidFill>
                  <a:srgbClr val="97A4B4"/>
                </a:solidFill>
                <a:latin typeface="Arial"/>
              </a:rPr>
              <a:t>-</a:t>
            </a:r>
            <a:r>
              <a:rPr sz="1300" b="0" dirty="0">
                <a:solidFill>
                  <a:srgbClr val="97A4B4"/>
                </a:solidFill>
                <a:latin typeface="Arial"/>
              </a:rPr>
              <a:t> every portal below authenticates through the same Entra IdP, so a foothold on the auth flow reaches all of them. Full list: </a:t>
            </a:r>
            <a:r>
              <a:rPr sz="1300" b="0" dirty="0">
                <a:solidFill>
                  <a:srgbClr val="56C2FF"/>
                </a:solidFill>
                <a:latin typeface="Arial"/>
              </a:rPr>
              <a:t>docs/microsoft_entra_login_sites.xlsx</a:t>
            </a:r>
            <a:r>
              <a:rPr sz="1300" b="0" dirty="0">
                <a:solidFill>
                  <a:srgbClr val="97A4B4"/>
                </a:solidFill>
                <a:latin typeface="Arial"/>
              </a:rPr>
              <a:t> (60 sites).</a:t>
            </a:r>
          </a:p>
        </p:txBody>
      </p:sp>
      <p:sp>
        <p:nvSpPr>
          <p:cNvPr id="5" name="Rounded Rectangle 4"/>
          <p:cNvSpPr/>
          <p:nvPr/>
        </p:nvSpPr>
        <p:spPr>
          <a:xfrm>
            <a:off x="502920" y="2331720"/>
            <a:ext cx="5477255" cy="137160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Rectangle 5"/>
          <p:cNvSpPr/>
          <p:nvPr/>
        </p:nvSpPr>
        <p:spPr>
          <a:xfrm>
            <a:off x="502920" y="2331720"/>
            <a:ext cx="54864" cy="1371600"/>
          </a:xfrm>
          <a:prstGeom prst="rect">
            <a:avLst/>
          </a:prstGeom>
          <a:solidFill>
            <a:srgbClr val="56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7" name="TextBox 6"/>
          <p:cNvSpPr txBox="1"/>
          <p:nvPr/>
        </p:nvSpPr>
        <p:spPr>
          <a:xfrm>
            <a:off x="649224" y="2441448"/>
            <a:ext cx="5221223" cy="737318"/>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End-user apps · 29</a:t>
            </a:r>
          </a:p>
          <a:p>
            <a:pPr algn="l">
              <a:lnSpc>
                <a:spcPct val="118000"/>
              </a:lnSpc>
              <a:spcBef>
                <a:spcPts val="0"/>
              </a:spcBef>
              <a:spcAft>
                <a:spcPts val="600"/>
              </a:spcAft>
            </a:pPr>
            <a:r>
              <a:rPr sz="1250" b="0" dirty="0">
                <a:solidFill>
                  <a:srgbClr val="97A4B4"/>
                </a:solidFill>
                <a:latin typeface="Arial"/>
              </a:rPr>
              <a:t>M365, Outlook, Teams, SharePoint / OneDrive, Power BI / Apps / Automate, Dynamics, Fabric, myapps / myaccount / mysignins…</a:t>
            </a:r>
          </a:p>
        </p:txBody>
      </p:sp>
      <p:sp>
        <p:nvSpPr>
          <p:cNvPr id="8" name="Rounded Rectangle 7"/>
          <p:cNvSpPr/>
          <p:nvPr/>
        </p:nvSpPr>
        <p:spPr>
          <a:xfrm>
            <a:off x="6181343" y="2331720"/>
            <a:ext cx="5477255" cy="137160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9" name="Rectangle 8"/>
          <p:cNvSpPr/>
          <p:nvPr/>
        </p:nvSpPr>
        <p:spPr>
          <a:xfrm>
            <a:off x="6181343" y="2331720"/>
            <a:ext cx="54864" cy="137160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0" name="TextBox 9"/>
          <p:cNvSpPr txBox="1"/>
          <p:nvPr/>
        </p:nvSpPr>
        <p:spPr>
          <a:xfrm>
            <a:off x="6327647" y="2441448"/>
            <a:ext cx="5221223" cy="115214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Admin centers · 15</a:t>
            </a:r>
          </a:p>
          <a:p>
            <a:pPr algn="l">
              <a:lnSpc>
                <a:spcPct val="118000"/>
              </a:lnSpc>
              <a:spcBef>
                <a:spcPts val="0"/>
              </a:spcBef>
              <a:spcAft>
                <a:spcPts val="600"/>
              </a:spcAft>
            </a:pPr>
            <a:r>
              <a:rPr sz="1250" b="0" dirty="0">
                <a:solidFill>
                  <a:srgbClr val="97A4B4"/>
                </a:solidFill>
                <a:latin typeface="Arial"/>
              </a:rPr>
              <a:t>Azure portal, Entra admin, M365 admin, Exchange, Teams, Intune, Defender, Purview, Power Platform…</a:t>
            </a:r>
          </a:p>
        </p:txBody>
      </p:sp>
      <p:sp>
        <p:nvSpPr>
          <p:cNvPr id="11" name="Rounded Rectangle 10"/>
          <p:cNvSpPr/>
          <p:nvPr/>
        </p:nvSpPr>
        <p:spPr>
          <a:xfrm>
            <a:off x="502920" y="3867911"/>
            <a:ext cx="5477255" cy="137160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Rectangle 11"/>
          <p:cNvSpPr/>
          <p:nvPr/>
        </p:nvSpPr>
        <p:spPr>
          <a:xfrm>
            <a:off x="502920" y="3867911"/>
            <a:ext cx="54864" cy="1371600"/>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3" name="TextBox 12"/>
          <p:cNvSpPr txBox="1"/>
          <p:nvPr/>
        </p:nvSpPr>
        <p:spPr>
          <a:xfrm>
            <a:off x="649224" y="3977639"/>
            <a:ext cx="5221223" cy="1152144"/>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Developer &amp; support · 9</a:t>
            </a:r>
          </a:p>
          <a:p>
            <a:pPr algn="l">
              <a:lnSpc>
                <a:spcPct val="118000"/>
              </a:lnSpc>
              <a:spcBef>
                <a:spcPts val="0"/>
              </a:spcBef>
              <a:spcAft>
                <a:spcPts val="600"/>
              </a:spcAft>
            </a:pPr>
            <a:r>
              <a:rPr sz="1250" b="0" dirty="0">
                <a:solidFill>
                  <a:srgbClr val="97A4B4"/>
                </a:solidFill>
                <a:latin typeface="Arial"/>
              </a:rPr>
              <a:t>Azure DevOps, Graph Explorer, Partner Center, VS subscriptions, Services Hub…</a:t>
            </a:r>
          </a:p>
        </p:txBody>
      </p:sp>
      <p:sp>
        <p:nvSpPr>
          <p:cNvPr id="14" name="Rounded Rectangle 13"/>
          <p:cNvSpPr/>
          <p:nvPr/>
        </p:nvSpPr>
        <p:spPr>
          <a:xfrm>
            <a:off x="6181343" y="3867911"/>
            <a:ext cx="5477255" cy="1371600"/>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5" name="Rectangle 14"/>
          <p:cNvSpPr/>
          <p:nvPr/>
        </p:nvSpPr>
        <p:spPr>
          <a:xfrm>
            <a:off x="6181343" y="3867911"/>
            <a:ext cx="54864" cy="1371600"/>
          </a:xfrm>
          <a:prstGeom prst="rect">
            <a:avLst/>
          </a:prstGeom>
          <a:solidFill>
            <a:srgbClr val="FF5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6" name="TextBox 15"/>
          <p:cNvSpPr txBox="1"/>
          <p:nvPr/>
        </p:nvSpPr>
        <p:spPr>
          <a:xfrm>
            <a:off x="6327647" y="3977639"/>
            <a:ext cx="5221223" cy="737318"/>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Entra auth infrastructure · 7</a:t>
            </a:r>
          </a:p>
          <a:p>
            <a:pPr algn="l">
              <a:lnSpc>
                <a:spcPct val="118000"/>
              </a:lnSpc>
              <a:spcBef>
                <a:spcPts val="0"/>
              </a:spcBef>
              <a:spcAft>
                <a:spcPts val="600"/>
              </a:spcAft>
            </a:pPr>
            <a:r>
              <a:rPr sz="1250" b="0" dirty="0">
                <a:solidFill>
                  <a:srgbClr val="97A4B4"/>
                </a:solidFill>
                <a:latin typeface="Arial"/>
              </a:rPr>
              <a:t>login.microsoftonline.com, login.microsoft.com, device.login…, sts.windows.net, autologon SSO </a:t>
            </a:r>
            <a:r>
              <a:rPr lang="en-US" sz="1250" b="0" dirty="0">
                <a:solidFill>
                  <a:srgbClr val="97A4B4"/>
                </a:solidFill>
                <a:latin typeface="Arial"/>
              </a:rPr>
              <a:t>-</a:t>
            </a:r>
            <a:r>
              <a:rPr sz="1250" b="0" dirty="0">
                <a:solidFill>
                  <a:srgbClr val="97A4B4"/>
                </a:solidFill>
                <a:latin typeface="Arial"/>
              </a:rPr>
              <a:t> the endpoints the chain drives.</a:t>
            </a:r>
          </a:p>
        </p:txBody>
      </p:sp>
      <p:sp>
        <p:nvSpPr>
          <p:cNvPr id="17" name="Rounded Rectangle 16"/>
          <p:cNvSpPr/>
          <p:nvPr/>
        </p:nvSpPr>
        <p:spPr>
          <a:xfrm>
            <a:off x="502920" y="5257800"/>
            <a:ext cx="11155680" cy="658368"/>
          </a:xfrm>
          <a:prstGeom prst="roundRect">
            <a:avLst>
              <a:gd name="adj" fmla="val 6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8" name="TextBox 17"/>
          <p:cNvSpPr txBox="1"/>
          <p:nvPr/>
        </p:nvSpPr>
        <p:spPr>
          <a:xfrm>
            <a:off x="667512" y="5348329"/>
            <a:ext cx="10826496" cy="477310"/>
          </a:xfrm>
          <a:prstGeom prst="rect">
            <a:avLst/>
          </a:prstGeom>
          <a:noFill/>
        </p:spPr>
        <p:txBody>
          <a:bodyPr wrap="square" lIns="36576" tIns="18288" rIns="36576" bIns="18288" anchor="ctr">
            <a:spAutoFit/>
          </a:bodyPr>
          <a:lstStyle/>
          <a:p>
            <a:pPr algn="l">
              <a:lnSpc>
                <a:spcPct val="120000"/>
              </a:lnSpc>
              <a:spcBef>
                <a:spcPts val="0"/>
              </a:spcBef>
              <a:spcAft>
                <a:spcPts val="600"/>
              </a:spcAft>
            </a:pPr>
            <a:r>
              <a:rPr sz="1250" b="0" dirty="0">
                <a:solidFill>
                  <a:srgbClr val="E7B84B"/>
                </a:solidFill>
                <a:latin typeface="Arial"/>
              </a:rPr>
              <a:t>// validated</a:t>
            </a:r>
            <a:r>
              <a:rPr lang="en-US" sz="1250" b="0" dirty="0">
                <a:solidFill>
                  <a:srgbClr val="E7B84B"/>
                </a:solidFill>
                <a:latin typeface="Arial"/>
              </a:rPr>
              <a:t>: </a:t>
            </a:r>
            <a:r>
              <a:rPr sz="1250" b="0" dirty="0">
                <a:solidFill>
                  <a:srgbClr val="97A4B4"/>
                </a:solidFill>
                <a:latin typeface="Arial"/>
              </a:rPr>
              <a:t>every concrete URL checked reachable; 2 stale hostnames removed, 5 tenant/org placeholders. The auth-infrastructure row is where BITM, device-code, and PRT do their work.</a:t>
            </a:r>
          </a:p>
        </p:txBody>
      </p:sp>
      <p:sp>
        <p:nvSpPr>
          <p:cNvPr id="19" name="TextBox 18"/>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20" name="TextBox 19"/>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appendix · 23/24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acknowledgements</a:t>
            </a:r>
          </a:p>
        </p:txBody>
      </p:sp>
      <p:sp>
        <p:nvSpPr>
          <p:cNvPr id="3" name="TextBox 2"/>
          <p:cNvSpPr txBox="1"/>
          <p:nvPr/>
        </p:nvSpPr>
        <p:spPr>
          <a:xfrm>
            <a:off x="502920" y="713232"/>
            <a:ext cx="11155680" cy="1097280"/>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3000" b="1" dirty="0">
                <a:solidFill>
                  <a:srgbClr val="E6EDF3"/>
                </a:solidFill>
                <a:latin typeface="Arial"/>
              </a:rPr>
              <a:t>Standing on shoulders</a:t>
            </a:r>
          </a:p>
        </p:txBody>
      </p:sp>
      <p:sp>
        <p:nvSpPr>
          <p:cNvPr id="4" name="TextBox 3"/>
          <p:cNvSpPr txBox="1"/>
          <p:nvPr/>
        </p:nvSpPr>
        <p:spPr>
          <a:xfrm>
            <a:off x="502920" y="1572768"/>
            <a:ext cx="11155680" cy="822960"/>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400" b="0" dirty="0">
                <a:solidFill>
                  <a:srgbClr val="97A4B4"/>
                </a:solidFill>
                <a:latin typeface="Arial"/>
              </a:rPr>
              <a:t>Grapnel is glue. The offensive weight is carried by tools and research from people who did the hard part first.</a:t>
            </a:r>
          </a:p>
        </p:txBody>
      </p:sp>
      <p:sp>
        <p:nvSpPr>
          <p:cNvPr id="5" name="Rounded Rectangle 4"/>
          <p:cNvSpPr/>
          <p:nvPr/>
        </p:nvSpPr>
        <p:spPr>
          <a:xfrm>
            <a:off x="502920" y="2331720"/>
            <a:ext cx="5477255" cy="1298448"/>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Rectangle 5"/>
          <p:cNvSpPr/>
          <p:nvPr/>
        </p:nvSpPr>
        <p:spPr>
          <a:xfrm>
            <a:off x="502920" y="2331720"/>
            <a:ext cx="54864" cy="1298448"/>
          </a:xfrm>
          <a:prstGeom prst="rect">
            <a:avLst/>
          </a:prstGeom>
          <a:solidFill>
            <a:srgbClr val="56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7" name="TextBox 6"/>
          <p:cNvSpPr txBox="1"/>
          <p:nvPr/>
        </p:nvSpPr>
        <p:spPr>
          <a:xfrm>
            <a:off x="649224" y="2441448"/>
            <a:ext cx="5221223" cy="737318"/>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ROADtools · Dirk-jan Mollema</a:t>
            </a:r>
          </a:p>
          <a:p>
            <a:pPr algn="l">
              <a:lnSpc>
                <a:spcPct val="118000"/>
              </a:lnSpc>
              <a:spcBef>
                <a:spcPts val="0"/>
              </a:spcBef>
              <a:spcAft>
                <a:spcPts val="600"/>
              </a:spcAft>
            </a:pPr>
            <a:r>
              <a:rPr sz="1250" b="0" dirty="0">
                <a:solidFill>
                  <a:srgbClr val="97A4B4"/>
                </a:solidFill>
                <a:latin typeface="Arial"/>
              </a:rPr>
              <a:t>device-code → DRS → phantom device → PRT → tenant enum. The core of the chain.   github.com/dirkjanm/ROADtools</a:t>
            </a:r>
          </a:p>
        </p:txBody>
      </p:sp>
      <p:sp>
        <p:nvSpPr>
          <p:cNvPr id="8" name="Rounded Rectangle 7"/>
          <p:cNvSpPr/>
          <p:nvPr/>
        </p:nvSpPr>
        <p:spPr>
          <a:xfrm>
            <a:off x="6181343" y="2331720"/>
            <a:ext cx="5477255" cy="1298448"/>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9" name="Rectangle 8"/>
          <p:cNvSpPr/>
          <p:nvPr/>
        </p:nvSpPr>
        <p:spPr>
          <a:xfrm>
            <a:off x="6181343" y="2331720"/>
            <a:ext cx="54864" cy="1298448"/>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0" name="TextBox 9"/>
          <p:cNvSpPr txBox="1"/>
          <p:nvPr/>
        </p:nvSpPr>
        <p:spPr>
          <a:xfrm>
            <a:off x="6327647" y="2441448"/>
            <a:ext cx="5221223" cy="510333"/>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AbuseAzureAPIPermissions · Hagrid29</a:t>
            </a:r>
          </a:p>
          <a:p>
            <a:pPr algn="l">
              <a:lnSpc>
                <a:spcPct val="118000"/>
              </a:lnSpc>
              <a:spcBef>
                <a:spcPts val="0"/>
              </a:spcBef>
              <a:spcAft>
                <a:spcPts val="600"/>
              </a:spcAft>
            </a:pPr>
            <a:r>
              <a:rPr sz="1250" b="0" dirty="0">
                <a:solidFill>
                  <a:srgbClr val="97A4B4"/>
                </a:solidFill>
                <a:latin typeface="Arial"/>
              </a:rPr>
              <a:t>the Get-AAA* Graph recon / abuse functions.   github.com/hagrid29</a:t>
            </a:r>
          </a:p>
        </p:txBody>
      </p:sp>
      <p:sp>
        <p:nvSpPr>
          <p:cNvPr id="11" name="Rounded Rectangle 10"/>
          <p:cNvSpPr/>
          <p:nvPr/>
        </p:nvSpPr>
        <p:spPr>
          <a:xfrm>
            <a:off x="502920" y="3794759"/>
            <a:ext cx="5477255" cy="1298448"/>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Rectangle 11"/>
          <p:cNvSpPr/>
          <p:nvPr/>
        </p:nvSpPr>
        <p:spPr>
          <a:xfrm>
            <a:off x="502920" y="3794759"/>
            <a:ext cx="54864" cy="1298448"/>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3" name="TextBox 12"/>
          <p:cNvSpPr txBox="1"/>
          <p:nvPr/>
        </p:nvSpPr>
        <p:spPr>
          <a:xfrm>
            <a:off x="649224" y="3904487"/>
            <a:ext cx="5221223" cy="510333"/>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AADInternals · Nestori Syynimaa</a:t>
            </a:r>
          </a:p>
          <a:p>
            <a:pPr algn="l">
              <a:lnSpc>
                <a:spcPct val="118000"/>
              </a:lnSpc>
              <a:spcBef>
                <a:spcPts val="0"/>
              </a:spcBef>
              <a:spcAft>
                <a:spcPts val="600"/>
              </a:spcAft>
            </a:pPr>
            <a:r>
              <a:rPr sz="1250" b="0" dirty="0">
                <a:solidFill>
                  <a:srgbClr val="97A4B4"/>
                </a:solidFill>
                <a:latin typeface="Arial"/>
              </a:rPr>
              <a:t>token &amp; WS-Trust primitives, bundled inside AAA.   @DrAzureAD</a:t>
            </a:r>
          </a:p>
        </p:txBody>
      </p:sp>
      <p:sp>
        <p:nvSpPr>
          <p:cNvPr id="14" name="Rounded Rectangle 13"/>
          <p:cNvSpPr/>
          <p:nvPr/>
        </p:nvSpPr>
        <p:spPr>
          <a:xfrm>
            <a:off x="6181343" y="3794759"/>
            <a:ext cx="5477255" cy="1298448"/>
          </a:xfrm>
          <a:prstGeom prst="roundRect">
            <a:avLst>
              <a:gd name="adj" fmla="val 5000"/>
            </a:avLst>
          </a:prstGeom>
          <a:solidFill>
            <a:srgbClr val="141B26"/>
          </a:solidFill>
          <a:ln w="9525">
            <a:solidFill>
              <a:srgbClr val="222C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5" name="Rectangle 14"/>
          <p:cNvSpPr/>
          <p:nvPr/>
        </p:nvSpPr>
        <p:spPr>
          <a:xfrm>
            <a:off x="6181343" y="3794759"/>
            <a:ext cx="54864" cy="1298448"/>
          </a:xfrm>
          <a:prstGeom prst="rect">
            <a:avLst/>
          </a:prstGeom>
          <a:solidFill>
            <a:srgbClr val="E7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6" name="TextBox 15"/>
          <p:cNvSpPr txBox="1"/>
          <p:nvPr/>
        </p:nvSpPr>
        <p:spPr>
          <a:xfrm>
            <a:off x="6327647" y="3904487"/>
            <a:ext cx="5221223" cy="510333"/>
          </a:xfrm>
          <a:prstGeom prst="rect">
            <a:avLst/>
          </a:prstGeom>
          <a:noFill/>
        </p:spPr>
        <p:txBody>
          <a:bodyPr wrap="square" lIns="36576" tIns="18288" rIns="36576" bIns="18288" anchor="t">
            <a:spAutoFit/>
          </a:bodyPr>
          <a:lstStyle/>
          <a:p>
            <a:pPr algn="l">
              <a:spcBef>
                <a:spcPts val="0"/>
              </a:spcBef>
              <a:spcAft>
                <a:spcPts val="400"/>
              </a:spcAft>
            </a:pPr>
            <a:r>
              <a:rPr sz="1400" b="0" dirty="0">
                <a:solidFill>
                  <a:srgbClr val="E6EDF3"/>
                </a:solidFill>
                <a:latin typeface="Courier New"/>
              </a:rPr>
              <a:t>TokenTacticsV2 · Fabian Bader</a:t>
            </a:r>
          </a:p>
          <a:p>
            <a:pPr algn="l">
              <a:lnSpc>
                <a:spcPct val="118000"/>
              </a:lnSpc>
              <a:spcBef>
                <a:spcPts val="0"/>
              </a:spcBef>
              <a:spcAft>
                <a:spcPts val="600"/>
              </a:spcAft>
            </a:pPr>
            <a:r>
              <a:rPr sz="1250" b="0" dirty="0">
                <a:solidFill>
                  <a:srgbClr val="97A4B4"/>
                </a:solidFill>
                <a:latin typeface="Arial"/>
              </a:rPr>
              <a:t>token-manipulation prior art.   github.com/f-bader</a:t>
            </a:r>
          </a:p>
        </p:txBody>
      </p:sp>
      <p:sp>
        <p:nvSpPr>
          <p:cNvPr id="17" name="Rounded Rectangle 16"/>
          <p:cNvSpPr/>
          <p:nvPr/>
        </p:nvSpPr>
        <p:spPr>
          <a:xfrm>
            <a:off x="502920" y="5349240"/>
            <a:ext cx="11155680" cy="658368"/>
          </a:xfrm>
          <a:prstGeom prst="roundRect">
            <a:avLst>
              <a:gd name="adj" fmla="val 6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8" name="TextBox 17"/>
          <p:cNvSpPr txBox="1"/>
          <p:nvPr/>
        </p:nvSpPr>
        <p:spPr>
          <a:xfrm>
            <a:off x="667512" y="5439768"/>
            <a:ext cx="10826496" cy="477310"/>
          </a:xfrm>
          <a:prstGeom prst="rect">
            <a:avLst/>
          </a:prstGeom>
          <a:noFill/>
        </p:spPr>
        <p:txBody>
          <a:bodyPr wrap="square" lIns="36576" tIns="18288" rIns="36576" bIns="18288" anchor="ctr">
            <a:spAutoFit/>
          </a:bodyPr>
          <a:lstStyle/>
          <a:p>
            <a:pPr algn="l">
              <a:lnSpc>
                <a:spcPct val="120000"/>
              </a:lnSpc>
              <a:spcBef>
                <a:spcPts val="0"/>
              </a:spcBef>
              <a:spcAft>
                <a:spcPts val="600"/>
              </a:spcAft>
            </a:pPr>
            <a:r>
              <a:rPr sz="1250" b="0" dirty="0">
                <a:solidFill>
                  <a:srgbClr val="E7B84B"/>
                </a:solidFill>
                <a:latin typeface="Arial"/>
              </a:rPr>
              <a:t>// technique</a:t>
            </a:r>
            <a:r>
              <a:rPr lang="en-US" sz="1250" b="0" dirty="0">
                <a:solidFill>
                  <a:srgbClr val="E7B84B"/>
                </a:solidFill>
                <a:latin typeface="Arial"/>
              </a:rPr>
              <a:t>: </a:t>
            </a:r>
            <a:r>
              <a:rPr sz="1250" b="0" dirty="0">
                <a:solidFill>
                  <a:srgbClr val="97A4B4"/>
                </a:solidFill>
                <a:latin typeface="Arial"/>
              </a:rPr>
              <a:t>the phantom-join CA bypass is based on </a:t>
            </a:r>
            <a:r>
              <a:rPr sz="1250" b="0" dirty="0">
                <a:solidFill>
                  <a:srgbClr val="E7B84B"/>
                </a:solidFill>
                <a:latin typeface="Arial"/>
              </a:rPr>
              <a:t>Cyderes "Howler Cell"</a:t>
            </a:r>
            <a:r>
              <a:rPr sz="1250" b="0" dirty="0">
                <a:solidFill>
                  <a:srgbClr val="97A4B4"/>
                </a:solidFill>
                <a:latin typeface="Arial"/>
              </a:rPr>
              <a:t> research: "One Password, No Device, Full Tenant."   Built on Playwright · curl_cffi / libcurl-impersonate · FastAPI · React.</a:t>
            </a:r>
          </a:p>
        </p:txBody>
      </p:sp>
      <p:sp>
        <p:nvSpPr>
          <p:cNvPr id="19" name="TextBox 18"/>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20" name="TextBox 19"/>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credits · 21/24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457200" y="2487650"/>
            <a:ext cx="11277295" cy="1791260"/>
          </a:xfrm>
          <a:prstGeom prst="rect">
            <a:avLst/>
          </a:prstGeom>
          <a:noFill/>
        </p:spPr>
        <p:txBody>
          <a:bodyPr wrap="square" lIns="36576" tIns="18288" rIns="36576" bIns="18288" anchor="ctr">
            <a:spAutoFit/>
          </a:bodyPr>
          <a:lstStyle/>
          <a:p>
            <a:pPr algn="ctr">
              <a:spcBef>
                <a:spcPts val="0"/>
              </a:spcBef>
              <a:spcAft>
                <a:spcPts val="1800"/>
              </a:spcAft>
            </a:pPr>
            <a:r>
              <a:rPr sz="5200" b="0" dirty="0">
                <a:solidFill>
                  <a:srgbClr val="4ED16B"/>
                </a:solidFill>
                <a:latin typeface="Courier New"/>
              </a:rPr>
              <a:t>grapnel</a:t>
            </a:r>
            <a:r>
              <a:rPr sz="5200" b="0" dirty="0">
                <a:solidFill>
                  <a:srgbClr val="97A4B4"/>
                </a:solidFill>
                <a:latin typeface="Courier New"/>
              </a:rPr>
              <a:t>$ </a:t>
            </a:r>
            <a:r>
              <a:rPr sz="5200" b="0" dirty="0">
                <a:solidFill>
                  <a:srgbClr val="4ED16B"/>
                </a:solidFill>
                <a:latin typeface="Courier New"/>
              </a:rPr>
              <a:t>▍</a:t>
            </a:r>
          </a:p>
          <a:p>
            <a:pPr algn="ctr">
              <a:spcBef>
                <a:spcPts val="0"/>
              </a:spcBef>
              <a:spcAft>
                <a:spcPts val="600"/>
              </a:spcAft>
            </a:pPr>
            <a:r>
              <a:rPr sz="2800" b="0" dirty="0">
                <a:solidFill>
                  <a:srgbClr val="97A4B4"/>
                </a:solidFill>
                <a:latin typeface="Courier New"/>
              </a:rPr>
              <a:t>github.com/fd22vrsfpv-star/bitm-proxy</a:t>
            </a:r>
          </a:p>
          <a:p>
            <a:pPr algn="ctr">
              <a:spcBef>
                <a:spcPts val="0"/>
              </a:spcBef>
              <a:spcAft>
                <a:spcPts val="600"/>
              </a:spcAft>
            </a:pPr>
            <a:r>
              <a:rPr sz="1400" b="0" dirty="0">
                <a:solidFill>
                  <a:srgbClr val="5A6472"/>
                </a:solidFill>
                <a:latin typeface="Courier New"/>
              </a:rPr>
              <a:t>DEF CON · Red Team Village · </a:t>
            </a:r>
            <a:r>
              <a:rPr lang="en-US" sz="1400" b="0" dirty="0">
                <a:solidFill>
                  <a:srgbClr val="5A6472"/>
                </a:solidFill>
                <a:latin typeface="Courier New"/>
              </a:rPr>
              <a:t>2026</a:t>
            </a:r>
            <a:r>
              <a:rPr sz="1400" b="0" dirty="0">
                <a:solidFill>
                  <a:srgbClr val="5A6472"/>
                </a:solidFill>
                <a:latin typeface="Courier New"/>
              </a:rPr>
              <a:t>    ·    questions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1420"/>
        </a:solidFill>
        <a:effectLst/>
      </p:bgPr>
    </p:bg>
    <p:spTree>
      <p:nvGrpSpPr>
        <p:cNvPr id="1" name=""/>
        <p:cNvGrpSpPr/>
        <p:nvPr/>
      </p:nvGrpSpPr>
      <p:grpSpPr>
        <a:xfrm>
          <a:off x="0" y="0"/>
          <a:ext cx="0" cy="0"/>
          <a:chOff x="0" y="0"/>
          <a:chExt cx="0" cy="0"/>
        </a:xfrm>
      </p:grpSpPr>
      <p:sp>
        <p:nvSpPr>
          <p:cNvPr id="2" name="TextBox 1"/>
          <p:cNvSpPr txBox="1"/>
          <p:nvPr/>
        </p:nvSpPr>
        <p:spPr>
          <a:xfrm>
            <a:off x="502920" y="329184"/>
            <a:ext cx="8229600" cy="365760"/>
          </a:xfrm>
          <a:prstGeom prst="rect">
            <a:avLst/>
          </a:prstGeom>
          <a:noFill/>
        </p:spPr>
        <p:txBody>
          <a:bodyPr wrap="square" lIns="36576" tIns="18288" rIns="36576" bIns="18288" anchor="t">
            <a:spAutoFit/>
          </a:bodyPr>
          <a:lstStyle/>
          <a:p>
            <a:pPr algn="l">
              <a:spcBef>
                <a:spcPts val="0"/>
              </a:spcBef>
              <a:spcAft>
                <a:spcPts val="600"/>
              </a:spcAft>
            </a:pPr>
            <a:r>
              <a:rPr sz="1300" b="0" dirty="0">
                <a:solidFill>
                  <a:srgbClr val="E7B84B"/>
                </a:solidFill>
                <a:latin typeface="Courier New"/>
              </a:rPr>
              <a:t>// appendix · phantom join</a:t>
            </a:r>
          </a:p>
        </p:txBody>
      </p:sp>
      <p:sp>
        <p:nvSpPr>
          <p:cNvPr id="3" name="TextBox 2"/>
          <p:cNvSpPr txBox="1"/>
          <p:nvPr/>
        </p:nvSpPr>
        <p:spPr>
          <a:xfrm>
            <a:off x="502920" y="713232"/>
            <a:ext cx="11155680" cy="433645"/>
          </a:xfrm>
          <a:prstGeom prst="rect">
            <a:avLst/>
          </a:prstGeom>
          <a:noFill/>
        </p:spPr>
        <p:txBody>
          <a:bodyPr wrap="square" lIns="36576" tIns="18288" rIns="36576" bIns="18288" anchor="t">
            <a:spAutoFit/>
          </a:bodyPr>
          <a:lstStyle/>
          <a:p>
            <a:pPr algn="l">
              <a:lnSpc>
                <a:spcPct val="102000"/>
              </a:lnSpc>
              <a:spcBef>
                <a:spcPts val="0"/>
              </a:spcBef>
              <a:spcAft>
                <a:spcPts val="600"/>
              </a:spcAft>
            </a:pPr>
            <a:r>
              <a:rPr sz="2700" b="1" dirty="0">
                <a:solidFill>
                  <a:srgbClr val="E6EDF3"/>
                </a:solidFill>
                <a:latin typeface="Arial"/>
              </a:rPr>
              <a:t>Phantom Join </a:t>
            </a:r>
            <a:r>
              <a:rPr lang="en-US" sz="2700" b="1" dirty="0">
                <a:solidFill>
                  <a:srgbClr val="E6EDF3"/>
                </a:solidFill>
                <a:latin typeface="Arial"/>
              </a:rPr>
              <a:t>-</a:t>
            </a:r>
            <a:r>
              <a:rPr sz="2700" b="1" dirty="0">
                <a:solidFill>
                  <a:srgbClr val="E6EDF3"/>
                </a:solidFill>
                <a:latin typeface="Arial"/>
              </a:rPr>
              <a:t> run flow &amp; where it stops</a:t>
            </a:r>
          </a:p>
        </p:txBody>
      </p:sp>
      <p:sp>
        <p:nvSpPr>
          <p:cNvPr id="4" name="TextBox 3"/>
          <p:cNvSpPr txBox="1"/>
          <p:nvPr/>
        </p:nvSpPr>
        <p:spPr>
          <a:xfrm>
            <a:off x="502920" y="1517904"/>
            <a:ext cx="11155680" cy="512448"/>
          </a:xfrm>
          <a:prstGeom prst="rect">
            <a:avLst/>
          </a:prstGeom>
          <a:noFill/>
        </p:spPr>
        <p:txBody>
          <a:bodyPr wrap="square" lIns="36576" tIns="18288" rIns="36576" bIns="18288" anchor="t">
            <a:spAutoFit/>
          </a:bodyPr>
          <a:lstStyle/>
          <a:p>
            <a:pPr algn="l">
              <a:lnSpc>
                <a:spcPct val="125000"/>
              </a:lnSpc>
              <a:spcBef>
                <a:spcPts val="0"/>
              </a:spcBef>
              <a:spcAft>
                <a:spcPts val="600"/>
              </a:spcAft>
            </a:pPr>
            <a:r>
              <a:rPr sz="1300" b="0" dirty="0">
                <a:solidFill>
                  <a:srgbClr val="97A4B4"/>
                </a:solidFill>
                <a:latin typeface="Arial"/>
              </a:rPr>
              <a:t>Phase 5 (PRT → Graph) is make-or-break: a password-minted PRT carries no </a:t>
            </a:r>
            <a:r>
              <a:rPr lang="en-US" sz="1300" b="0" dirty="0">
                <a:solidFill>
                  <a:srgbClr val="97A4B4"/>
                </a:solidFill>
                <a:latin typeface="Arial"/>
              </a:rPr>
              <a:t>MFA</a:t>
            </a:r>
            <a:r>
              <a:rPr sz="1300" b="0" dirty="0">
                <a:solidFill>
                  <a:srgbClr val="97A4B4"/>
                </a:solidFill>
                <a:latin typeface="Arial"/>
              </a:rPr>
              <a:t> claim, so an MFA-covered grant refuses it (AADSTS50076) </a:t>
            </a:r>
            <a:r>
              <a:rPr lang="en-US" sz="1300" b="0" dirty="0">
                <a:solidFill>
                  <a:srgbClr val="97A4B4"/>
                </a:solidFill>
                <a:latin typeface="Arial"/>
              </a:rPr>
              <a:t>-</a:t>
            </a:r>
            <a:r>
              <a:rPr sz="1300" b="0" dirty="0">
                <a:solidFill>
                  <a:srgbClr val="97A4B4"/>
                </a:solidFill>
                <a:latin typeface="Arial"/>
              </a:rPr>
              <a:t> enrich with roadtx prtenrich and re-run, or accept the stop as the finding.</a:t>
            </a:r>
          </a:p>
        </p:txBody>
      </p:sp>
      <p:sp>
        <p:nvSpPr>
          <p:cNvPr id="6" name="Rounded Rectangle 5"/>
          <p:cNvSpPr/>
          <p:nvPr/>
        </p:nvSpPr>
        <p:spPr>
          <a:xfrm>
            <a:off x="502920" y="5074920"/>
            <a:ext cx="11155680" cy="658368"/>
          </a:xfrm>
          <a:prstGeom prst="roundRect">
            <a:avLst>
              <a:gd name="adj" fmla="val 6000"/>
            </a:avLst>
          </a:prstGeom>
          <a:solidFill>
            <a:srgbClr val="101A26"/>
          </a:solidFill>
          <a:ln w="9525">
            <a:solidFill>
              <a:srgbClr val="1C2B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7" name="TextBox 6"/>
          <p:cNvSpPr txBox="1"/>
          <p:nvPr/>
        </p:nvSpPr>
        <p:spPr>
          <a:xfrm>
            <a:off x="667512" y="5280864"/>
            <a:ext cx="10826496" cy="246478"/>
          </a:xfrm>
          <a:prstGeom prst="rect">
            <a:avLst/>
          </a:prstGeom>
          <a:noFill/>
        </p:spPr>
        <p:txBody>
          <a:bodyPr wrap="square" lIns="36576" tIns="18288" rIns="36576" bIns="18288" anchor="ctr">
            <a:spAutoFit/>
          </a:bodyPr>
          <a:lstStyle/>
          <a:p>
            <a:pPr algn="l">
              <a:lnSpc>
                <a:spcPct val="120000"/>
              </a:lnSpc>
              <a:spcBef>
                <a:spcPts val="0"/>
              </a:spcBef>
              <a:spcAft>
                <a:spcPts val="600"/>
              </a:spcAft>
            </a:pPr>
            <a:r>
              <a:rPr sz="1250" b="0" dirty="0">
                <a:solidFill>
                  <a:srgbClr val="E7B84B"/>
                </a:solidFill>
                <a:latin typeface="Arial"/>
              </a:rPr>
              <a:t>// full detail</a:t>
            </a:r>
            <a:r>
              <a:rPr lang="en-US" sz="1250" b="0" dirty="0">
                <a:solidFill>
                  <a:srgbClr val="E7B84B"/>
                </a:solidFill>
                <a:latin typeface="Arial"/>
              </a:rPr>
              <a:t>: </a:t>
            </a:r>
            <a:r>
              <a:rPr sz="1250" b="0" dirty="0">
                <a:solidFill>
                  <a:srgbClr val="97A4B4"/>
                </a:solidFill>
                <a:latin typeface="Arial"/>
              </a:rPr>
              <a:t>troubleshooting table + this flow in tools/README_Phantom.md. Phases 6-7 skip cleanly when Phase 5 yields no device token.</a:t>
            </a:r>
          </a:p>
        </p:txBody>
      </p:sp>
      <p:sp>
        <p:nvSpPr>
          <p:cNvPr id="8" name="TextBox 7"/>
          <p:cNvSpPr txBox="1"/>
          <p:nvPr/>
        </p:nvSpPr>
        <p:spPr>
          <a:xfrm>
            <a:off x="502920" y="6419088"/>
            <a:ext cx="11155680" cy="320040"/>
          </a:xfrm>
          <a:prstGeom prst="rect">
            <a:avLst/>
          </a:prstGeom>
          <a:noFill/>
        </p:spPr>
        <p:txBody>
          <a:bodyPr wrap="square" lIns="36576" tIns="18288" rIns="36576" bIns="18288" anchor="t">
            <a:spAutoFit/>
          </a:bodyPr>
          <a:lstStyle/>
          <a:p>
            <a:pPr algn="l"/>
            <a:r>
              <a:rPr sz="1000" dirty="0">
                <a:solidFill>
                  <a:srgbClr val="5A6472"/>
                </a:solidFill>
                <a:latin typeface="Courier New"/>
              </a:rPr>
              <a:t>YOUR PASSKEYS WON'T SAVE YOU</a:t>
            </a:r>
          </a:p>
        </p:txBody>
      </p:sp>
      <p:sp>
        <p:nvSpPr>
          <p:cNvPr id="9" name="TextBox 8"/>
          <p:cNvSpPr txBox="1"/>
          <p:nvPr/>
        </p:nvSpPr>
        <p:spPr>
          <a:xfrm>
            <a:off x="502920" y="6419088"/>
            <a:ext cx="11155680" cy="320040"/>
          </a:xfrm>
          <a:prstGeom prst="rect">
            <a:avLst/>
          </a:prstGeom>
          <a:noFill/>
        </p:spPr>
        <p:txBody>
          <a:bodyPr wrap="square" lIns="36576" tIns="18288" rIns="36576" bIns="18288" anchor="t">
            <a:spAutoFit/>
          </a:bodyPr>
          <a:lstStyle/>
          <a:p>
            <a:pPr algn="r"/>
            <a:r>
              <a:rPr sz="1000" dirty="0">
                <a:solidFill>
                  <a:srgbClr val="5A6472"/>
                </a:solidFill>
                <a:latin typeface="Courier New"/>
              </a:rPr>
              <a:t>phantom flow · 24/24</a:t>
            </a:r>
          </a:p>
        </p:txBody>
      </p:sp>
      <p:pic>
        <p:nvPicPr>
          <p:cNvPr id="10" name="Picture 9" descr="phantom-flow.png">
            <a:extLst>
              <a:ext uri="{FF2B5EF4-FFF2-40B4-BE49-F238E27FC236}">
                <a16:creationId xmlns:a16="http://schemas.microsoft.com/office/drawing/2014/main" id="{61EFFB22-CFD0-E7A6-372B-1330CE2A954B}"/>
              </a:ext>
            </a:extLst>
          </p:cNvPr>
          <p:cNvPicPr>
            <a:picLocks noChangeAspect="1"/>
          </p:cNvPicPr>
          <p:nvPr/>
        </p:nvPicPr>
        <p:blipFill>
          <a:blip r:embed="rId3"/>
          <a:stretch>
            <a:fillRect/>
          </a:stretch>
        </p:blipFill>
        <p:spPr>
          <a:xfrm>
            <a:off x="380847" y="2377440"/>
            <a:ext cx="11430000" cy="239096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9035</TotalTime>
  <Words>5337</Words>
  <Application>Microsoft Macintosh PowerPoint</Application>
  <PresentationFormat>Widescreen</PresentationFormat>
  <Paragraphs>414</Paragraphs>
  <Slides>26</Slides>
  <Notes>25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Jon Rhodes</cp:lastModifiedBy>
  <cp:revision>21</cp:revision>
  <dcterms:created xsi:type="dcterms:W3CDTF">2013-01-27T09:14:16Z</dcterms:created>
  <dcterms:modified xsi:type="dcterms:W3CDTF">2026-08-07T18:39:29Z</dcterms:modified>
  <cp:category/>
</cp:coreProperties>
</file>